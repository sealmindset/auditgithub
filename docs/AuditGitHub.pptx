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1" r:id="rId2"/>
    <p:sldId id="257" r:id="rId3"/>
    <p:sldId id="265" r:id="rId4"/>
    <p:sldId id="260" r:id="rId5"/>
    <p:sldId id="264" r:id="rId6"/>
    <p:sldId id="258" r:id="rId7"/>
    <p:sldId id="259" r:id="rId8"/>
    <p:sldId id="262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6301"/>
  </p:normalViewPr>
  <p:slideViewPr>
    <p:cSldViewPr snapToGrid="0">
      <p:cViewPr varScale="1">
        <p:scale>
          <a:sx n="108" d="100"/>
          <a:sy n="108" d="100"/>
        </p:scale>
        <p:origin x="1280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AD1DFB-7D17-594B-9175-30947EBA09F5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B24EB0-591D-DC41-969E-19871E8B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60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24EB0-591D-DC41-969E-19871E8B5A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313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24EB0-591D-DC41-969E-19871E8B5A3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193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Total: 28 tools across 10 categories, orchestrated from scripts/scanning/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scan_repos.py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category-specific execution modules in execution/. All tools output JSON</a:t>
            </a: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Secrets Detection (3 tools)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Tool │ Purpose │ Invocation │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Gitleaks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│ Detects API keys, passwords, tokens, and hardcoded credentials in the working tree and full Git history. Findings classified │ CLI 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gitleaks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│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│ as CWE-798. │ detect) │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TruffleHog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│ Scans repository history and current state for high-entropy strings and known secret patterns (AWS keys, Slack tokens, etc.). │ CLI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Whispers │ Specialized for secrets embedded in configuration files (YAML, JSON, XML, .env, .properties). Runs in an isolated Python │ CLI (isolated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venv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│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SAST - Static Application Security Testing (3 tools)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Tool │ Purpose │ Invocation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Semgrep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│ Pattern-based code analysis using 10+ rule packs (security-audit, OWASP Top 10, command-injection, SQL-injection, XSS, JWT, │ CLI 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semgrep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scan)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│ Docker, etc.) plus custom rules in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semgrep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-rules/. Supports taint-mode data flow analysis. │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Bandit │ Python-specific SAST. Detects hardcoded passwords, insecure function calls, SQL injection risks, and unsafe deserialization. │ CLI (bandit -r)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│ Only runs when .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files are present. │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CodeQL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│ Semantic code analysis with database-driven data flow tracking. Supports Python, JavaScript/TypeScript, Go, and Java. Finds │ CLI 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codeql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database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│ deeper vulnerabilities that pattern matching misses. │ create + analyze) │</a:t>
            </a: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 - Software Composition Analysis / Dependency Scanning (8 tools)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Tool │ Purpose │ Invocation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Grype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│ Scans repository filesystem or Docker images for known vulnerabilities in packages. Supports VEX │ CLI 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grype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│ (Vulnerability Exploitability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eXchange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for false-positive suppression. │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Trivy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│ Multi-scanner covering vulnerabilities, misconfigurations, secrets, and license issues across filesystem and │ CLI 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trivy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fs)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│ container images. │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Syft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│ Generates Software Bill of Materials (SBOM) in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CycloneDX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SPDX formats. Inventories all │ CLI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│ packages/dependencies for compliance and auditing. │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OWASP │ Cross-language dependency scanner (Java, .NET, Python, Ruby, Node.js) using the National Vulnerability │ CLI (dependency-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check.sh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Dependency-Check │ Database (NVD). │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pip-audit │ Python-specific. Audits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requirements.txt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Pipfile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pyproject.toml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setup.py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against the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PyPI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advisory │ CLI (pip-audit --format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│ database. │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Safety │ Python-specific. Checks installed packages against the Safety vulnerability database. │ CLI (safety check --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audit │ Node.js/JavaScript. Scans package-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lock.json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known vulnerabilities in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dependencies. │ CLI 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audit --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retire.js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│ JavaScript-specific. Identifies JavaScript libraries with known CVEs, including client-side libraries. │ CLI │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Infrastructure as Code Security (2 tools)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Tool │ Purpose │ Invocation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Checkov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│ Scans Terraform, CloudFormation, Docker, Kubernetes, and Helm charts for security misconfigurations and policy violations. │ CLI 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checkov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-d)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Terrascan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│ Policy-as-code engine for Terraform, Kubernetes, Docker, and CloudFormation. Validates against 500+ security policies. │ CLI │</a:t>
            </a: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Container Security (1 tool)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Tool │ Purpose │ Invocation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Dockle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│ Audits Docker images and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Dockerfiles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against CIS benchmarks and best practices (no root user, minimal layers, no secrets in image). │ CLI │</a:t>
            </a: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 Security (3 tools)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Tool │ Purpose │ Invocation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gosec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│ Go-specific SAST. Detects SQL injection, hardcoded credentials, weak crypto, file path traversal, and unsafe exec calls in Go source. │ CLI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govulncheck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│ Go-specific SCA. Checks Go modules against the Go vulnerability database with call graph analysis (only flags vulns in reachable │ CLI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│ code). │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GolangCI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-Lint │ Go linter aggregator that includes security-focused linters 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gosec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staticcheck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etc.) for comprehensive Go code quality and │ CLI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│ security. │ │</a:t>
            </a: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Multi-Language SAST (2 tools)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Tool │ Purpose │ Invocation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Horusec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│ Multi-language SAST covering 15+ languages. Orchestrates multiple internal engines for broad vulnerability detection. │ CLI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Bearer │ Data flow analysis tool. Tracks sensitive data (PII, credentials) through application code and flags exposure risks and compliance │ CLI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│ violations. │ │</a:t>
            </a: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Ruby Security (1 tool)</a:t>
            </a: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Tool │ Purpose │ Invocation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bundle-audit │ Ruby-specific. Audits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Gemfile.lock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gems with known CVEs against the Ruby Advisory Database. │ CLI (Ruby gem) │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Dynamic / Template-Based Scanning (1 tool)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Tool │ Purpose │ Invocation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Nuclei │ Template-based vulnerability scanner. Uses a community-maintained library of detection templates for known CVEs, misconfigurations, and │ CLI │</a:t>
            </a: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.NET Security (1 tool)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Tool │ Purpose │ Invocation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OSSGadget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│ .NET/C# tool for detecting malware, backdoors, and suspicious code patterns in open-source packages. Outputs SARIF format. │ dotnet tool CLI │</a:t>
            </a: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Security (2 custom tools)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Tool │ Purpose │ Invocation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API Scanner │ AI-powered 4-phase API discovery and security assessment: Discovery, Extraction, Synthesis, Security. Fingerprints │ Python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(custom) │ frameworks 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Flask, Django, Express, Spring, etc.) and builds threat matrices. │ (built-in)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OpenAPI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Spider │ Crawls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OpenAPI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/Swagger specifications to discover and document API endpoints, authentication schemes, and data models. │ Python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(custom) │ │ (built-in) │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 Metrics (1 tool)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Tool │ Purpose │ Invocation │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cloc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│ Counts lines of code by language. Provides codebase composition metrics used for risk-weighting and scan coverage analysis. │ CLI │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24EB0-591D-DC41-969E-19871E8B5A3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2689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MACH + SaaS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24EB0-591D-DC41-969E-19871E8B5A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7291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24EB0-591D-DC41-969E-19871E8B5A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276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Next.JS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24EB0-591D-DC41-969E-19871E8B5A3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562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AWS </a:t>
            </a:r>
            <a:r>
              <a:rPr lang="en-US" dirty="0" err="1"/>
              <a:t>IaC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24EB0-591D-DC41-969E-19871E8B5A3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438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BA694-F5D0-6007-5487-EE20F6EFBA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8F4B90-325B-C0D0-2B52-2F3F5851E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5BB63-17B7-09A2-4C64-64B15A840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0A6AA-6920-284B-A260-3B16C73CC322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E6110-1071-ACA2-C097-A3E10A10D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68A2D-254C-0755-189C-128C5BE0A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CF1D-DD66-7C4A-B140-E426584B1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484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E9A18-AFD0-E77F-B199-222EBF634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35A52-CD2C-C26E-9B26-5C21A7698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DBAB3-3BE8-0010-6899-0B29E720A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0A6AA-6920-284B-A260-3B16C73CC322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6E8E3-10E4-1A7D-D9AF-8E93A32C1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D8276-19D3-0FC7-82D5-78A630EF8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CF1D-DD66-7C4A-B140-E426584B1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68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0FE51-B2B1-84BE-BC7C-C310D3BFB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EA69B-D059-1682-4203-F9E25CAC9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0C519-C320-8B22-BE2E-8F491A23E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0A6AA-6920-284B-A260-3B16C73CC322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DA86E-BAF9-779B-D124-8D100F465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DBCFF-0E48-EEAB-8B34-B0A147B37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CF1D-DD66-7C4A-B140-E426584B1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284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2CB88-72BF-35A3-6350-89F49BC10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A72B9-6F71-6E36-ED21-8739F2A8F9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B06F83-D2F6-1B23-429E-EFDAA4AF8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F2814B-ADAA-0C01-C018-D87A4D236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0A6AA-6920-284B-A260-3B16C73CC322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8CDC23-AD67-3E24-246E-EC1F00D89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C70996-865E-62DC-36EE-517A9A65C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CF1D-DD66-7C4A-B140-E426584B1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42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D6B8C-85D6-9CA8-C785-5FFF78CA9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5BA83-9FB8-B559-6E14-CE6BFA6E2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941649-73C9-FA35-1682-4A013F6BB2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32D065-DFE6-ABF9-4F06-E0089529E2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7A8D42-461B-3684-7434-B06C32CED3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7C13BE-8A6B-7DA7-504B-5F6A54A23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0A6AA-6920-284B-A260-3B16C73CC322}" type="datetimeFigureOut">
              <a:rPr lang="en-US" smtClean="0"/>
              <a:t>3/3/26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4AFF7E-FCAA-EC25-523B-44FE473A8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7E39D8-BF66-4548-A72D-DB780C5CE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CF1D-DD66-7C4A-B140-E426584B1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528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47AB9-F858-CD19-2A0D-B0A6DD2D6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16C084-B93D-F615-8B52-43F5E06D7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0A6AA-6920-284B-A260-3B16C73CC322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0C5239-F333-28AA-3C6D-B5FF20102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E1245-055F-36AA-9184-0B5941541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CF1D-DD66-7C4A-B140-E426584B1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893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572B89-0E2D-869D-DB91-48D18859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0A6AA-6920-284B-A260-3B16C73CC322}" type="datetimeFigureOut">
              <a:rPr lang="en-US" smtClean="0"/>
              <a:t>3/3/26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0079D4-BDBF-AB46-73F6-73B9BA03A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90073-B619-2D38-6BAF-118CFD0D1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CF1D-DD66-7C4A-B140-E426584B1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6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4CFDA-0411-AFD3-F283-0FD9794DF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474F7-6B1F-FAC5-E1C9-C3F60A06F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3423F-50F1-CE77-F7B1-06EEB42A4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C8CA34-3D47-1ED4-ACA6-381AAF501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0A6AA-6920-284B-A260-3B16C73CC322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C50A30-D0F8-33A6-D851-8F0890184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39527-682E-74A6-E65D-39843CEB5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CF1D-DD66-7C4A-B140-E426584B1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720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2B0C9-1C0B-99CF-72C0-9235EF899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A5B81D-8A54-FE80-EF6F-A5D21A2FB6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F7184E-510B-A1F6-319C-4DA4627C2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1982F-BAE1-D7CA-6AFF-70983B096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0A6AA-6920-284B-A260-3B16C73CC322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9EF7B-7A4C-C04B-F9D0-075ED7A3E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32756-807D-CA48-01C6-3C0433D3B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CF1D-DD66-7C4A-B140-E426584B1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665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0E648-5A10-FD3C-6E3E-733F2C0F5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1EE90E-83D6-C496-0BA8-A1068C7CD8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0584F-2B06-CDEA-A8C0-80DEDDBEC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0A6AA-6920-284B-A260-3B16C73CC322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F1018-B2F8-C5F2-26B1-E32918A26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AD053-B654-A93F-5284-2D732055E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CF1D-DD66-7C4A-B140-E426584B1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682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496E20-7231-8DED-8FEF-6455733786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A7D5B-1A66-DC57-75A0-2063F78D9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8AD6F-AF58-EFDA-A415-0A4EAEFB9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0A6AA-6920-284B-A260-3B16C73CC322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EB17F-33D1-226A-B97C-D43BD4B8C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56080-0378-A942-391A-02E32D178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CF1D-DD66-7C4A-B140-E426584B1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907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3F9752-53C1-AE91-D990-95DD599A3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A20454-6EF3-C2C1-F65A-63EE50BA4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C02F7-4745-813F-14F5-110DCCACFE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0A6AA-6920-284B-A260-3B16C73CC322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0957-8E98-A450-536E-2EE7776274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EA004-6584-B835-FB30-7B4FCAD88F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16CF1D-DD66-7C4A-B140-E426584B1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26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lor Cover">
            <a:extLst>
              <a:ext uri="{FF2B5EF4-FFF2-40B4-BE49-F238E27FC236}">
                <a16:creationId xmlns:a16="http://schemas.microsoft.com/office/drawing/2014/main" id="{8B2B1708-8CE4-4A20-94F5-55118AE2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olor">
            <a:extLst>
              <a:ext uri="{FF2B5EF4-FFF2-40B4-BE49-F238E27FC236}">
                <a16:creationId xmlns:a16="http://schemas.microsoft.com/office/drawing/2014/main" id="{8B4AF456-0671-432E-AD5B-FFAF8D646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 descr="A white background with black text and blue dots&#10;&#10;AI-generated content may be incorrect.">
            <a:extLst>
              <a:ext uri="{FF2B5EF4-FFF2-40B4-BE49-F238E27FC236}">
                <a16:creationId xmlns:a16="http://schemas.microsoft.com/office/drawing/2014/main" id="{626AABE9-7259-E4A9-90C9-E178AFD4A9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912" b="-1"/>
          <a:stretch>
            <a:fillRect/>
          </a:stretch>
        </p:blipFill>
        <p:spPr>
          <a:xfrm>
            <a:off x="-3049" y="10"/>
            <a:ext cx="12188952" cy="685799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66118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lor Cover">
            <a:extLst>
              <a:ext uri="{FF2B5EF4-FFF2-40B4-BE49-F238E27FC236}">
                <a16:creationId xmlns:a16="http://schemas.microsoft.com/office/drawing/2014/main" id="{8B2B1708-8CE4-4A20-94F5-55118AE2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olor">
            <a:extLst>
              <a:ext uri="{FF2B5EF4-FFF2-40B4-BE49-F238E27FC236}">
                <a16:creationId xmlns:a16="http://schemas.microsoft.com/office/drawing/2014/main" id="{8B4AF456-0671-432E-AD5B-FFAF8D646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 descr="A diagram of a software&#10;&#10;AI-generated content may be incorrect.">
            <a:extLst>
              <a:ext uri="{FF2B5EF4-FFF2-40B4-BE49-F238E27FC236}">
                <a16:creationId xmlns:a16="http://schemas.microsoft.com/office/drawing/2014/main" id="{D700C627-E8F1-8293-D5FF-AB5CE3869B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912" b="-1"/>
          <a:stretch>
            <a:fillRect/>
          </a:stretch>
        </p:blipFill>
        <p:spPr>
          <a:xfrm>
            <a:off x="-3049" y="10"/>
            <a:ext cx="12188952" cy="685799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121EB7C-D087-59E0-2EE8-31CAC949E759}"/>
              </a:ext>
            </a:extLst>
          </p:cNvPr>
          <p:cNvSpPr txBox="1"/>
          <p:nvPr/>
        </p:nvSpPr>
        <p:spPr>
          <a:xfrm>
            <a:off x="136639" y="213071"/>
            <a:ext cx="56440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Overall</a:t>
            </a:r>
          </a:p>
        </p:txBody>
      </p:sp>
    </p:spTree>
    <p:extLst>
      <p:ext uri="{BB962C8B-B14F-4D97-AF65-F5344CB8AC3E}">
        <p14:creationId xmlns:p14="http://schemas.microsoft.com/office/powerpoint/2010/main" val="2329346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lor Cover">
            <a:extLst>
              <a:ext uri="{FF2B5EF4-FFF2-40B4-BE49-F238E27FC236}">
                <a16:creationId xmlns:a16="http://schemas.microsoft.com/office/drawing/2014/main" id="{8B2B1708-8CE4-4A20-94F5-55118AE2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olor">
            <a:extLst>
              <a:ext uri="{FF2B5EF4-FFF2-40B4-BE49-F238E27FC236}">
                <a16:creationId xmlns:a16="http://schemas.microsoft.com/office/drawing/2014/main" id="{8B4AF456-0671-432E-AD5B-FFAF8D646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 descr="A diagram of a software process&#10;&#10;AI-generated content may be incorrect.">
            <a:extLst>
              <a:ext uri="{FF2B5EF4-FFF2-40B4-BE49-F238E27FC236}">
                <a16:creationId xmlns:a16="http://schemas.microsoft.com/office/drawing/2014/main" id="{50B2D097-20A7-BF32-DC59-E5E22E4A58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5"/>
          <a:stretch>
            <a:fillRect/>
          </a:stretch>
        </p:blipFill>
        <p:spPr>
          <a:xfrm>
            <a:off x="-3049" y="10"/>
            <a:ext cx="12188952" cy="685799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C471F3E-06F0-C785-0B81-7722ED463778}"/>
              </a:ext>
            </a:extLst>
          </p:cNvPr>
          <p:cNvSpPr txBox="1"/>
          <p:nvPr/>
        </p:nvSpPr>
        <p:spPr>
          <a:xfrm>
            <a:off x="136639" y="213071"/>
            <a:ext cx="56440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Process Flow</a:t>
            </a:r>
          </a:p>
        </p:txBody>
      </p:sp>
    </p:spTree>
    <p:extLst>
      <p:ext uri="{BB962C8B-B14F-4D97-AF65-F5344CB8AC3E}">
        <p14:creationId xmlns:p14="http://schemas.microsoft.com/office/powerpoint/2010/main" val="2744310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lor Cover">
            <a:extLst>
              <a:ext uri="{FF2B5EF4-FFF2-40B4-BE49-F238E27FC236}">
                <a16:creationId xmlns:a16="http://schemas.microsoft.com/office/drawing/2014/main" id="{8B2B1708-8CE4-4A20-94F5-55118AE2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olor">
            <a:extLst>
              <a:ext uri="{FF2B5EF4-FFF2-40B4-BE49-F238E27FC236}">
                <a16:creationId xmlns:a16="http://schemas.microsoft.com/office/drawing/2014/main" id="{8B4AF456-0671-432E-AD5B-FFAF8D646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E0B42750-BE9C-B8FF-6952-A0A1D87E61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914" r="-1" b="-1"/>
          <a:stretch>
            <a:fillRect/>
          </a:stretch>
        </p:blipFill>
        <p:spPr>
          <a:xfrm>
            <a:off x="-3049" y="10"/>
            <a:ext cx="12188952" cy="685799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A906D20-B027-88BF-635A-6D76974685AA}"/>
              </a:ext>
            </a:extLst>
          </p:cNvPr>
          <p:cNvSpPr txBox="1"/>
          <p:nvPr/>
        </p:nvSpPr>
        <p:spPr>
          <a:xfrm>
            <a:off x="136639" y="213071"/>
            <a:ext cx="56440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Scanners</a:t>
            </a:r>
          </a:p>
        </p:txBody>
      </p:sp>
    </p:spTree>
    <p:extLst>
      <p:ext uri="{BB962C8B-B14F-4D97-AF65-F5344CB8AC3E}">
        <p14:creationId xmlns:p14="http://schemas.microsoft.com/office/powerpoint/2010/main" val="3580001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lor Cover">
            <a:extLst>
              <a:ext uri="{FF2B5EF4-FFF2-40B4-BE49-F238E27FC236}">
                <a16:creationId xmlns:a16="http://schemas.microsoft.com/office/drawing/2014/main" id="{8B2B1708-8CE4-4A20-94F5-55118AE2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olor">
            <a:extLst>
              <a:ext uri="{FF2B5EF4-FFF2-40B4-BE49-F238E27FC236}">
                <a16:creationId xmlns:a16="http://schemas.microsoft.com/office/drawing/2014/main" id="{8B4AF456-0671-432E-AD5B-FFAF8D646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 descr="A diagram of software components&#10;&#10;AI-generated content may be incorrect.">
            <a:extLst>
              <a:ext uri="{FF2B5EF4-FFF2-40B4-BE49-F238E27FC236}">
                <a16:creationId xmlns:a16="http://schemas.microsoft.com/office/drawing/2014/main" id="{58801ADD-4D27-32D8-B64C-2A4637F2AF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914" r="-1" b="-1"/>
          <a:stretch>
            <a:fillRect/>
          </a:stretch>
        </p:blipFill>
        <p:spPr>
          <a:xfrm>
            <a:off x="-3049" y="10"/>
            <a:ext cx="12188952" cy="685799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FE999F7-C720-9DD5-1077-140928CFAB05}"/>
              </a:ext>
            </a:extLst>
          </p:cNvPr>
          <p:cNvSpPr txBox="1"/>
          <p:nvPr/>
        </p:nvSpPr>
        <p:spPr>
          <a:xfrm>
            <a:off x="136639" y="213071"/>
            <a:ext cx="56440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MACH/SaaS + RBAC</a:t>
            </a:r>
          </a:p>
        </p:txBody>
      </p:sp>
    </p:spTree>
    <p:extLst>
      <p:ext uri="{BB962C8B-B14F-4D97-AF65-F5344CB8AC3E}">
        <p14:creationId xmlns:p14="http://schemas.microsoft.com/office/powerpoint/2010/main" val="3260258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lor Cover">
            <a:extLst>
              <a:ext uri="{FF2B5EF4-FFF2-40B4-BE49-F238E27FC236}">
                <a16:creationId xmlns:a16="http://schemas.microsoft.com/office/drawing/2014/main" id="{8B2B1708-8CE4-4A20-94F5-55118AE2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olor">
            <a:extLst>
              <a:ext uri="{FF2B5EF4-FFF2-40B4-BE49-F238E27FC236}">
                <a16:creationId xmlns:a16="http://schemas.microsoft.com/office/drawing/2014/main" id="{8B4AF456-0671-432E-AD5B-FFAF8D646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 descr="A diagram of a software company&#10;&#10;AI-generated content may be incorrect.">
            <a:extLst>
              <a:ext uri="{FF2B5EF4-FFF2-40B4-BE49-F238E27FC236}">
                <a16:creationId xmlns:a16="http://schemas.microsoft.com/office/drawing/2014/main" id="{EDDDD797-73F8-02AA-D7E0-BB417CCF67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914" r="-1" b="-1"/>
          <a:stretch>
            <a:fillRect/>
          </a:stretch>
        </p:blipFill>
        <p:spPr>
          <a:xfrm>
            <a:off x="-3049" y="10"/>
            <a:ext cx="12188952" cy="685799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9777312-4A3C-64EB-8865-0C9002C99D8B}"/>
              </a:ext>
            </a:extLst>
          </p:cNvPr>
          <p:cNvSpPr txBox="1"/>
          <p:nvPr/>
        </p:nvSpPr>
        <p:spPr>
          <a:xfrm>
            <a:off x="136639" y="213071"/>
            <a:ext cx="56440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API First</a:t>
            </a:r>
          </a:p>
        </p:txBody>
      </p:sp>
    </p:spTree>
    <p:extLst>
      <p:ext uri="{BB962C8B-B14F-4D97-AF65-F5344CB8AC3E}">
        <p14:creationId xmlns:p14="http://schemas.microsoft.com/office/powerpoint/2010/main" val="1346163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lor Cover">
            <a:extLst>
              <a:ext uri="{FF2B5EF4-FFF2-40B4-BE49-F238E27FC236}">
                <a16:creationId xmlns:a16="http://schemas.microsoft.com/office/drawing/2014/main" id="{8B2B1708-8CE4-4A20-94F5-55118AE2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olor">
            <a:extLst>
              <a:ext uri="{FF2B5EF4-FFF2-40B4-BE49-F238E27FC236}">
                <a16:creationId xmlns:a16="http://schemas.microsoft.com/office/drawing/2014/main" id="{8B4AF456-0671-432E-AD5B-FFAF8D646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 descr="A diagram of a router module&#10;&#10;AI-generated content may be incorrect.">
            <a:extLst>
              <a:ext uri="{FF2B5EF4-FFF2-40B4-BE49-F238E27FC236}">
                <a16:creationId xmlns:a16="http://schemas.microsoft.com/office/drawing/2014/main" id="{4491D49D-1841-1EEE-F3FE-35C032CCC7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914" r="-1" b="-1"/>
          <a:stretch>
            <a:fillRect/>
          </a:stretch>
        </p:blipFill>
        <p:spPr>
          <a:xfrm>
            <a:off x="-3049" y="10"/>
            <a:ext cx="12188952" cy="685799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19E523F-CFD9-8D17-6339-4A9709780F88}"/>
              </a:ext>
            </a:extLst>
          </p:cNvPr>
          <p:cNvSpPr txBox="1"/>
          <p:nvPr/>
        </p:nvSpPr>
        <p:spPr>
          <a:xfrm>
            <a:off x="136639" y="213071"/>
            <a:ext cx="56440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err="1"/>
              <a:t>Next.JS</a:t>
            </a:r>
            <a:endParaRPr 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1538952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lor Cover">
            <a:extLst>
              <a:ext uri="{FF2B5EF4-FFF2-40B4-BE49-F238E27FC236}">
                <a16:creationId xmlns:a16="http://schemas.microsoft.com/office/drawing/2014/main" id="{8B2B1708-8CE4-4A20-94F5-55118AE2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olor">
            <a:extLst>
              <a:ext uri="{FF2B5EF4-FFF2-40B4-BE49-F238E27FC236}">
                <a16:creationId xmlns:a16="http://schemas.microsoft.com/office/drawing/2014/main" id="{8B4AF456-0671-432E-AD5B-FFAF8D646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59C0D7F0-226E-598A-112E-132F8EC963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912" b="-1"/>
          <a:stretch>
            <a:fillRect/>
          </a:stretch>
        </p:blipFill>
        <p:spPr>
          <a:xfrm>
            <a:off x="-3049" y="10"/>
            <a:ext cx="12188952" cy="685799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6348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B79CA-1CB8-A133-67D7-E2B7AC1F9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55B7CE-2F01-E701-0FFE-C14352644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43849"/>
            <a:ext cx="4145582" cy="4638825"/>
          </a:xfrm>
        </p:spPr>
        <p:txBody>
          <a:bodyPr anchor="t">
            <a:normAutofit/>
          </a:bodyPr>
          <a:lstStyle/>
          <a:p>
            <a:r>
              <a:rPr lang="en-US" dirty="0"/>
              <a:t>Why not AGH?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5E05C-3FC0-E0F8-AD3B-D7407C767FD5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5532120" y="1543849"/>
            <a:ext cx="5681358" cy="4818068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US" sz="1400" b="1" dirty="0"/>
              <a:t>The Honest Framing</a:t>
            </a:r>
          </a:p>
          <a:p>
            <a:pPr marL="0" lvl="1" indent="0">
              <a:buNone/>
            </a:pPr>
            <a:r>
              <a:rPr lang="en-US" sz="1400" dirty="0"/>
              <a:t>The gap isn't in detection — it's in everything that happens after detection.</a:t>
            </a:r>
          </a:p>
          <a:p>
            <a:pPr marL="0" lvl="1" indent="0">
              <a:buNone/>
            </a:pPr>
            <a:r>
              <a:rPr lang="en-US" sz="1400" dirty="0" err="1"/>
              <a:t>MegaLinter</a:t>
            </a:r>
            <a:r>
              <a:rPr lang="en-US" sz="1400" dirty="0"/>
              <a:t> is a better scanner orchestrator. Wider tool coverage, zero setup, runs anywhere Docker runs.</a:t>
            </a:r>
          </a:p>
          <a:p>
            <a:pPr marL="0" lvl="1" indent="0">
              <a:buNone/>
            </a:pPr>
            <a:r>
              <a:rPr lang="en-US" sz="1400" dirty="0"/>
              <a:t>AGH is a security findings management platform. The scanners are just the input. The value is what happens to those findings after they're detected — triage, risk scoring, AI analysis, investigation workflows, compliance tracking, and reporting.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 dirty="0"/>
              <a:t>Why AGH</a:t>
            </a:r>
          </a:p>
          <a:p>
            <a:pPr marL="0" lvl="1" indent="0">
              <a:buNone/>
            </a:pPr>
            <a:r>
              <a:rPr lang="en-US" sz="1400" dirty="0"/>
              <a:t>If your team's workflow is "run scanners in CI, look at the output, fix things" — </a:t>
            </a:r>
            <a:r>
              <a:rPr lang="en-US" sz="1400" dirty="0" err="1"/>
              <a:t>MegaLinter</a:t>
            </a:r>
            <a:r>
              <a:rPr lang="en-US" sz="1400" dirty="0"/>
              <a:t> is simpler and has more scanners.</a:t>
            </a:r>
          </a:p>
          <a:p>
            <a:pPr marL="0" lvl="1" indent="0">
              <a:buNone/>
            </a:pPr>
            <a:r>
              <a:rPr lang="en-US" sz="1400" dirty="0"/>
              <a:t>If your team needs to answer "which findings actually matter, who's working on them, are we meeting our SLAs, and can we prove it to auditors?" — that's what AGH does. </a:t>
            </a:r>
            <a:r>
              <a:rPr lang="en-US" sz="1400" dirty="0" err="1"/>
              <a:t>MegaLinter</a:t>
            </a:r>
            <a:r>
              <a:rPr lang="en-US" sz="1400" dirty="0"/>
              <a:t> doesn't try to.</a:t>
            </a:r>
          </a:p>
          <a:p>
            <a:pPr marL="0" lvl="1" indent="0">
              <a:buNone/>
            </a:pPr>
            <a:r>
              <a:rPr lang="en-US" sz="1400" dirty="0"/>
              <a:t>They're complementary. </a:t>
            </a:r>
            <a:r>
              <a:rPr lang="en-US" sz="1400" dirty="0" err="1"/>
              <a:t>MegaLinter</a:t>
            </a:r>
            <a:r>
              <a:rPr lang="en-US" sz="1400" dirty="0"/>
              <a:t> could even feed findings into AGH via SARIF import.</a:t>
            </a:r>
          </a:p>
          <a:p>
            <a:pPr marL="0" lvl="1" indent="0">
              <a:buNone/>
            </a:pPr>
            <a:endParaRPr lang="en-US" sz="1400" dirty="0"/>
          </a:p>
          <a:p>
            <a:pPr marL="0" lvl="1" indent="0">
              <a:buFont typeface="Arial" panose="020B0604020202020204" pitchFamily="34" charset="0"/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59100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626537-A299-D764-C1D7-A8FCCC6C1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51E4E36-7123-78C6-18A6-27E67A5B3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EA123A-D1B1-1F17-1C71-24882E79E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43849"/>
            <a:ext cx="4145582" cy="4638825"/>
          </a:xfrm>
        </p:spPr>
        <p:txBody>
          <a:bodyPr anchor="t">
            <a:normAutofit/>
          </a:bodyPr>
          <a:lstStyle/>
          <a:p>
            <a:r>
              <a:rPr lang="en-US" dirty="0"/>
              <a:t>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2143D-A44C-E67C-C173-05381081B41A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5532120" y="1543849"/>
            <a:ext cx="5681358" cy="4818068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400" b="1" dirty="0"/>
              <a:t>Shift Left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 dirty="0"/>
              <a:t>Make it accessible via the IDE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1400" b="1" dirty="0"/>
              <a:t>Enhance API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 dirty="0"/>
              <a:t>Audit API services such as testing the discovered secrets against Dev and Prod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 dirty="0"/>
              <a:t>PR</a:t>
            </a:r>
          </a:p>
          <a:p>
            <a:pPr marL="0" lvl="1" indent="0">
              <a:buNone/>
            </a:pPr>
            <a:r>
              <a:rPr lang="en-US" sz="1400" dirty="0"/>
              <a:t>Have a version where the tool scans local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 dirty="0"/>
              <a:t>Policy Base</a:t>
            </a:r>
          </a:p>
          <a:p>
            <a:pPr marL="0" lvl="1" indent="0">
              <a:buNone/>
            </a:pPr>
            <a:r>
              <a:rPr lang="en-US" sz="1400" dirty="0"/>
              <a:t>PR and Global Policy (exception)</a:t>
            </a:r>
          </a:p>
          <a:p>
            <a:pPr marL="0" lvl="1" indent="0">
              <a:buNone/>
            </a:pPr>
            <a:endParaRPr lang="en-US" sz="1400" dirty="0"/>
          </a:p>
          <a:p>
            <a:pPr marL="0" lvl="1" indent="0">
              <a:buFont typeface="Arial" panose="020B0604020202020204" pitchFamily="34" charset="0"/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46431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1389</Words>
  <Application>Microsoft Macintosh PowerPoint</Application>
  <PresentationFormat>Widescreen</PresentationFormat>
  <Paragraphs>104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Neue Haas Grotesk Text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not AGH?</vt:lpstr>
      <vt:lpstr>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Vance, Rob</dc:creator>
  <cp:lastModifiedBy>Vance, Rob</cp:lastModifiedBy>
  <cp:revision>8</cp:revision>
  <dcterms:created xsi:type="dcterms:W3CDTF">2026-03-03T17:44:25Z</dcterms:created>
  <dcterms:modified xsi:type="dcterms:W3CDTF">2026-03-03T22:03:17Z</dcterms:modified>
</cp:coreProperties>
</file>