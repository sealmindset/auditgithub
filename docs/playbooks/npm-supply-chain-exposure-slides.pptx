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notesMaster" Target="notesMasters/notesMaster1.xml" /><Relationship Id="rId21" Type="http://schemas.openxmlformats.org/officeDocument/2006/relationships/viewProps" Target="viewProps.xml" /><Relationship Id="rId20" Type="http://schemas.openxmlformats.org/officeDocument/2006/relationships/presProps" Target="presProps.xml" /><Relationship Id="rId1" Type="http://schemas.openxmlformats.org/officeDocument/2006/relationships/slideMaster" Target="slideMasters/slideMaster1.xml" /><Relationship Id="rId23" Type="http://schemas.openxmlformats.org/officeDocument/2006/relationships/tableStyles" Target="tableStyles.xml" /><Relationship Id="rId2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this first and say it plainly. Any room handed a security deck assumes there has been a breach. If you do not kill that assumption in the first thirty seconds, everything else in this deck gets heard as damage control.</a:t>
            </a:r>
          </a:p>
          <a:p>
            <a:pPr lvl="0" indent="0" marL="0">
              <a:buNone/>
            </a:pPr>
          </a:p>
          <a:p>
            <a:pPr lvl="0" indent="0" marL="0">
              <a:buNone/>
            </a:pPr>
            <a:r>
              <a:rPr/>
              <a:t>We checked what our software is built from, what our automated systems have been doing, and what our laptops and servers have been running. Nothing showed a break-in.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audience needs this before anything else lands. Nobody sits down and writes a modern application from nothing — they assemble it from parts. Our automated build systems pull those parts down constantly, with no person watching.</a:t>
            </a:r>
          </a:p>
          <a:p>
            <a:pPr lvl="0" indent="0" marL="0">
              <a:buNone/>
            </a:pPr>
          </a:p>
          <a:p>
            <a:pPr lvl="0" indent="0" marL="0">
              <a:buNone/>
            </a:pPr>
            <a:r>
              <a:rPr/>
              <a:t>Do not apologize for this. It is not a bad practice. It is the practice.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component was trusted last week, so it was trusted this week. That is the whole trick.</a:t>
            </a:r>
          </a:p>
          <a:p>
            <a:pPr lvl="0" indent="0" marL="0">
              <a:buNone/>
            </a:pPr>
          </a:p>
          <a:p>
            <a:pPr lvl="0" indent="0" marL="0">
              <a:buNone/>
            </a:pPr>
            <a:r>
              <a:rPr/>
              <a:t>This has been happening across the industry at scale through 2026. The question this briefing answers is not “did we get hit” — we did not — it is “how well would we hold up.”</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Emphasize: these are five separate problems, and they are only serious </a:t>
            </a:r>
            <a:r>
              <a:rPr i="1"/>
              <a:t>together</a:t>
            </a:r>
            <a:r>
              <a:rPr/>
              <a:t>. They line up into a single chain. Each of the next few slides is one link.</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concentration is the good news. 1,904 of 1,924 go through one shared component, so this is a handful of things to fix, not thousands.</a:t>
            </a:r>
          </a:p>
          <a:p>
            <a:pPr lvl="0" indent="0" marL="0">
              <a:buNone/>
            </a:pPr>
          </a:p>
          <a:p>
            <a:pPr lvl="0" indent="0" marL="0">
              <a:buNone/>
            </a:pPr>
            <a:r>
              <a:rPr/>
              <a:t>If someone asks why it was built this way: it was convenient, and it worked. Nobody did anything reckless. It just was never revisited.</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front door of the attack — where these campaigns begin, every time.</a:t>
            </a:r>
          </a:p>
          <a:p>
            <a:pPr lvl="0" indent="0" marL="0">
              <a:buNone/>
            </a:pPr>
          </a:p>
          <a:p>
            <a:pPr lvl="0" indent="0" marL="0">
              <a:buNone/>
            </a:pPr>
            <a:r>
              <a:rPr/>
              <a:t>There is a single setting that says “download the component, but do not run its instructions.” Almost nothing of ours sets it. That is the cheapest fix in the entire deck.</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Right now these nine are simply broken. That is the mild version.</a:t>
            </a:r>
          </a:p>
          <a:p>
            <a:pPr lvl="0" indent="0" marL="0">
              <a:buNone/>
            </a:pPr>
          </a:p>
          <a:p>
            <a:pPr lvl="0" indent="0" marL="0">
              <a:buNone/>
            </a:pPr>
            <a:r>
              <a:rPr/>
              <a:t>The serious version: the addresses are not secret — anyone can read our own project files and see which ones we are calling. Somebody inside with ordinary access could claim one.</a:t>
            </a:r>
          </a:p>
          <a:p>
            <a:pPr lvl="0" indent="0" marL="0">
              <a:buNone/>
            </a:pPr>
          </a:p>
          <a:p>
            <a:pPr lvl="0" indent="0" marL="0">
              <a:buNone/>
            </a:pPr>
            <a:r>
              <a:rPr/>
              <a:t>This is the sharpest thing we found, and it is hours of work to fix.</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 approval, no change request, no notification. What runs tomorrow can differ from what ran today.</a:t>
            </a:r>
          </a:p>
          <a:p>
            <a:pPr lvl="0" indent="0" marL="0">
              <a:buNone/>
            </a:pPr>
          </a:p>
          <a:p>
            <a:pPr lvl="0" indent="0" marL="0">
              <a:buNone/>
            </a:pPr>
            <a:r>
              <a:rPr/>
              <a:t>Worth noting this is also a reliability problem, not only a security one — see the benefits slide.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 concrete rather than dramatic. Nobody is claiming the company falls over.</a:t>
            </a:r>
          </a:p>
          <a:p>
            <a:pPr lvl="0" indent="0" marL="0">
              <a:buNone/>
            </a:pPr>
          </a:p>
          <a:p>
            <a:pPr lvl="0" indent="0" marL="0">
              <a:buNone/>
            </a:pPr>
            <a:r>
              <a:rPr/>
              <a:t>The expensive part is the clean-up, and it is triggered by an event that might last seconds. That is the asymmetry worth funding against.</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slide that gets the work funded. Several of these fixes pay for themselves with no attacker involved at all.</a:t>
            </a:r>
          </a:p>
          <a:p>
            <a:pPr lvl="0" indent="0" marL="0">
              <a:buNone/>
            </a:pPr>
          </a:p>
          <a:p>
            <a:pPr lvl="0" indent="0" marL="0">
              <a:buNone/>
            </a:pPr>
            <a:r>
              <a:rPr/>
              <a:t>The inventory point lands especially well with anyone who has been asked by a customer or an auditor what our software contains. Today that question takes a project to answer.</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Order matters. A first — it is the sharpest risk and the least effort.</a:t>
            </a:r>
          </a:p>
          <a:p>
            <a:pPr lvl="0" indent="0" marL="0">
              <a:buNone/>
            </a:pPr>
          </a:p>
          <a:p>
            <a:pPr lvl="0" indent="0" marL="0">
              <a:buNone/>
            </a:pPr>
            <a:r>
              <a:rPr/>
              <a:t>On A: both halves. Repointing without locking the name leaves the door shut but unlocked.</a:t>
            </a:r>
          </a:p>
          <a:p>
            <a:pPr lvl="0" indent="0" marL="0">
              <a:buNone/>
            </a:pPr>
          </a:p>
          <a:p>
            <a:pPr lvl="0" indent="0" marL="0">
              <a:buNone/>
            </a:pPr>
            <a:r>
              <a:rPr/>
              <a:t>On C: it sounds enormous and it is not, because the exposure is concentrated in a few shared components.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 is what makes C permanent rather than a setting somebody can quietly undo later. We already own this capability and are barely using it.</a:t>
            </a:r>
          </a:p>
          <a:p>
            <a:pPr lvl="0" indent="0" marL="0">
              <a:buNone/>
            </a:pPr>
          </a:p>
          <a:p>
            <a:pPr lvl="0" indent="0" marL="0">
              <a:buNone/>
            </a:pPr>
            <a:r>
              <a:rPr/>
              <a:t>Neither of these is a purchase. Both are configuration of things already licensed.</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strongest slide in the deck for anyone worried about cost. We are not proposing to build something. It exists, it is connected, and one category of software already flows through it successfully.</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Around 95% withdrawn. Make a version sit unused for a few days and most of these are gone before we could ever have touched them.</a:t>
            </a:r>
          </a:p>
          <a:p>
            <a:pPr lvl="0" indent="0" marL="0">
              <a:buNone/>
            </a:pPr>
          </a:p>
          <a:p>
            <a:pPr lvl="0" indent="0" marL="0">
              <a:buNone/>
            </a:pPr>
            <a:r>
              <a:rPr/>
              <a:t>The remaining 111 are exactly why we need the block list as well as the delay. Do not oversell the waiting period as a complete answer.</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Include this slide. Do not cut it for time.</a:t>
            </a:r>
          </a:p>
          <a:p>
            <a:pPr lvl="0" indent="0" marL="0">
              <a:buNone/>
            </a:pPr>
          </a:p>
          <a:p>
            <a:pPr lvl="0" indent="0" marL="0">
              <a:buNone/>
            </a:pPr>
            <a:r>
              <a:rPr/>
              <a:t>A briefing that overstates its confidence is worth less than one that does not, and this audience has no way to catch us at it. Saying where we could not look is what makes the rest credible.</a:t>
            </a:r>
          </a:p>
          <a:p>
            <a:pPr lvl="0" indent="0" marL="0">
              <a:buNone/>
            </a:pPr>
          </a:p>
          <a:p>
            <a:pPr lvl="0" indent="0" marL="0">
              <a:buNone/>
            </a:pPr>
            <a:r>
              <a:rPr/>
              <a:t>Most real victims of these campaigns were hit on a developer’s own laptop, not a build server. Our visibility there is thinner.</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you get five minutes instead of thirty, this is the slide. Open on it, and take questions.</a:t>
            </a:r>
          </a:p>
          <a:p>
            <a:pPr lvl="0" indent="0" marL="0">
              <a:buNone/>
            </a:pPr>
          </a:p>
          <a:p>
            <a:pPr lvl="0" indent="0" marL="0">
              <a:buNone/>
            </a:pPr>
            <a:r>
              <a:rPr/>
              <a:t>The three: we run supplier code on sight, we hand over every key instead of one, and nine processes call an address anyone inside could claim.</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Software Supply Chain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What we found, what it would cost, and what we would do</a:t>
            </a:r>
          </a:p>
        </p:txBody>
      </p:sp>
      <p:sp>
        <p:nvSpPr>
          <p:cNvPr id="4" name="Date Placeholder 3"/>
          <p:cNvSpPr>
            <a:spLocks noGrp="1"/>
          </p:cNvSpPr>
          <p:nvPr>
            <p:ph idx="10" sz="half" type="dt"/>
          </p:nvPr>
        </p:nvSpPr>
        <p:spPr/>
        <p:txBody>
          <a:bodyPr/>
          <a:lstStyle/>
          <a:p>
            <a:pPr lvl="0" indent="0" marL="0">
              <a:buNone/>
            </a:pPr>
            <a:r>
              <a:rPr/>
              <a:t>11 August 2026 · Internal</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anything else</a:t>
            </a:r>
          </a:p>
        </p:txBody>
      </p:sp>
      <p:sp>
        <p:nvSpPr>
          <p:cNvPr id="3" name="Content Placeholder 2"/>
          <p:cNvSpPr>
            <a:spLocks noGrp="1"/>
          </p:cNvSpPr>
          <p:nvPr>
            <p:ph idx="1"/>
          </p:nvPr>
        </p:nvSpPr>
        <p:spPr/>
        <p:txBody>
          <a:bodyPr/>
          <a:lstStyle/>
          <a:p>
            <a:pPr lvl="0" indent="0" marL="0">
              <a:buNone/>
            </a:pPr>
            <a:r>
              <a:rPr b="1"/>
              <a:t>Nothing has happened to us.</a:t>
            </a:r>
          </a:p>
          <a:p>
            <a:pPr lvl="0"/>
            <a:r>
              <a:rPr/>
              <a:t>We went looking for evidence of an attack</a:t>
            </a:r>
          </a:p>
          <a:p>
            <a:pPr lvl="0"/>
            <a:r>
              <a:rPr/>
              <a:t>We did not find any</a:t>
            </a:r>
          </a:p>
          <a:p>
            <a:pPr lvl="0"/>
            <a:r>
              <a:rPr/>
              <a:t>This is about the doors, not a burglary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software actually gets built</a:t>
            </a:r>
          </a:p>
        </p:txBody>
      </p:sp>
      <p:sp>
        <p:nvSpPr>
          <p:cNvPr id="3" name="Content Placeholder 2"/>
          <p:cNvSpPr>
            <a:spLocks noGrp="1"/>
          </p:cNvSpPr>
          <p:nvPr>
            <p:ph idx="1"/>
          </p:nvPr>
        </p:nvSpPr>
        <p:spPr/>
        <p:txBody>
          <a:bodyPr/>
          <a:lstStyle/>
          <a:p>
            <a:pPr lvl="0" indent="0" marL="0">
              <a:buNone/>
            </a:pPr>
            <a:r>
              <a:rPr/>
              <a:t>We do not write it all ourselves.</a:t>
            </a:r>
          </a:p>
          <a:p>
            <a:pPr lvl="0"/>
            <a:r>
              <a:rPr/>
              <a:t>Products are </a:t>
            </a:r>
            <a:r>
              <a:rPr b="1"/>
              <a:t>assembled</a:t>
            </a:r>
            <a:r>
              <a:rPr/>
              <a:t> from thousands of free components</a:t>
            </a:r>
          </a:p>
          <a:p>
            <a:pPr lvl="0"/>
            <a:r>
              <a:rPr/>
              <a:t>Published by strangers, downloaded automatically</a:t>
            </a:r>
          </a:p>
          <a:p>
            <a:pPr lvl="0"/>
            <a:r>
              <a:rPr/>
              <a:t>Like buying screws and motors instead of making them</a:t>
            </a:r>
          </a:p>
          <a:p>
            <a:pPr lvl="0" indent="0" marL="0">
              <a:buNone/>
            </a:pPr>
            <a:r>
              <a:rPr/>
              <a:t>This is normal. It is how the whole industry works.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…which is why attackers now aim there</a:t>
            </a:r>
          </a:p>
        </p:txBody>
      </p:sp>
      <p:sp>
        <p:nvSpPr>
          <p:cNvPr id="3" name="Content Placeholder 2"/>
          <p:cNvSpPr>
            <a:spLocks noGrp="1"/>
          </p:cNvSpPr>
          <p:nvPr>
            <p:ph idx="1"/>
          </p:nvPr>
        </p:nvSpPr>
        <p:spPr/>
        <p:txBody>
          <a:bodyPr/>
          <a:lstStyle/>
          <a:p>
            <a:pPr lvl="0" indent="-342900" marL="342900">
              <a:buAutoNum type="arabicPeriod"/>
            </a:pPr>
            <a:r>
              <a:rPr/>
              <a:t>Take over the account of someone who publishes a popular component</a:t>
            </a:r>
          </a:p>
          <a:p>
            <a:pPr lvl="0" indent="-342900" marL="342900">
              <a:buAutoNum type="arabicPeriod"/>
            </a:pPr>
            <a:r>
              <a:rPr/>
              <a:t>Publish a new version with hostile code inside</a:t>
            </a:r>
          </a:p>
          <a:p>
            <a:pPr lvl="0" indent="-342900" marL="342900">
              <a:buAutoNum type="arabicPeriod"/>
            </a:pPr>
            <a:r>
              <a:rPr/>
              <a:t>Every company that builds software that week picks it up</a:t>
            </a:r>
          </a:p>
          <a:p>
            <a:pPr lvl="0" indent="0" marL="0">
              <a:buNone/>
            </a:pPr>
            <a:r>
              <a:rPr b="1"/>
              <a:t>Nobody clicked anything. Nobody made a mistake.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Five problems, one chain</a:t>
            </a:r>
          </a:p>
        </p:txBody>
      </p:sp>
      <p:sp>
        <p:nvSpPr>
          <p:cNvPr id="3" name="Content Placeholder 2"/>
          <p:cNvSpPr>
            <a:spLocks noGrp="1"/>
          </p:cNvSpPr>
          <p:nvPr>
            <p:ph idx="1"/>
          </p:nvPr>
        </p:nvSpPr>
        <p:spPr/>
        <p:txBody>
          <a:bodyPr/>
          <a:lstStyle/>
          <a:p>
            <a:pPr lvl="0"/>
            <a:r>
              <a:rPr/>
              <a:t>We </a:t>
            </a:r>
            <a:r>
              <a:rPr b="1"/>
              <a:t>run</a:t>
            </a:r>
            <a:r>
              <a:rPr/>
              <a:t> what suppliers send us, unread</a:t>
            </a:r>
          </a:p>
          <a:p>
            <a:pPr lvl="0"/>
            <a:r>
              <a:rPr/>
              <a:t>We hand our build systems </a:t>
            </a:r>
            <a:r>
              <a:rPr b="1"/>
              <a:t>every key we own</a:t>
            </a:r>
          </a:p>
          <a:p>
            <a:pPr lvl="0"/>
            <a:r>
              <a:rPr/>
              <a:t>Nine of our processes call an </a:t>
            </a:r>
            <a:r>
              <a:rPr b="1"/>
              <a:t>address anyone can claim</a:t>
            </a:r>
          </a:p>
          <a:p>
            <a:pPr lvl="0"/>
            <a:r>
              <a:rPr/>
              <a:t>We track </a:t>
            </a:r>
            <a:r>
              <a:rPr b="1"/>
              <a:t>moving targets</a:t>
            </a:r>
            <a:r>
              <a:rPr/>
              <a:t> instead of fixed ones</a:t>
            </a:r>
          </a:p>
          <a:p>
            <a:pPr lvl="0"/>
            <a:r>
              <a:rPr/>
              <a:t>Keys </a:t>
            </a:r>
            <a:r>
              <a:rPr b="1"/>
              <a:t>never expire</a:t>
            </a:r>
            <a:r>
              <a:rPr/>
              <a:t>, and there is no one place to say no</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 We hand over the whole keyring</a:t>
            </a:r>
          </a:p>
        </p:txBody>
      </p:sp>
      <p:sp>
        <p:nvSpPr>
          <p:cNvPr id="4" name="Text Placeholder 3"/>
          <p:cNvSpPr>
            <a:spLocks noGrp="1"/>
          </p:cNvSpPr>
          <p:nvPr>
            <p:ph idx="2" sz="half" type="body"/>
          </p:nvPr>
        </p:nvSpPr>
        <p:spPr/>
        <p:txBody>
          <a:bodyPr/>
          <a:lstStyle/>
          <a:p>
            <a:pPr lvl="0" indent="0" marL="0">
              <a:buNone/>
            </a:pPr>
            <a:r>
              <a:rPr/>
              <a:t>A contractor comes to fix the supply closet. We give them the master key to </a:t>
            </a:r>
            <a:r>
              <a:rPr b="1"/>
              <a:t>every door in the building.</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0" bandRow="1">
                <a:tableStyleId>{5C22544A-7EE6-4342-B048-85BDC9FD1C3A}</a:tableStyleId>
              </a:tblPr>
              <a:tblGrid>
                <a:gridCol w="2552700"/>
                <a:gridCol w="2552700"/>
              </a:tblGrid>
              <a:tr h="0">
                <a:tc>
                  <a:txBody>
                    <a:bodyPr/>
                    <a:lstStyle/>
                    <a:p>
                      <a:pPr lvl="0" indent="0" marL="0">
                        <a:buNone/>
                      </a:pPr>
                      <a:r>
                        <a:rPr/>
                        <a:t>Places this happens</a:t>
                      </a:r>
                    </a:p>
                  </a:txBody>
                </a:tc>
                <a:tc>
                  <a:txBody>
                    <a:bodyPr/>
                    <a:lstStyle/>
                    <a:p>
                      <a:pPr lvl="0" indent="0" marL="0">
                        <a:buNone/>
                      </a:pPr>
                      <a:r>
                        <a:rPr b="1"/>
                        <a:t>1,924</a:t>
                      </a:r>
                    </a:p>
                  </a:txBody>
                </a:tc>
              </a:tr>
              <a:tr h="0">
                <a:tc>
                  <a:txBody>
                    <a:bodyPr/>
                    <a:lstStyle/>
                    <a:p>
                      <a:pPr lvl="0" indent="0" marL="0">
                        <a:buNone/>
                      </a:pPr>
                      <a:r>
                        <a:rPr/>
                        <a:t>Through one single component</a:t>
                      </a:r>
                    </a:p>
                  </a:txBody>
                </a:tc>
                <a:tc>
                  <a:txBody>
                    <a:bodyPr/>
                    <a:lstStyle/>
                    <a:p>
                      <a:pPr lvl="0" indent="0" marL="0">
                        <a:buNone/>
                      </a:pPr>
                      <a:r>
                        <a:rPr b="1"/>
                        <a:t>1,904</a:t>
                      </a:r>
                    </a:p>
                  </a:txBody>
                </a:tc>
              </a:tr>
              <a:tr h="0">
                <a:tc>
                  <a:txBody>
                    <a:bodyPr/>
                    <a:lstStyle/>
                    <a:p>
                      <a:pPr lvl="0" indent="0" marL="0">
                        <a:buNone/>
                      </a:pPr>
                      <a:r>
                        <a:rPr/>
                        <a:t>Projects reached by shared building blocks</a:t>
                      </a:r>
                    </a:p>
                  </a:txBody>
                </a:tc>
                <a:tc>
                  <a:txBody>
                    <a:bodyPr/>
                    <a:lstStyle/>
                    <a:p>
                      <a:pPr lvl="0" indent="0" marL="0">
                        <a:buNone/>
                      </a:pPr>
                      <a:r>
                        <a:rPr b="1"/>
                        <a:t>1,823</a:t>
                      </a:r>
                    </a:p>
                  </a:txBody>
                </a:tc>
              </a:tr>
              <a:tr h="0">
                <a:tc>
                  <a:txBody>
                    <a:bodyPr/>
                    <a:lstStyle/>
                    <a:p>
                      <a:pPr lvl="0" indent="0" marL="0">
                        <a:buNone/>
                      </a:pPr>
                      <a:r>
                        <a:rPr/>
                        <a:t>…that deploy to production</a:t>
                      </a:r>
                    </a:p>
                  </a:txBody>
                </a:tc>
                <a:tc>
                  <a:txBody>
                    <a:bodyPr/>
                    <a:lstStyle/>
                    <a:p>
                      <a:pPr lvl="0" indent="0" marL="0">
                        <a:buNone/>
                      </a:pPr>
                      <a:r>
                        <a:rPr b="1"/>
                        <a:t>37</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We run supplier code on sight</a:t>
            </a:r>
          </a:p>
        </p:txBody>
      </p:sp>
      <p:sp>
        <p:nvSpPr>
          <p:cNvPr id="3" name="Content Placeholder 2"/>
          <p:cNvSpPr>
            <a:spLocks noGrp="1"/>
          </p:cNvSpPr>
          <p:nvPr>
            <p:ph idx="1"/>
          </p:nvPr>
        </p:nvSpPr>
        <p:spPr/>
        <p:txBody>
          <a:bodyPr/>
          <a:lstStyle/>
          <a:p>
            <a:pPr lvl="0" indent="0" marL="0">
              <a:buNone/>
            </a:pPr>
            <a:r>
              <a:rPr/>
              <a:t>Components arrive with a note attached: </a:t>
            </a:r>
            <a:r>
              <a:rPr i="1"/>
              <a:t>“before you use me, run this.”</a:t>
            </a:r>
          </a:p>
          <a:p>
            <a:pPr lvl="0" indent="0" marL="0">
              <a:buNone/>
            </a:pPr>
            <a:r>
              <a:rPr b="1"/>
              <a:t>We run it. Automatically. Before anyone reads it.</a:t>
            </a:r>
          </a:p>
          <a:p>
            <a:pPr lvl="0"/>
            <a:r>
              <a:rPr/>
              <a:t>Only </a:t>
            </a:r>
            <a:r>
              <a:rPr b="1"/>
              <a:t>6</a:t>
            </a:r>
            <a:r>
              <a:rPr/>
              <a:t> of our projects refuse</a:t>
            </a:r>
          </a:p>
          <a:p>
            <a:pPr lvl="0"/>
            <a:r>
              <a:rPr b="1"/>
              <a:t>94</a:t>
            </a:r>
            <a:r>
              <a:rPr/>
              <a:t> run whatever arrives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Nine open doors</a:t>
            </a:r>
          </a:p>
        </p:txBody>
      </p:sp>
      <p:sp>
        <p:nvSpPr>
          <p:cNvPr id="3" name="Content Placeholder 2"/>
          <p:cNvSpPr>
            <a:spLocks noGrp="1"/>
          </p:cNvSpPr>
          <p:nvPr>
            <p:ph idx="1"/>
          </p:nvPr>
        </p:nvSpPr>
        <p:spPr/>
        <p:txBody>
          <a:bodyPr/>
          <a:lstStyle/>
          <a:p>
            <a:pPr lvl="0" indent="0" marL="0">
              <a:buNone/>
            </a:pPr>
            <a:r>
              <a:rPr/>
              <a:t>Nine automated processes are asking for instructions from an address where </a:t>
            </a:r>
            <a:r>
              <a:rPr b="1"/>
              <a:t>nothing lives any more.</a:t>
            </a:r>
          </a:p>
          <a:p>
            <a:pPr lvl="0"/>
            <a:r>
              <a:rPr/>
              <a:t>The address is </a:t>
            </a:r>
            <a:r>
              <a:rPr b="1"/>
              <a:t>vacant, not sealed</a:t>
            </a:r>
          </a:p>
          <a:p>
            <a:pPr lvl="0"/>
            <a:r>
              <a:rPr/>
              <a:t>Anyone inside the company can move in</a:t>
            </a:r>
          </a:p>
          <a:p>
            <a:pPr lvl="0"/>
            <a:r>
              <a:rPr/>
              <a:t>Whatever they supply gets handed the keyring</a:t>
            </a:r>
          </a:p>
          <a:p>
            <a:pPr lvl="0" indent="0" marL="0">
              <a:buNone/>
            </a:pPr>
            <a:r>
              <a:rPr b="1"/>
              <a:t>No outside attacker needed.</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 We track moving targets</a:t>
            </a:r>
          </a:p>
        </p:txBody>
      </p:sp>
      <p:sp>
        <p:nvSpPr>
          <p:cNvPr id="3" name="Content Placeholder 2"/>
          <p:cNvSpPr>
            <a:spLocks noGrp="1"/>
          </p:cNvSpPr>
          <p:nvPr>
            <p:ph idx="1"/>
          </p:nvPr>
        </p:nvSpPr>
        <p:spPr/>
        <p:txBody>
          <a:bodyPr/>
          <a:lstStyle/>
          <a:p>
            <a:pPr lvl="0" indent="0" marL="0">
              <a:buNone/>
            </a:pPr>
            <a:r>
              <a:rPr/>
              <a:t>We ask for “the current version” rather than “exactly the one we checked.”</a:t>
            </a:r>
          </a:p>
          <a:p>
            <a:pPr lvl="0" indent="0" marL="0">
              <a:buNone/>
            </a:pPr>
            <a:r>
              <a:rPr b="1"/>
              <a:t>Roughly 1 in 10</a:t>
            </a:r>
            <a:r>
              <a:rPr/>
              <a:t> of our references name a fixed version. The other nine can change under us overnight.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happens if we do not fix it</a:t>
            </a:r>
          </a:p>
        </p:txBody>
      </p:sp>
      <p:sp>
        <p:nvSpPr>
          <p:cNvPr id="3" name="Content Placeholder 2"/>
          <p:cNvSpPr>
            <a:spLocks noGrp="1"/>
          </p:cNvSpPr>
          <p:nvPr>
            <p:ph idx="1"/>
          </p:nvPr>
        </p:nvSpPr>
        <p:spPr/>
        <p:txBody>
          <a:bodyPr/>
          <a:lstStyle/>
          <a:p>
            <a:pPr lvl="0"/>
            <a:r>
              <a:rPr b="1"/>
              <a:t>A second of access becomes every credential we own</a:t>
            </a:r>
          </a:p>
          <a:p>
            <a:pPr lvl="0"/>
            <a:r>
              <a:rPr/>
              <a:t>Cannot prove what was taken → must assume </a:t>
            </a:r>
            <a:r>
              <a:rPr b="1"/>
              <a:t>everything</a:t>
            </a:r>
          </a:p>
          <a:p>
            <a:pPr lvl="0"/>
            <a:r>
              <a:rPr/>
              <a:t>Rotate every key, redeploy, under pressure, work stops</a:t>
            </a:r>
          </a:p>
          <a:p>
            <a:pPr lvl="0"/>
            <a:r>
              <a:rPr/>
              <a:t>Hard to answer </a:t>
            </a:r>
            <a:r>
              <a:rPr i="1"/>
              <a:t>“what did they take, and where did they go?”</a:t>
            </a:r>
          </a:p>
          <a:p>
            <a:pPr lvl="0" indent="0" marL="0">
              <a:buNone/>
            </a:pPr>
            <a:r>
              <a:rPr/>
              <a:t>There is </a:t>
            </a:r>
            <a:r>
              <a:rPr b="1"/>
              <a:t>no small version</a:t>
            </a:r>
            <a:r>
              <a:rPr/>
              <a:t> of this incident.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Worth doing even if nobody attacks us</a:t>
            </a:r>
          </a:p>
        </p:txBody>
      </p:sp>
      <p:sp>
        <p:nvSpPr>
          <p:cNvPr id="3" name="Content Placeholder 2"/>
          <p:cNvSpPr>
            <a:spLocks noGrp="1"/>
          </p:cNvSpPr>
          <p:nvPr>
            <p:ph idx="1"/>
          </p:nvPr>
        </p:nvSpPr>
        <p:spPr/>
        <p:txBody>
          <a:bodyPr/>
          <a:lstStyle/>
          <a:p>
            <a:pPr lvl="0"/>
            <a:r>
              <a:rPr b="1"/>
              <a:t>Nine broken automations</a:t>
            </a:r>
            <a:r>
              <a:rPr/>
              <a:t> get repaired</a:t>
            </a:r>
          </a:p>
          <a:p>
            <a:pPr lvl="0"/>
            <a:r>
              <a:rPr/>
              <a:t>Builds </a:t>
            </a:r>
            <a:r>
              <a:rPr b="1"/>
              <a:t>stop changing underneath us</a:t>
            </a:r>
            <a:r>
              <a:rPr/>
              <a:t> — fewer mystery failures</a:t>
            </a:r>
          </a:p>
          <a:p>
            <a:pPr lvl="0"/>
            <a:r>
              <a:rPr/>
              <a:t>A real </a:t>
            </a:r>
            <a:r>
              <a:rPr b="1"/>
              <a:t>list of what our software is made of</a:t>
            </a:r>
            <a:r>
              <a:rPr/>
              <a:t> — what auditors ask for</a:t>
            </a:r>
          </a:p>
          <a:p>
            <a:pPr lvl="0"/>
            <a:r>
              <a:rPr b="1"/>
              <a:t>Less exposure to someone else’s outage</a:t>
            </a:r>
          </a:p>
          <a:p>
            <a:pPr lvl="0"/>
            <a:r>
              <a:rPr/>
              <a:t>Incidents get </a:t>
            </a:r>
            <a:r>
              <a:rPr b="1"/>
              <a:t>shorter</a:t>
            </a:r>
            <a:r>
              <a:rPr/>
              <a:t>, because keys expire on their own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Now — weeks, not quarters, nothing to buy</a:t>
            </a:r>
          </a:p>
        </p:txBody>
      </p:sp>
      <p:sp>
        <p:nvSpPr>
          <p:cNvPr id="3" name="Content Placeholder 2"/>
          <p:cNvSpPr>
            <a:spLocks noGrp="1"/>
          </p:cNvSpPr>
          <p:nvPr>
            <p:ph idx="1"/>
          </p:nvPr>
        </p:nvSpPr>
        <p:spPr/>
        <p:txBody>
          <a:bodyPr/>
          <a:lstStyle/>
          <a:p>
            <a:pPr lvl="0" indent="0" marL="0">
              <a:buNone/>
            </a:pPr>
            <a:r>
              <a:rPr b="1"/>
              <a:t>A. Close the nine open doors</a:t>
            </a:r>
            <a:r>
              <a:rPr/>
              <a:t> — hours Repoint them, and lock the names so nobody can claim them</a:t>
            </a:r>
          </a:p>
          <a:p>
            <a:pPr lvl="0" indent="0" marL="0">
              <a:buNone/>
            </a:pPr>
            <a:r>
              <a:rPr b="1"/>
              <a:t>B. Stop running supplier code on sight</a:t>
            </a:r>
            <a:r>
              <a:rPr/>
              <a:t> — one line per project 94 projects, cheapest protection here</a:t>
            </a:r>
          </a:p>
          <a:p>
            <a:pPr lvl="0" indent="0" marL="0">
              <a:buNone/>
            </a:pPr>
            <a:r>
              <a:rPr b="1"/>
              <a:t>C. Stop handing over the whole keyring</a:t>
            </a:r>
            <a:r>
              <a:rPr/>
              <a:t> — a few weeks A small number of shared components, not thousands of projects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Next — a quarter each</a:t>
            </a:r>
          </a:p>
        </p:txBody>
      </p:sp>
      <p:sp>
        <p:nvSpPr>
          <p:cNvPr id="3" name="Content Placeholder 2"/>
          <p:cNvSpPr>
            <a:spLocks noGrp="1"/>
          </p:cNvSpPr>
          <p:nvPr>
            <p:ph idx="1"/>
          </p:nvPr>
        </p:nvSpPr>
        <p:spPr/>
        <p:txBody>
          <a:bodyPr/>
          <a:lstStyle/>
          <a:p>
            <a:pPr lvl="0" indent="0" marL="0">
              <a:buNone/>
            </a:pPr>
            <a:r>
              <a:rPr b="1"/>
              <a:t>D. Badges instead of keys</a:t>
            </a:r>
            <a:r>
              <a:rPr/>
              <a:t> Short-lived passes issued per job, expiring in minutes. Nothing durable left to steal.</a:t>
            </a:r>
          </a:p>
          <a:p>
            <a:pPr lvl="0" indent="0" marL="0">
              <a:buNone/>
            </a:pPr>
            <a:r>
              <a:rPr b="1"/>
              <a:t>E. One front door for outside software</a:t>
            </a:r>
            <a:r>
              <a:rPr/>
              <a:t> One place to block a bad component everywhere at once, and a short waiting period before new versions can be used.</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We already own the front door</a:t>
            </a:r>
          </a:p>
        </p:txBody>
      </p:sp>
      <p:sp>
        <p:nvSpPr>
          <p:cNvPr id="4" name="Text Placeholder 3"/>
          <p:cNvSpPr>
            <a:spLocks noGrp="1"/>
          </p:cNvSpPr>
          <p:nvPr>
            <p:ph idx="2" sz="half" type="body"/>
          </p:nvPr>
        </p:nvSpPr>
        <p:spPr/>
        <p:txBody>
          <a:bodyPr/>
          <a:lstStyle/>
          <a:p>
            <a:pPr lvl="0" indent="0" marL="0">
              <a:buNone/>
            </a:pPr>
            <a:r>
              <a:rPr/>
              <a:t>Almost nothing goes through it. </a:t>
            </a:r>
            <a:r>
              <a:rPr b="1"/>
              <a:t>The mechanism is proven inside our own walls</a:t>
            </a:r>
            <a:r>
              <a:rPr/>
              <a:t> — it was simply never pointed at this category of software.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Through our internal supply point</a:t>
                      </a:r>
                    </a:p>
                  </a:txBody>
                  <a:tcPr/>
                </a:tc>
                <a:tc>
                  <a:txBody>
                    <a:bodyPr/>
                    <a:lstStyle/>
                    <a:p>
                      <a:endParaRPr/>
                    </a:p>
                  </a:txBody>
                  <a:tcPr/>
                </a:tc>
              </a:tr>
              <a:tr h="0">
                <a:tc>
                  <a:txBody>
                    <a:bodyPr/>
                    <a:lstStyle/>
                    <a:p>
                      <a:pPr lvl="0" indent="0" marL="0">
                        <a:buNone/>
                      </a:pPr>
                      <a:r>
                        <a:rPr/>
                        <a:t>Microsoft-ecosystem components</a:t>
                      </a:r>
                    </a:p>
                  </a:txBody>
                </a:tc>
                <a:tc>
                  <a:txBody>
                    <a:bodyPr/>
                    <a:lstStyle/>
                    <a:p>
                      <a:pPr lvl="0" indent="0" marL="0">
                        <a:buNone/>
                      </a:pPr>
                      <a:r>
                        <a:rPr b="1"/>
                        <a:t>523</a:t>
                      </a:r>
                    </a:p>
                  </a:txBody>
                </a:tc>
              </a:tr>
              <a:tr h="0">
                <a:tc>
                  <a:txBody>
                    <a:bodyPr/>
                    <a:lstStyle/>
                    <a:p>
                      <a:pPr lvl="0" indent="0" marL="0">
                        <a:buNone/>
                      </a:pPr>
                      <a:r>
                        <a:rPr/>
                        <a:t>The components in question here</a:t>
                      </a:r>
                    </a:p>
                  </a:txBody>
                </a:tc>
                <a:tc>
                  <a:txBody>
                    <a:bodyPr/>
                    <a:lstStyle/>
                    <a:p>
                      <a:pPr lvl="0" indent="0" marL="0">
                        <a:buNone/>
                      </a:pPr>
                      <a:r>
                        <a:rPr b="1"/>
                        <a:t>0</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Why a waiting period works</a:t>
            </a:r>
          </a:p>
        </p:txBody>
      </p:sp>
      <p:sp>
        <p:nvSpPr>
          <p:cNvPr id="4" name="Text Placeholder 3"/>
          <p:cNvSpPr>
            <a:spLocks noGrp="1"/>
          </p:cNvSpPr>
          <p:nvPr>
            <p:ph idx="2" sz="half" type="body"/>
          </p:nvPr>
        </p:nvSpPr>
        <p:spPr/>
        <p:txBody>
          <a:bodyPr/>
          <a:lstStyle/>
          <a:p>
            <a:pPr lvl="0" indent="0" marL="0">
              <a:buNone/>
            </a:pPr>
            <a:r>
              <a:rPr/>
              <a:t>The catalog cleans itself up — but only after a few days, and </a:t>
            </a:r>
            <a:r>
              <a:rPr b="1"/>
              <a:t>our builds are fast enough to catch them in that gap.</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Bad versions published in this campaign</a:t>
                      </a:r>
                    </a:p>
                  </a:txBody>
                  <a:tcPr/>
                </a:tc>
                <a:tc>
                  <a:txBody>
                    <a:bodyPr/>
                    <a:lstStyle/>
                    <a:p>
                      <a:pPr lvl="0" indent="0" marL="0">
                        <a:buNone/>
                      </a:pPr>
                      <a:r>
                        <a:rPr b="1"/>
                        <a:t>2,208</a:t>
                      </a:r>
                    </a:p>
                  </a:txBody>
                  <a:tcPr/>
                </a:tc>
              </a:tr>
              <a:tr h="0">
                <a:tc>
                  <a:txBody>
                    <a:bodyPr/>
                    <a:lstStyle/>
                    <a:p>
                      <a:pPr lvl="0" indent="0" marL="0">
                        <a:buNone/>
                      </a:pPr>
                      <a:r>
                        <a:rPr/>
                        <a:t>Already pulled from the catalog when we checked</a:t>
                      </a:r>
                    </a:p>
                  </a:txBody>
                </a:tc>
                <a:tc>
                  <a:txBody>
                    <a:bodyPr/>
                    <a:lstStyle/>
                    <a:p>
                      <a:pPr lvl="0" indent="0" marL="0">
                        <a:buNone/>
                      </a:pPr>
                      <a:r>
                        <a:rPr b="1"/>
                        <a:t>2,097</a:t>
                      </a:r>
                    </a:p>
                  </a:txBody>
                </a:tc>
              </a:tr>
              <a:tr h="0">
                <a:tc>
                  <a:txBody>
                    <a:bodyPr/>
                    <a:lstStyle/>
                    <a:p>
                      <a:pPr lvl="0" indent="0" marL="0">
                        <a:buNone/>
                      </a:pPr>
                      <a:r>
                        <a:rPr/>
                        <a:t>Still out there</a:t>
                      </a:r>
                    </a:p>
                  </a:txBody>
                </a:tc>
                <a:tc>
                  <a:txBody>
                    <a:bodyPr/>
                    <a:lstStyle/>
                    <a:p>
                      <a:pPr lvl="0" indent="0" marL="0">
                        <a:buNone/>
                      </a:pPr>
                      <a:r>
                        <a:rPr b="1"/>
                        <a:t>111</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we are not claiming</a:t>
            </a:r>
          </a:p>
        </p:txBody>
      </p:sp>
      <p:sp>
        <p:nvSpPr>
          <p:cNvPr id="3" name="Content Placeholder 2"/>
          <p:cNvSpPr>
            <a:spLocks noGrp="1"/>
          </p:cNvSpPr>
          <p:nvPr>
            <p:ph idx="1"/>
          </p:nvPr>
        </p:nvSpPr>
        <p:spPr/>
        <p:txBody>
          <a:bodyPr/>
          <a:lstStyle/>
          <a:p>
            <a:pPr lvl="0"/>
            <a:r>
              <a:rPr/>
              <a:t>We did </a:t>
            </a:r>
            <a:r>
              <a:rPr b="1"/>
              <a:t>not</a:t>
            </a:r>
            <a:r>
              <a:rPr/>
              <a:t> check everything — </a:t>
            </a:r>
            <a:r>
              <a:rPr b="1"/>
              <a:t>193</a:t>
            </a:r>
            <a:r>
              <a:rPr/>
              <a:t> projects unread</a:t>
            </a:r>
          </a:p>
          <a:p>
            <a:pPr lvl="0"/>
            <a:r>
              <a:rPr b="1"/>
              <a:t>Not checked is not the same as clean</a:t>
            </a:r>
          </a:p>
          <a:p>
            <a:pPr lvl="0"/>
            <a:r>
              <a:rPr/>
              <a:t>Personal laptops are largely </a:t>
            </a:r>
            <a:r>
              <a:rPr b="1"/>
              <a:t>outside</a:t>
            </a:r>
            <a:r>
              <a:rPr/>
              <a:t> this</a:t>
            </a:r>
          </a:p>
          <a:p>
            <a:pPr lvl="0"/>
            <a:r>
              <a:rPr/>
              <a:t>One internal supply point we </a:t>
            </a:r>
            <a:r>
              <a:rPr b="1"/>
              <a:t>could not read</a:t>
            </a:r>
          </a:p>
          <a:p>
            <a:pPr lvl="0" indent="0" marL="0">
              <a:buNone/>
            </a:pPr>
            <a:r>
              <a:rPr b="1"/>
              <a:t>“No evidence of a break-in” is not “no break-in.”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 one minute</a:t>
            </a:r>
          </a:p>
        </p:txBody>
      </p:sp>
      <p:sp>
        <p:nvSpPr>
          <p:cNvPr id="3" name="Content Placeholder 2"/>
          <p:cNvSpPr>
            <a:spLocks noGrp="1"/>
          </p:cNvSpPr>
          <p:nvPr>
            <p:ph idx="1"/>
          </p:nvPr>
        </p:nvSpPr>
        <p:spPr/>
        <p:txBody>
          <a:bodyPr/>
          <a:lstStyle/>
          <a:p>
            <a:pPr lvl="0" indent="0" marL="0">
              <a:buNone/>
            </a:pPr>
            <a:r>
              <a:rPr/>
              <a:t>We build our products partly from free components downloaded automatically from the internet. Attackers have started poisoning those at the source, and it is working across the industry.</a:t>
            </a:r>
          </a:p>
          <a:p>
            <a:pPr lvl="0" indent="0" marL="0">
              <a:buNone/>
            </a:pPr>
            <a:r>
              <a:rPr b="1"/>
              <a:t>We checked. It has not reached us.</a:t>
            </a:r>
          </a:p>
          <a:p>
            <a:pPr lvl="0" indent="0" marL="0">
              <a:buNone/>
            </a:pPr>
            <a:r>
              <a:rPr/>
              <a:t>If it did, three things would turn a small event into a large one — and all three cost </a:t>
            </a:r>
            <a:r>
              <a:rPr b="1"/>
              <a:t>weeks, not quarters</a:t>
            </a:r>
            <a:r>
              <a:rPr/>
              <a:t>, with </a:t>
            </a:r>
            <a:r>
              <a:rPr b="1"/>
              <a:t>nothing to purchase.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Supply Chain</dc:title>
  <dc:creator/>
  <cp:keywords/>
  <dcterms:created xsi:type="dcterms:W3CDTF">2026-08-11T17:51:07Z</dcterms:created>
  <dcterms:modified xsi:type="dcterms:W3CDTF">2026-08-11T17:51:07Z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11 August 2026 · Internal</vt:lpwstr>
  </property>
  <property fmtid="{D5CDD505-2E9C-101B-9397-08002B2CF9AE}" pid="3" name="subtitle">
    <vt:lpwstr>What we found, what it would cost, and what we would do</vt:lpwstr>
  </property>
</Properties>
</file>