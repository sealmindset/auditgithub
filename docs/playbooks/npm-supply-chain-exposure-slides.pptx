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43"/>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notesMaster" Target="notesMasters/notesMaster1.xml" /><Relationship Id="rId45" Type="http://schemas.openxmlformats.org/officeDocument/2006/relationships/viewProps" Target="viewProps.xml" /><Relationship Id="rId44" Type="http://schemas.openxmlformats.org/officeDocument/2006/relationships/presProps" Target="presProps.xml" /><Relationship Id="rId1" Type="http://schemas.openxmlformats.org/officeDocument/2006/relationships/slideMaster" Target="slideMasters/slideMaster1.xml" /><Relationship Id="rId47" Type="http://schemas.openxmlformats.org/officeDocument/2006/relationships/tableStyles" Target="tableStyles.xml" /><Relationship Id="rId46"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this first and say it plainly. Any room handed a security deck assumes there has been a breach. If you do not kill that assumption in the first thirty seconds, everything else in this deck gets heard as damage control.</a:t>
            </a:r>
          </a:p>
          <a:p>
            <a:pPr lvl="0" indent="0" marL="0">
              <a:buNone/>
            </a:pPr>
          </a:p>
          <a:p>
            <a:pPr lvl="0" indent="0" marL="0">
              <a:buNone/>
            </a:pPr>
            <a:r>
              <a:rPr/>
              <a:t>We checked what our software is built from, what our automated systems have been doing, and what our laptops and servers have been running. Nothing showed a break-in.</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audience needs this before anything else lands. Nobody sits down and writes a modern application from nothing — they assemble it from parts. Our automated build systems pull those parts down constantly, with no person watching.</a:t>
            </a:r>
          </a:p>
          <a:p>
            <a:pPr lvl="0" indent="0" marL="0">
              <a:buNone/>
            </a:pPr>
          </a:p>
          <a:p>
            <a:pPr lvl="0" indent="0" marL="0">
              <a:buNone/>
            </a:pPr>
            <a:r>
              <a:rPr/>
              <a:t>Do not apologize for this. It is not a bad practice. It is the practice.</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component was trusted last week, so it was trusted this week. That is the whole trick.</a:t>
            </a:r>
          </a:p>
          <a:p>
            <a:pPr lvl="0" indent="0" marL="0">
              <a:buNone/>
            </a:pPr>
          </a:p>
          <a:p>
            <a:pPr lvl="0" indent="0" marL="0">
              <a:buNone/>
            </a:pPr>
            <a:r>
              <a:rPr/>
              <a:t>This has been happening across the industry at scale through 2026. The question this briefing answers is not “did we get hit” — we did not — it is “how well would we hold up.”</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Emphasize: these are five separate problems, and they are only serious </a:t>
            </a:r>
            <a:r>
              <a:rPr i="1"/>
              <a:t>together</a:t>
            </a:r>
            <a:r>
              <a:rPr/>
              <a:t>. They line up into a single chain. Each of the next few slides is one link.</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concentration is the good news. 1,904 of 3,506 go through one component, and all 3,506 go through just 18, so this is a handful of things to fix rather than thousands.</a:t>
            </a:r>
          </a:p>
          <a:p>
            <a:pPr lvl="0" indent="0" marL="0">
              <a:buNone/>
            </a:pPr>
          </a:p>
          <a:p>
            <a:pPr lvl="0" indent="0" marL="0">
              <a:buNone/>
            </a:pPr>
            <a:r>
              <a:rPr b="1"/>
              <a:t>If asked which component:</a:t>
            </a:r>
            <a:r>
              <a:rPr/>
              <a:t> </a:t>
            </a:r>
            <a:r>
              <a:rPr>
                <a:latin typeface="Courier"/>
              </a:rPr>
              <a:t>terraform-setup-composite-action</a:t>
            </a:r>
            <a:r>
              <a:rPr/>
              <a:t>, on tags </a:t>
            </a:r>
            <a:r>
              <a:rPr>
                <a:latin typeface="Courier"/>
              </a:rPr>
              <a:t>v2</a:t>
            </a:r>
            <a:r>
              <a:rPr/>
              <a:t> (1,904 references) and </a:t>
            </a:r>
            <a:r>
              <a:rPr>
                <a:latin typeface="Courier"/>
              </a:rPr>
              <a:t>v1</a:t>
            </a:r>
            <a:r>
              <a:rPr/>
              <a:t> (18). The others are </a:t>
            </a:r>
            <a:r>
              <a:rPr>
                <a:latin typeface="Courier"/>
              </a:rPr>
              <a:t>secrets-to-tfvars-file-creator@v1</a:t>
            </a:r>
            <a:r>
              <a:rPr/>
              <a:t> and </a:t>
            </a:r>
            <a:r>
              <a:rPr>
                <a:latin typeface="Courier"/>
              </a:rPr>
              <a:t>Firenza/secrets-to-env</a:t>
            </a:r>
            <a:r>
              <a:rPr/>
              <a:t>.</a:t>
            </a:r>
          </a:p>
          <a:p>
            <a:pPr lvl="0" indent="0" marL="0">
              <a:buNone/>
            </a:pPr>
          </a:p>
          <a:p>
            <a:pPr lvl="0" indent="0" marL="0">
              <a:buNone/>
            </a:pPr>
            <a:r>
              <a:rPr b="1"/>
              <a:t>If asked how, precisely:</a:t>
            </a:r>
            <a:r>
              <a:rPr/>
              <a:t> three different routes, three different fixes — an expression called </a:t>
            </a:r>
            <a:r>
              <a:rPr>
                <a:latin typeface="Courier"/>
              </a:rPr>
              <a:t>toJSON(secrets)</a:t>
            </a:r>
            <a:r>
              <a:rPr/>
              <a:t> handed to a build step (1,929 references), a setting called </a:t>
            </a:r>
            <a:r>
              <a:rPr>
                <a:latin typeface="Courier"/>
              </a:rPr>
              <a:t>secrets: inherit</a:t>
            </a:r>
            <a:r>
              <a:rPr/>
              <a:t> on a shared process (1,363), and two steps that print the whole set into the build log’s shell to read the names off it (214).</a:t>
            </a:r>
          </a:p>
          <a:p>
            <a:pPr lvl="0" indent="0" marL="0">
              <a:buNone/>
            </a:pPr>
          </a:p>
          <a:p>
            <a:pPr lvl="0" indent="0" marL="0">
              <a:buNone/>
            </a:pPr>
            <a:r>
              <a:rPr b="1"/>
              <a:t>If asked why it was built this way:</a:t>
            </a:r>
            <a:r>
              <a:rPr/>
              <a:t> it was convenient, and it worked. Nobody did anything reckless. It was never revisited.</a:t>
            </a:r>
          </a:p>
          <a:p>
            <a:pPr lvl="0" indent="0" marL="0">
              <a:buNone/>
            </a:pPr>
          </a:p>
          <a:p>
            <a:pPr lvl="0" indent="0" marL="0">
              <a:buNone/>
            </a:pPr>
            <a:r>
              <a:rPr/>
              <a:t>Full named list: appendix, “Problem 1a / 1b / 1c”.</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front door of the attack — where these campaigns begin, every time.</a:t>
            </a:r>
          </a:p>
          <a:p>
            <a:pPr lvl="0" indent="0" marL="0">
              <a:buNone/>
            </a:pPr>
          </a:p>
          <a:p>
            <a:pPr lvl="0" indent="0" marL="0">
              <a:buNone/>
            </a:pPr>
            <a:r>
              <a:rPr/>
              <a:t>There is a single setting that says “download the component, but do not run its instructions.” Almost nothing of ours sets it. That is the cheapest fix in the entire deck.</a:t>
            </a:r>
          </a:p>
          <a:p>
            <a:pPr lvl="0" indent="0" marL="0">
              <a:buNone/>
            </a:pPr>
          </a:p>
          <a:p>
            <a:pPr lvl="0" indent="0" marL="0">
              <a:buNone/>
            </a:pPr>
            <a:r>
              <a:rPr b="1"/>
              <a:t>If asked who already does it right:</a:t>
            </a:r>
            <a:r>
              <a:rPr/>
              <a:t> </a:t>
            </a:r>
            <a:r>
              <a:rPr>
                <a:latin typeface="Courier"/>
              </a:rPr>
              <a:t>sn-identity</a:t>
            </a:r>
            <a:r>
              <a:rPr/>
              <a:t>, </a:t>
            </a:r>
            <a:r>
              <a:rPr>
                <a:latin typeface="Courier"/>
              </a:rPr>
              <a:t>snint-ds-e2e-testcases</a:t>
            </a:r>
            <a:r>
              <a:rPr/>
              <a:t>, </a:t>
            </a:r>
            <a:r>
              <a:rPr>
                <a:latin typeface="Courier"/>
              </a:rPr>
              <a:t>snint-marketing-campaign-e2e-testcases</a:t>
            </a:r>
            <a:r>
              <a:rPr/>
              <a:t> and </a:t>
            </a:r>
            <a:r>
              <a:rPr>
                <a:latin typeface="Courier"/>
              </a:rPr>
              <a:t>snip-auth-service-e2e-testcases</a:t>
            </a:r>
            <a:r>
              <a:rPr/>
              <a:t> set it in every build; </a:t>
            </a:r>
            <a:r>
              <a:rPr>
                <a:latin typeface="Courier"/>
              </a:rPr>
              <a:t>chads-github-actions-playground</a:t>
            </a:r>
            <a:r>
              <a:rPr/>
              <a:t> does it the better way, with one file at the top of the repository that covers every build including a developer’s laptop. The change is already written and reviewed inside our own estate — the other 94 copy it.</a:t>
            </a:r>
          </a:p>
          <a:p>
            <a:pPr lvl="0" indent="0" marL="0">
              <a:buNone/>
            </a:pPr>
          </a:p>
          <a:p>
            <a:pPr lvl="0" indent="0" marL="0">
              <a:buNone/>
            </a:pPr>
            <a:r>
              <a:rPr b="1"/>
              <a:t>If asked where the change goes:</a:t>
            </a:r>
            <a:r>
              <a:rPr/>
              <a:t> either the build file at </a:t>
            </a:r>
            <a:r>
              <a:rPr>
                <a:latin typeface="Courier"/>
              </a:rPr>
              <a:t>.github/workflows/</a:t>
            </a:r>
            <a:r>
              <a:rPr/>
              <a:t>, or a one-line file called </a:t>
            </a:r>
            <a:r>
              <a:rPr>
                <a:latin typeface="Courier"/>
              </a:rPr>
              <a:t>.npmrc</a:t>
            </a:r>
            <a:r>
              <a:rPr/>
              <a:t> at the top of the project. The second is preferred.</a:t>
            </a:r>
          </a:p>
          <a:p>
            <a:pPr lvl="0" indent="0" marL="0">
              <a:buNone/>
            </a:pPr>
          </a:p>
          <a:p>
            <a:pPr lvl="0" indent="0" marL="0">
              <a:buNone/>
            </a:pPr>
            <a:r>
              <a:rPr/>
              <a:t>Full list of all 94: appendix, “Problem 2”.</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Right now these nine are simply broken. That is the mild version.</a:t>
            </a:r>
          </a:p>
          <a:p>
            <a:pPr lvl="0" indent="0" marL="0">
              <a:buNone/>
            </a:pPr>
          </a:p>
          <a:p>
            <a:pPr lvl="0" indent="0" marL="0">
              <a:buNone/>
            </a:pPr>
            <a:r>
              <a:rPr/>
              <a:t>The serious version: the addresses are not secret — anyone can read our own project files and see which ones we are calling. Somebody inside with ordinary access could claim one.</a:t>
            </a:r>
          </a:p>
          <a:p>
            <a:pPr lvl="0" indent="0" marL="0">
              <a:buNone/>
            </a:pPr>
          </a:p>
          <a:p>
            <a:pPr lvl="0" indent="0" marL="0">
              <a:buNone/>
            </a:pPr>
            <a:r>
              <a:rPr b="1"/>
              <a:t>The names, if asked:</a:t>
            </a:r>
            <a:r>
              <a:rPr/>
              <a:t> </a:t>
            </a:r>
            <a:r>
              <a:rPr>
                <a:latin typeface="Courier"/>
              </a:rPr>
              <a:t>initi</a:t>
            </a:r>
            <a:r>
              <a:rPr/>
              <a:t>, </a:t>
            </a:r>
            <a:r>
              <a:rPr>
                <a:latin typeface="Courier"/>
              </a:rPr>
              <a:t>use-environment</a:t>
            </a:r>
            <a:r>
              <a:rPr/>
              <a:t>, </a:t>
            </a:r>
            <a:r>
              <a:rPr>
                <a:latin typeface="Courier"/>
              </a:rPr>
              <a:t>add-copilot-blocker</a:t>
            </a:r>
            <a:r>
              <a:rPr/>
              <a:t>, </a:t>
            </a:r>
            <a:r>
              <a:rPr>
                <a:latin typeface="Courier"/>
              </a:rPr>
              <a:t>feat/extra-node-ca-cert</a:t>
            </a:r>
            <a:r>
              <a:rPr/>
              <a:t>, </a:t>
            </a:r>
            <a:r>
              <a:rPr>
                <a:latin typeface="Courier"/>
              </a:rPr>
              <a:t>update-to-node-24-actions</a:t>
            </a:r>
            <a:r>
              <a:rPr/>
              <a:t>, </a:t>
            </a:r>
            <a:r>
              <a:rPr>
                <a:latin typeface="Courier"/>
              </a:rPr>
              <a:t>multipe-primary-image-versions</a:t>
            </a:r>
            <a:r>
              <a:rPr/>
              <a:t>, </a:t>
            </a:r>
            <a:r>
              <a:rPr>
                <a:latin typeface="Courier"/>
              </a:rPr>
              <a:t>update-provider-inputs</a:t>
            </a:r>
            <a:r>
              <a:rPr/>
              <a:t>, </a:t>
            </a:r>
            <a:r>
              <a:rPr>
                <a:latin typeface="Courier"/>
              </a:rPr>
              <a:t>dependabot-fixes</a:t>
            </a:r>
            <a:r>
              <a:rPr/>
              <a:t>. They were deleted; the repositories that held them still exist.</a:t>
            </a:r>
          </a:p>
          <a:p>
            <a:pPr lvl="0" indent="0" marL="0">
              <a:buNone/>
            </a:pPr>
          </a:p>
          <a:p>
            <a:pPr lvl="0" indent="0" marL="0">
              <a:buNone/>
            </a:pPr>
            <a:r>
              <a:rPr b="1"/>
              <a:t>Who is calling them:</a:t>
            </a:r>
            <a:r>
              <a:rPr/>
              <a:t> most are sandbox and proof-of-concept projects. The three that are not — and so the ones that matter — are </a:t>
            </a:r>
            <a:r>
              <a:rPr>
                <a:latin typeface="Courier"/>
              </a:rPr>
              <a:t>snip-iics-mft-ops</a:t>
            </a:r>
            <a:r>
              <a:rPr/>
              <a:t>, </a:t>
            </a:r>
            <a:r>
              <a:rPr>
                <a:latin typeface="Courier"/>
              </a:rPr>
              <a:t>dot-env-to-env-var-action</a:t>
            </a:r>
            <a:r>
              <a:rPr/>
              <a:t> and </a:t>
            </a:r>
            <a:r>
              <a:rPr>
                <a:latin typeface="Courier"/>
              </a:rPr>
              <a:t>eslint-config-azure-integrations</a:t>
            </a:r>
            <a:r>
              <a:rPr/>
              <a:t>.</a:t>
            </a:r>
          </a:p>
          <a:p>
            <a:pPr lvl="0" indent="0" marL="0">
              <a:buNone/>
            </a:pPr>
          </a:p>
          <a:p>
            <a:pPr lvl="0" indent="0" marL="0">
              <a:buNone/>
            </a:pPr>
            <a:r>
              <a:rPr b="1"/>
              <a:t>Both halves of the fix:</a:t>
            </a:r>
            <a:r>
              <a:rPr/>
              <a:t> repoint them, </a:t>
            </a:r>
            <a:r>
              <a:rPr i="1"/>
              <a:t>and</a:t>
            </a:r>
            <a:r>
              <a:rPr/>
              <a:t> reserve the names so they cannot be re-created. Repointing alone leaves the door shut but unlocked.</a:t>
            </a:r>
          </a:p>
          <a:p>
            <a:pPr lvl="0" indent="0" marL="0">
              <a:buNone/>
            </a:pPr>
          </a:p>
          <a:p>
            <a:pPr lvl="0" indent="0" marL="0">
              <a:buNone/>
            </a:pPr>
            <a:r>
              <a:rPr/>
              <a:t>This is the sharpest thing we found, and it is hours of work. Appendix, “Problem 3”.</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 approval, no change request, no notification. What runs tomorrow can differ from what ran today.</a:t>
            </a:r>
          </a:p>
          <a:p>
            <a:pPr lvl="0" indent="0" marL="0">
              <a:buNone/>
            </a:pPr>
          </a:p>
          <a:p>
            <a:pPr lvl="0" indent="0" marL="0">
              <a:buNone/>
            </a:pPr>
            <a:r>
              <a:rPr/>
              <a:t>Worth noting this is also a reliability problem, not only a security one — see the benefits slide.</a:t>
            </a:r>
          </a:p>
          <a:p>
            <a:pPr lvl="0" indent="0" marL="0">
              <a:buNone/>
            </a:pPr>
          </a:p>
          <a:p>
            <a:pPr lvl="0" indent="0" marL="0">
              <a:buNone/>
            </a:pPr>
            <a:r>
              <a:rPr b="1"/>
              <a:t>The biggest ones, if asked:</a:t>
            </a:r>
            <a:r>
              <a:rPr/>
              <a:t> </a:t>
            </a:r>
            <a:r>
              <a:rPr>
                <a:latin typeface="Courier"/>
              </a:rPr>
              <a:t>github-env-vars-action</a:t>
            </a:r>
            <a:r>
              <a:rPr/>
              <a:t> (233 references), </a:t>
            </a:r>
            <a:r>
              <a:rPr>
                <a:latin typeface="Courier"/>
              </a:rPr>
              <a:t>setup-terraform</a:t>
            </a:r>
            <a:r>
              <a:rPr/>
              <a:t> (162), </a:t>
            </a:r>
            <a:r>
              <a:rPr>
                <a:latin typeface="Courier"/>
              </a:rPr>
              <a:t>action-dotenv-to-setenv</a:t>
            </a:r>
            <a:r>
              <a:rPr/>
              <a:t> (111), </a:t>
            </a:r>
            <a:r>
              <a:rPr>
                <a:latin typeface="Courier"/>
              </a:rPr>
              <a:t>deployment-action</a:t>
            </a:r>
            <a:r>
              <a:rPr/>
              <a:t> (92). Those four alone are where fixing this buys the most.</a:t>
            </a:r>
          </a:p>
          <a:p>
            <a:pPr lvl="0" indent="0" marL="0">
              <a:buNone/>
            </a:pPr>
          </a:p>
          <a:p>
            <a:pPr lvl="0" indent="0" marL="0">
              <a:buNone/>
            </a:pPr>
            <a:r>
              <a:rPr b="1"/>
              <a:t>Related, and worth naming:</a:t>
            </a:r>
            <a:r>
              <a:rPr/>
              <a:t> four of our builds download code from the internet and run it immediately without checking it — in </a:t>
            </a:r>
            <a:r>
              <a:rPr>
                <a:latin typeface="Courier"/>
              </a:rPr>
              <a:t>sleep-number-claude-code-plugins</a:t>
            </a:r>
            <a:r>
              <a:rPr/>
              <a:t>, </a:t>
            </a:r>
            <a:r>
              <a:rPr>
                <a:latin typeface="Courier"/>
              </a:rPr>
              <a:t>sdna-new-databricks</a:t>
            </a:r>
            <a:r>
              <a:rPr/>
              <a:t> and </a:t>
            </a:r>
            <a:r>
              <a:rPr>
                <a:latin typeface="Courier"/>
              </a:rPr>
              <a:t>sdp-databricks-pytest-poc</a:t>
            </a:r>
            <a:r>
              <a:rPr/>
              <a:t>. Each is deliberate, but it is the same primitive the attack relies on. Appendix, “Problem 4”.</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Be concrete rather than dramatic. Nobody is claiming the company falls over.</a:t>
            </a:r>
          </a:p>
          <a:p>
            <a:pPr lvl="0" indent="0" marL="0">
              <a:buNone/>
            </a:pPr>
          </a:p>
          <a:p>
            <a:pPr lvl="0" indent="0" marL="0">
              <a:buNone/>
            </a:pPr>
            <a:r>
              <a:rPr/>
              <a:t>The expensive part is the clean-up, and it is triggered by an event that might last seconds. That is the asymmetry worth funding against.</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slide that gets the work funded. Several of these fixes pay for themselves with no attacker involved at all.</a:t>
            </a:r>
          </a:p>
          <a:p>
            <a:pPr lvl="0" indent="0" marL="0">
              <a:buNone/>
            </a:pPr>
          </a:p>
          <a:p>
            <a:pPr lvl="0" indent="0" marL="0">
              <a:buNone/>
            </a:pPr>
            <a:r>
              <a:rPr/>
              <a:t>The inventory point lands especially well with anyone who has been asked by a customer or an auditor what our software contains. Today that question takes a project to answer.</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Order matters. A first — it is the sharpest risk and the least effort.</a:t>
            </a:r>
          </a:p>
          <a:p>
            <a:pPr lvl="0" indent="0" marL="0">
              <a:buNone/>
            </a:pPr>
          </a:p>
          <a:p>
            <a:pPr lvl="0" indent="0" marL="0">
              <a:buNone/>
            </a:pPr>
            <a:r>
              <a:rPr/>
              <a:t>On A: both halves. Repointing without locking the name leaves the door shut but unlocked.</a:t>
            </a:r>
          </a:p>
          <a:p>
            <a:pPr lvl="0" indent="0" marL="0">
              <a:buNone/>
            </a:pPr>
          </a:p>
          <a:p>
            <a:pPr lvl="0" indent="0" marL="0">
              <a:buNone/>
            </a:pPr>
            <a:r>
              <a:rPr/>
              <a:t>On C: it sounds enormous and it is not, because the exposure is concentrated — 18 shared components, and one of them accounts for 1,904 of the 3,506 places.</a:t>
            </a:r>
          </a:p>
          <a:p>
            <a:pPr lvl="0" indent="0" marL="0">
              <a:buNone/>
            </a:pPr>
          </a:p>
          <a:p>
            <a:pPr lvl="0" indent="0" marL="0">
              <a:buNone/>
            </a:pPr>
            <a:r>
              <a:rPr b="1"/>
              <a:t>Which teams this lands on:</a:t>
            </a:r>
            <a:r>
              <a:rPr/>
              <a:t> the platform team that owns </a:t>
            </a:r>
            <a:r>
              <a:rPr>
                <a:latin typeface="Courier"/>
              </a:rPr>
              <a:t>terraform-setup-composite-action</a:t>
            </a:r>
            <a:r>
              <a:rPr/>
              <a:t> carries most of C. B is spread across 94 project teams, but each one is a single line — it batches. A is a handful of central workflow repositories.</a:t>
            </a:r>
          </a:p>
          <a:p>
            <a:pPr lvl="0" indent="0" marL="0">
              <a:buNone/>
            </a:pPr>
          </a:p>
          <a:p>
            <a:pPr lvl="0" indent="0" marL="0">
              <a:buNone/>
            </a:pPr>
            <a:r>
              <a:rPr b="1"/>
              <a:t>Every name behind every number is in the appendix</a:t>
            </a:r>
            <a:r>
              <a:rPr/>
              <a:t>, organized by problem, generated from the scan data rather than typed. If anyone wants their own repository’s status, it is in there.</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 is what makes C permanent rather than a setting somebody can quietly undo later. We already own this capability and are barely using it.</a:t>
            </a:r>
          </a:p>
          <a:p>
            <a:pPr lvl="0" indent="0" marL="0">
              <a:buNone/>
            </a:pPr>
          </a:p>
          <a:p>
            <a:pPr lvl="0" indent="0" marL="0">
              <a:buNone/>
            </a:pPr>
            <a:r>
              <a:rPr/>
              <a:t>Neither of these is a purchase. Both are configuration of things already licensed.</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strongest slide in the deck for anyone worried about cost. We are not proposing to build something. It exists, it is connected, and one category of software already flows through it successfully.</a:t>
            </a:r>
          </a:p>
          <a:p>
            <a:pPr lvl="0" indent="0" marL="0">
              <a:buNone/>
            </a:pPr>
          </a:p>
          <a:p>
            <a:pPr lvl="0" indent="0" marL="0">
              <a:buNone/>
            </a:pPr>
            <a:r>
              <a:rPr b="1"/>
              <a:t>The feeds, if asked:</a:t>
            </a:r>
            <a:r>
              <a:rPr/>
              <a:t> five of them, across two Azure DevOps organizations — </a:t>
            </a:r>
            <a:r>
              <a:rPr>
                <a:latin typeface="Courier"/>
              </a:rPr>
              <a:t>sn-tim</a:t>
            </a:r>
            <a:r>
              <a:rPr/>
              <a:t>, </a:t>
            </a:r>
            <a:r>
              <a:rPr>
                <a:latin typeface="Courier"/>
              </a:rPr>
              <a:t>sn-tim-packages</a:t>
            </a:r>
            <a:r>
              <a:rPr/>
              <a:t>, </a:t>
            </a:r>
            <a:r>
              <a:rPr>
                <a:latin typeface="Courier"/>
              </a:rPr>
              <a:t>sn-tim-invision-packages</a:t>
            </a:r>
            <a:r>
              <a:rPr/>
              <a:t>, </a:t>
            </a:r>
            <a:r>
              <a:rPr>
                <a:latin typeface="Courier"/>
              </a:rPr>
              <a:t>SleepNumberIndigo</a:t>
            </a:r>
            <a:r>
              <a:rPr/>
              <a:t>, and </a:t>
            </a:r>
            <a:r>
              <a:rPr>
                <a:latin typeface="Courier"/>
              </a:rPr>
              <a:t>k8s-manifests</a:t>
            </a:r>
            <a:r>
              <a:rPr/>
              <a:t>. Three already have the connection to the public catalog configured and unused.</a:t>
            </a:r>
          </a:p>
          <a:p>
            <a:pPr lvl="0" indent="0" marL="0">
              <a:buNone/>
            </a:pPr>
          </a:p>
          <a:p>
            <a:pPr lvl="0" indent="0" marL="0">
              <a:buNone/>
            </a:pPr>
            <a:r>
              <a:rPr b="1"/>
              <a:t>One caveat to state rather than skip:</a:t>
            </a:r>
            <a:r>
              <a:rPr/>
              <a:t> we could not read </a:t>
            </a:r>
            <a:r>
              <a:rPr>
                <a:latin typeface="Courier"/>
              </a:rPr>
              <a:t>k8s-manifests</a:t>
            </a:r>
            <a:r>
              <a:rPr/>
              <a:t> — we lack the permission. A request naming exactly what is needed is filed. So the zero on this slide covers four feeds of five, not five of five. Appendix, “Fix E”.</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Around 95% withdrawn. Make a version sit unused for a few days and most of these are gone before we could ever have touched them.</a:t>
            </a:r>
          </a:p>
          <a:p>
            <a:pPr lvl="0" indent="0" marL="0">
              <a:buNone/>
            </a:pPr>
          </a:p>
          <a:p>
            <a:pPr lvl="0" indent="0" marL="0">
              <a:buNone/>
            </a:pPr>
            <a:r>
              <a:rPr/>
              <a:t>The remaining 111 are exactly why we need the block list as well as the delay. Do not oversell the waiting period as a complete answer.</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Include this slide. Do not cut it for time.</a:t>
            </a:r>
          </a:p>
          <a:p>
            <a:pPr lvl="0" indent="0" marL="0">
              <a:buNone/>
            </a:pPr>
          </a:p>
          <a:p>
            <a:pPr lvl="0" indent="0" marL="0">
              <a:buNone/>
            </a:pPr>
            <a:r>
              <a:rPr/>
              <a:t>A briefing that overstates its confidence is worth less than one that does not, and this audience has no way to catch us at it. Saying where we could not look is what makes the rest credible.</a:t>
            </a:r>
          </a:p>
          <a:p>
            <a:pPr lvl="0" indent="0" marL="0">
              <a:buNone/>
            </a:pPr>
          </a:p>
          <a:p>
            <a:pPr lvl="0" indent="0" marL="0">
              <a:buNone/>
            </a:pPr>
            <a:r>
              <a:rPr/>
              <a:t>Most real victims of these campaigns were hit on a developer’s own laptop, not a build server. Our visibility there is thinner.</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If you get five minutes instead of thirty, this is the slide. Open on it, and take questions.</a:t>
            </a:r>
          </a:p>
          <a:p>
            <a:pPr lvl="0" indent="0" marL="0">
              <a:buNone/>
            </a:pPr>
          </a:p>
          <a:p>
            <a:pPr lvl="0" indent="0" marL="0">
              <a:buNone/>
            </a:pPr>
            <a:r>
              <a:rPr/>
              <a:t>The three: we run supplier code on sight, we hand over every key instead of one, and nine processes call an address anyone inside could claim.</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3.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4.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Software Supply Chain</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What we found, what it would cost, and what we would do</a:t>
            </a:r>
          </a:p>
        </p:txBody>
      </p:sp>
      <p:sp>
        <p:nvSpPr>
          <p:cNvPr id="4" name="Date Placeholder 3"/>
          <p:cNvSpPr>
            <a:spLocks noGrp="1"/>
          </p:cNvSpPr>
          <p:nvPr>
            <p:ph idx="10" sz="half" type="dt"/>
          </p:nvPr>
        </p:nvSpPr>
        <p:spPr/>
        <p:txBody>
          <a:bodyPr/>
          <a:lstStyle/>
          <a:p>
            <a:pPr lvl="0" indent="0" marL="0">
              <a:buNone/>
            </a:pPr>
            <a:r>
              <a:rPr/>
              <a:t>11 August 2026 · Internal</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Before anything else</a:t>
            </a:r>
          </a:p>
        </p:txBody>
      </p:sp>
      <p:sp>
        <p:nvSpPr>
          <p:cNvPr id="3" name="Content Placeholder 2"/>
          <p:cNvSpPr>
            <a:spLocks noGrp="1"/>
          </p:cNvSpPr>
          <p:nvPr>
            <p:ph idx="1"/>
          </p:nvPr>
        </p:nvSpPr>
        <p:spPr/>
        <p:txBody>
          <a:bodyPr/>
          <a:lstStyle/>
          <a:p>
            <a:pPr lvl="0" indent="0" marL="0">
              <a:buNone/>
            </a:pPr>
            <a:r>
              <a:rPr b="1"/>
              <a:t>Nothing has happened to us.</a:t>
            </a:r>
          </a:p>
          <a:p>
            <a:pPr lvl="0"/>
            <a:r>
              <a:rPr/>
              <a:t>We went looking for evidence of an attack</a:t>
            </a:r>
          </a:p>
          <a:p>
            <a:pPr lvl="0"/>
            <a:r>
              <a:rPr/>
              <a:t>We did not find any</a:t>
            </a:r>
          </a:p>
          <a:p>
            <a:pPr lvl="0"/>
            <a:r>
              <a:rPr/>
              <a:t>This is about the doors, not a burglary</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How software actually gets built</a:t>
            </a:r>
          </a:p>
        </p:txBody>
      </p:sp>
      <p:sp>
        <p:nvSpPr>
          <p:cNvPr id="3" name="Content Placeholder 2"/>
          <p:cNvSpPr>
            <a:spLocks noGrp="1"/>
          </p:cNvSpPr>
          <p:nvPr>
            <p:ph idx="1"/>
          </p:nvPr>
        </p:nvSpPr>
        <p:spPr/>
        <p:txBody>
          <a:bodyPr/>
          <a:lstStyle/>
          <a:p>
            <a:pPr lvl="0" indent="0" marL="0">
              <a:buNone/>
            </a:pPr>
            <a:r>
              <a:rPr/>
              <a:t>We do not write it all ourselves.</a:t>
            </a:r>
          </a:p>
          <a:p>
            <a:pPr lvl="0"/>
            <a:r>
              <a:rPr/>
              <a:t>Products are </a:t>
            </a:r>
            <a:r>
              <a:rPr b="1"/>
              <a:t>assembled</a:t>
            </a:r>
            <a:r>
              <a:rPr/>
              <a:t> from thousands of free components</a:t>
            </a:r>
          </a:p>
          <a:p>
            <a:pPr lvl="0"/>
            <a:r>
              <a:rPr/>
              <a:t>Published by strangers, downloaded automatically</a:t>
            </a:r>
          </a:p>
          <a:p>
            <a:pPr lvl="0"/>
            <a:r>
              <a:rPr/>
              <a:t>Like buying screws and motors instead of making them</a:t>
            </a:r>
          </a:p>
          <a:p>
            <a:pPr lvl="0" indent="0" marL="0">
              <a:buNone/>
            </a:pPr>
            <a:r>
              <a:rPr/>
              <a:t>This is normal. It is how the whole industry works.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…which is why attackers now aim there</a:t>
            </a:r>
          </a:p>
        </p:txBody>
      </p:sp>
      <p:sp>
        <p:nvSpPr>
          <p:cNvPr id="3" name="Content Placeholder 2"/>
          <p:cNvSpPr>
            <a:spLocks noGrp="1"/>
          </p:cNvSpPr>
          <p:nvPr>
            <p:ph idx="1"/>
          </p:nvPr>
        </p:nvSpPr>
        <p:spPr/>
        <p:txBody>
          <a:bodyPr/>
          <a:lstStyle/>
          <a:p>
            <a:pPr lvl="0" indent="-342900" marL="342900">
              <a:buAutoNum type="arabicPeriod"/>
            </a:pPr>
            <a:r>
              <a:rPr/>
              <a:t>Take over the account of someone who publishes a popular component</a:t>
            </a:r>
          </a:p>
          <a:p>
            <a:pPr lvl="0" indent="-342900" marL="342900">
              <a:buAutoNum type="arabicPeriod"/>
            </a:pPr>
            <a:r>
              <a:rPr/>
              <a:t>Publish a new version with hostile code inside</a:t>
            </a:r>
          </a:p>
          <a:p>
            <a:pPr lvl="0" indent="-342900" marL="342900">
              <a:buAutoNum type="arabicPeriod"/>
            </a:pPr>
            <a:r>
              <a:rPr/>
              <a:t>Every company that builds software that week picks it up</a:t>
            </a:r>
          </a:p>
          <a:p>
            <a:pPr lvl="0" indent="0" marL="0">
              <a:buNone/>
            </a:pPr>
            <a:r>
              <a:rPr b="1"/>
              <a:t>Nobody clicked anything. Nobody made a mistake.</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Five problems, one chain</a:t>
            </a:r>
          </a:p>
        </p:txBody>
      </p:sp>
      <p:sp>
        <p:nvSpPr>
          <p:cNvPr id="3" name="Content Placeholder 2"/>
          <p:cNvSpPr>
            <a:spLocks noGrp="1"/>
          </p:cNvSpPr>
          <p:nvPr>
            <p:ph idx="1"/>
          </p:nvPr>
        </p:nvSpPr>
        <p:spPr/>
        <p:txBody>
          <a:bodyPr/>
          <a:lstStyle/>
          <a:p>
            <a:pPr lvl="0"/>
            <a:r>
              <a:rPr/>
              <a:t>We </a:t>
            </a:r>
            <a:r>
              <a:rPr b="1"/>
              <a:t>run</a:t>
            </a:r>
            <a:r>
              <a:rPr/>
              <a:t> what suppliers send us, unread</a:t>
            </a:r>
          </a:p>
          <a:p>
            <a:pPr lvl="0"/>
            <a:r>
              <a:rPr/>
              <a:t>We hand our build systems </a:t>
            </a:r>
            <a:r>
              <a:rPr b="1"/>
              <a:t>every key we own</a:t>
            </a:r>
          </a:p>
          <a:p>
            <a:pPr lvl="0"/>
            <a:r>
              <a:rPr/>
              <a:t>Nine of our processes call an </a:t>
            </a:r>
            <a:r>
              <a:rPr b="1"/>
              <a:t>address anyone can claim</a:t>
            </a:r>
          </a:p>
          <a:p>
            <a:pPr lvl="0"/>
            <a:r>
              <a:rPr/>
              <a:t>We track </a:t>
            </a:r>
            <a:r>
              <a:rPr b="1"/>
              <a:t>moving targets</a:t>
            </a:r>
            <a:r>
              <a:rPr/>
              <a:t> instead of fixed ones</a:t>
            </a:r>
          </a:p>
          <a:p>
            <a:pPr lvl="0"/>
            <a:r>
              <a:rPr/>
              <a:t>Keys </a:t>
            </a:r>
            <a:r>
              <a:rPr b="1"/>
              <a:t>never expire</a:t>
            </a:r>
            <a:r>
              <a:rPr/>
              <a:t>, and there is no one place to say no</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1. We hand over the whole keyring</a:t>
            </a:r>
          </a:p>
        </p:txBody>
      </p:sp>
      <p:sp>
        <p:nvSpPr>
          <p:cNvPr id="4" name="Text Placeholder 3"/>
          <p:cNvSpPr>
            <a:spLocks noGrp="1"/>
          </p:cNvSpPr>
          <p:nvPr>
            <p:ph idx="2" sz="half" type="body"/>
          </p:nvPr>
        </p:nvSpPr>
        <p:spPr/>
        <p:txBody>
          <a:bodyPr/>
          <a:lstStyle/>
          <a:p>
            <a:pPr lvl="0" indent="0" marL="0">
              <a:buNone/>
            </a:pPr>
            <a:r>
              <a:rPr/>
              <a:t>A contractor comes to fix the supply closet. We give them the master key to </a:t>
            </a:r>
            <a:r>
              <a:rPr b="1"/>
              <a:t>every door in the building.</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0" bandRow="1">
                <a:tableStyleId>{5C22544A-7EE6-4342-B048-85BDC9FD1C3A}</a:tableStyleId>
              </a:tblPr>
              <a:tblGrid>
                <a:gridCol w="2552700"/>
                <a:gridCol w="2552700"/>
              </a:tblGrid>
              <a:tr h="0">
                <a:tc>
                  <a:txBody>
                    <a:bodyPr/>
                    <a:lstStyle/>
                    <a:p>
                      <a:pPr lvl="0" indent="0" marL="0">
                        <a:buNone/>
                      </a:pPr>
                      <a:r>
                        <a:rPr/>
                        <a:t>Places this happens</a:t>
                      </a:r>
                    </a:p>
                  </a:txBody>
                </a:tc>
                <a:tc>
                  <a:txBody>
                    <a:bodyPr/>
                    <a:lstStyle/>
                    <a:p>
                      <a:pPr lvl="0" indent="0" marL="0">
                        <a:buNone/>
                      </a:pPr>
                      <a:r>
                        <a:rPr b="1"/>
                        <a:t>3,506</a:t>
                      </a:r>
                    </a:p>
                  </a:txBody>
                </a:tc>
              </a:tr>
              <a:tr h="0">
                <a:tc>
                  <a:txBody>
                    <a:bodyPr/>
                    <a:lstStyle/>
                    <a:p>
                      <a:pPr lvl="0" indent="0" marL="0">
                        <a:buNone/>
                      </a:pPr>
                      <a:r>
                        <a:rPr/>
                        <a:t>Shared components responsible</a:t>
                      </a:r>
                    </a:p>
                  </a:txBody>
                </a:tc>
                <a:tc>
                  <a:txBody>
                    <a:bodyPr/>
                    <a:lstStyle/>
                    <a:p>
                      <a:pPr lvl="0" indent="0" marL="0">
                        <a:buNone/>
                      </a:pPr>
                      <a:r>
                        <a:rPr b="1"/>
                        <a:t>18</a:t>
                      </a:r>
                    </a:p>
                  </a:txBody>
                </a:tc>
              </a:tr>
              <a:tr h="0">
                <a:tc>
                  <a:txBody>
                    <a:bodyPr/>
                    <a:lstStyle/>
                    <a:p>
                      <a:pPr lvl="0" indent="0" marL="0">
                        <a:buNone/>
                      </a:pPr>
                      <a:r>
                        <a:rPr/>
                        <a:t>Through one single component</a:t>
                      </a:r>
                    </a:p>
                  </a:txBody>
                </a:tc>
                <a:tc>
                  <a:txBody>
                    <a:bodyPr/>
                    <a:lstStyle/>
                    <a:p>
                      <a:pPr lvl="0" indent="0" marL="0">
                        <a:buNone/>
                      </a:pPr>
                      <a:r>
                        <a:rPr b="1"/>
                        <a:t>1,904</a:t>
                      </a:r>
                    </a:p>
                  </a:txBody>
                </a:tc>
              </a:tr>
              <a:tr h="0">
                <a:tc>
                  <a:txBody>
                    <a:bodyPr/>
                    <a:lstStyle/>
                    <a:p>
                      <a:pPr lvl="0" indent="0" marL="0">
                        <a:buNone/>
                      </a:pPr>
                      <a:r>
                        <a:rPr/>
                        <a:t>Projects reached, that deploy to production</a:t>
                      </a:r>
                    </a:p>
                  </a:txBody>
                </a:tc>
                <a:tc>
                  <a:txBody>
                    <a:bodyPr/>
                    <a:lstStyle/>
                    <a:p>
                      <a:pPr lvl="0" indent="0" marL="0">
                        <a:buNone/>
                      </a:pPr>
                      <a:r>
                        <a:rPr b="1"/>
                        <a:t>37</a:t>
                      </a:r>
                    </a:p>
                  </a:txBody>
                </a:tc>
              </a:tr>
            </a:tbl>
          </a:graphicData>
        </a:graphic>
      </p:graphicFrame>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2. We run supplier code on sight</a:t>
            </a:r>
          </a:p>
        </p:txBody>
      </p:sp>
      <p:sp>
        <p:nvSpPr>
          <p:cNvPr id="3" name="Content Placeholder 2"/>
          <p:cNvSpPr>
            <a:spLocks noGrp="1"/>
          </p:cNvSpPr>
          <p:nvPr>
            <p:ph idx="1"/>
          </p:nvPr>
        </p:nvSpPr>
        <p:spPr/>
        <p:txBody>
          <a:bodyPr/>
          <a:lstStyle/>
          <a:p>
            <a:pPr lvl="0" indent="0" marL="0">
              <a:buNone/>
            </a:pPr>
            <a:r>
              <a:rPr/>
              <a:t>Components arrive with a note attached: </a:t>
            </a:r>
            <a:r>
              <a:rPr i="1"/>
              <a:t>“before you use me, run this.”</a:t>
            </a:r>
          </a:p>
          <a:p>
            <a:pPr lvl="0" indent="0" marL="0">
              <a:buNone/>
            </a:pPr>
            <a:r>
              <a:rPr b="1"/>
              <a:t>We run it. Automatically. Before anyone reads it.</a:t>
            </a:r>
          </a:p>
          <a:p>
            <a:pPr lvl="0"/>
            <a:r>
              <a:rPr b="1"/>
              <a:t>94</a:t>
            </a:r>
            <a:r>
              <a:rPr/>
              <a:t> projects run whatever arrives</a:t>
            </a:r>
          </a:p>
          <a:p>
            <a:pPr lvl="0"/>
            <a:r>
              <a:rPr b="1"/>
              <a:t>5</a:t>
            </a:r>
            <a:r>
              <a:rPr/>
              <a:t> refuse</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3. Nine open doors</a:t>
            </a:r>
          </a:p>
        </p:txBody>
      </p:sp>
      <p:sp>
        <p:nvSpPr>
          <p:cNvPr id="3" name="Content Placeholder 2"/>
          <p:cNvSpPr>
            <a:spLocks noGrp="1"/>
          </p:cNvSpPr>
          <p:nvPr>
            <p:ph idx="1"/>
          </p:nvPr>
        </p:nvSpPr>
        <p:spPr/>
        <p:txBody>
          <a:bodyPr/>
          <a:lstStyle/>
          <a:p>
            <a:pPr lvl="0" indent="0" marL="0">
              <a:buNone/>
            </a:pPr>
            <a:r>
              <a:rPr/>
              <a:t>Nine automated processes are asking for instructions from an address where </a:t>
            </a:r>
            <a:r>
              <a:rPr b="1"/>
              <a:t>nothing lives any more.</a:t>
            </a:r>
          </a:p>
          <a:p>
            <a:pPr lvl="0"/>
            <a:r>
              <a:rPr/>
              <a:t>The address is </a:t>
            </a:r>
            <a:r>
              <a:rPr b="1"/>
              <a:t>vacant, not sealed</a:t>
            </a:r>
          </a:p>
          <a:p>
            <a:pPr lvl="0"/>
            <a:r>
              <a:rPr/>
              <a:t>Anyone inside the company can move in</a:t>
            </a:r>
          </a:p>
          <a:p>
            <a:pPr lvl="0"/>
            <a:r>
              <a:rPr/>
              <a:t>Whatever they supply gets handed the keyring</a:t>
            </a:r>
          </a:p>
          <a:p>
            <a:pPr lvl="0" indent="0" marL="0">
              <a:buNone/>
            </a:pPr>
            <a:r>
              <a:rPr b="1"/>
              <a:t>No outside attacker needed.</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4. We track moving targets</a:t>
            </a:r>
          </a:p>
        </p:txBody>
      </p:sp>
      <p:sp>
        <p:nvSpPr>
          <p:cNvPr id="3" name="Content Placeholder 2"/>
          <p:cNvSpPr>
            <a:spLocks noGrp="1"/>
          </p:cNvSpPr>
          <p:nvPr>
            <p:ph idx="1"/>
          </p:nvPr>
        </p:nvSpPr>
        <p:spPr/>
        <p:txBody>
          <a:bodyPr/>
          <a:lstStyle/>
          <a:p>
            <a:pPr lvl="0" indent="0" marL="0">
              <a:buNone/>
            </a:pPr>
            <a:r>
              <a:rPr/>
              <a:t>We ask for “the current version” rather than “exactly the one we checked.”</a:t>
            </a:r>
          </a:p>
          <a:p>
            <a:pPr lvl="0" indent="0" marL="0">
              <a:buNone/>
            </a:pPr>
            <a:r>
              <a:rPr b="1"/>
              <a:t>Roughly 1 in 10</a:t>
            </a:r>
            <a:r>
              <a:rPr/>
              <a:t> of our references name a fixed version. The other nine can change under us overnight.</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happens if we do not fix it</a:t>
            </a:r>
          </a:p>
        </p:txBody>
      </p:sp>
      <p:sp>
        <p:nvSpPr>
          <p:cNvPr id="3" name="Content Placeholder 2"/>
          <p:cNvSpPr>
            <a:spLocks noGrp="1"/>
          </p:cNvSpPr>
          <p:nvPr>
            <p:ph idx="1"/>
          </p:nvPr>
        </p:nvSpPr>
        <p:spPr/>
        <p:txBody>
          <a:bodyPr/>
          <a:lstStyle/>
          <a:p>
            <a:pPr lvl="0"/>
            <a:r>
              <a:rPr b="1"/>
              <a:t>A second of access becomes every credential we own</a:t>
            </a:r>
          </a:p>
          <a:p>
            <a:pPr lvl="0"/>
            <a:r>
              <a:rPr/>
              <a:t>Cannot prove what was taken → must assume </a:t>
            </a:r>
            <a:r>
              <a:rPr b="1"/>
              <a:t>everything</a:t>
            </a:r>
          </a:p>
          <a:p>
            <a:pPr lvl="0"/>
            <a:r>
              <a:rPr/>
              <a:t>Rotate every key, redeploy, under pressure, work stops</a:t>
            </a:r>
          </a:p>
          <a:p>
            <a:pPr lvl="0"/>
            <a:r>
              <a:rPr/>
              <a:t>Hard to answer </a:t>
            </a:r>
            <a:r>
              <a:rPr i="1"/>
              <a:t>“what did they take, and where did they go?”</a:t>
            </a:r>
          </a:p>
          <a:p>
            <a:pPr lvl="0" indent="0" marL="0">
              <a:buNone/>
            </a:pPr>
            <a:r>
              <a:rPr/>
              <a:t>There is </a:t>
            </a:r>
            <a:r>
              <a:rPr b="1"/>
              <a:t>no small version</a:t>
            </a:r>
            <a:r>
              <a:rPr/>
              <a:t> of this incident.</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Worth doing even if nobody attacks us</a:t>
            </a:r>
          </a:p>
        </p:txBody>
      </p:sp>
      <p:sp>
        <p:nvSpPr>
          <p:cNvPr id="3" name="Content Placeholder 2"/>
          <p:cNvSpPr>
            <a:spLocks noGrp="1"/>
          </p:cNvSpPr>
          <p:nvPr>
            <p:ph idx="1"/>
          </p:nvPr>
        </p:nvSpPr>
        <p:spPr/>
        <p:txBody>
          <a:bodyPr/>
          <a:lstStyle/>
          <a:p>
            <a:pPr lvl="0"/>
            <a:r>
              <a:rPr b="1"/>
              <a:t>Nine broken automations</a:t>
            </a:r>
            <a:r>
              <a:rPr/>
              <a:t> get repaired</a:t>
            </a:r>
          </a:p>
          <a:p>
            <a:pPr lvl="0"/>
            <a:r>
              <a:rPr/>
              <a:t>Builds </a:t>
            </a:r>
            <a:r>
              <a:rPr b="1"/>
              <a:t>stop changing underneath us</a:t>
            </a:r>
            <a:r>
              <a:rPr/>
              <a:t> — fewer mystery failures</a:t>
            </a:r>
          </a:p>
          <a:p>
            <a:pPr lvl="0"/>
            <a:r>
              <a:rPr/>
              <a:t>A real </a:t>
            </a:r>
            <a:r>
              <a:rPr b="1"/>
              <a:t>list of what our software is made of</a:t>
            </a:r>
            <a:r>
              <a:rPr/>
              <a:t> — what auditors ask for</a:t>
            </a:r>
          </a:p>
          <a:p>
            <a:pPr lvl="0"/>
            <a:r>
              <a:rPr b="1"/>
              <a:t>Less exposure to someone else’s outage</a:t>
            </a:r>
          </a:p>
          <a:p>
            <a:pPr lvl="0"/>
            <a:r>
              <a:rPr/>
              <a:t>Incidents get </a:t>
            </a:r>
            <a:r>
              <a:rPr b="1"/>
              <a:t>shorter</a:t>
            </a:r>
            <a:r>
              <a:rPr/>
              <a:t>, because keys expire on their own</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Now — weeks, not quarters, nothing to buy</a:t>
            </a:r>
          </a:p>
        </p:txBody>
      </p:sp>
      <p:sp>
        <p:nvSpPr>
          <p:cNvPr id="3" name="Content Placeholder 2"/>
          <p:cNvSpPr>
            <a:spLocks noGrp="1"/>
          </p:cNvSpPr>
          <p:nvPr>
            <p:ph idx="1"/>
          </p:nvPr>
        </p:nvSpPr>
        <p:spPr/>
        <p:txBody>
          <a:bodyPr/>
          <a:lstStyle/>
          <a:p>
            <a:pPr lvl="0" indent="0" marL="0">
              <a:buNone/>
            </a:pPr>
            <a:r>
              <a:rPr b="1"/>
              <a:t>A. Close the nine open doors</a:t>
            </a:r>
            <a:r>
              <a:rPr/>
              <a:t> — hours Repoint them, and lock the names so nobody can claim them</a:t>
            </a:r>
          </a:p>
          <a:p>
            <a:pPr lvl="0" indent="0" marL="0">
              <a:buNone/>
            </a:pPr>
            <a:r>
              <a:rPr b="1"/>
              <a:t>B. Stop running supplier code on sight</a:t>
            </a:r>
            <a:r>
              <a:rPr/>
              <a:t> — one line per project 94 projects, cheapest protection here</a:t>
            </a:r>
          </a:p>
          <a:p>
            <a:pPr lvl="0" indent="0" marL="0">
              <a:buNone/>
            </a:pPr>
            <a:r>
              <a:rPr b="1"/>
              <a:t>C. Stop handing over the whole keyring</a:t>
            </a:r>
            <a:r>
              <a:rPr/>
              <a:t> — a few weeks A small number of shared components, not thousands of projects</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Next — a quarter each</a:t>
            </a:r>
          </a:p>
        </p:txBody>
      </p:sp>
      <p:sp>
        <p:nvSpPr>
          <p:cNvPr id="3" name="Content Placeholder 2"/>
          <p:cNvSpPr>
            <a:spLocks noGrp="1"/>
          </p:cNvSpPr>
          <p:nvPr>
            <p:ph idx="1"/>
          </p:nvPr>
        </p:nvSpPr>
        <p:spPr/>
        <p:txBody>
          <a:bodyPr/>
          <a:lstStyle/>
          <a:p>
            <a:pPr lvl="0" indent="0" marL="0">
              <a:buNone/>
            </a:pPr>
            <a:r>
              <a:rPr b="1"/>
              <a:t>D. Badges instead of keys</a:t>
            </a:r>
            <a:r>
              <a:rPr/>
              <a:t> Short-lived passes issued per job, expiring in minutes. Nothing durable left to steal.</a:t>
            </a:r>
          </a:p>
          <a:p>
            <a:pPr lvl="0" indent="0" marL="0">
              <a:buNone/>
            </a:pPr>
            <a:r>
              <a:rPr b="1"/>
              <a:t>E. One front door for outside software</a:t>
            </a:r>
            <a:r>
              <a:rPr/>
              <a:t> One place to block a bad component everywhere at once, and a short waiting period before new versions can be used.</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We already own the front door</a:t>
            </a:r>
          </a:p>
        </p:txBody>
      </p:sp>
      <p:sp>
        <p:nvSpPr>
          <p:cNvPr id="4" name="Text Placeholder 3"/>
          <p:cNvSpPr>
            <a:spLocks noGrp="1"/>
          </p:cNvSpPr>
          <p:nvPr>
            <p:ph idx="2" sz="half" type="body"/>
          </p:nvPr>
        </p:nvSpPr>
        <p:spPr/>
        <p:txBody>
          <a:bodyPr/>
          <a:lstStyle/>
          <a:p>
            <a:pPr lvl="0" indent="0" marL="0">
              <a:buNone/>
            </a:pPr>
            <a:r>
              <a:rPr/>
              <a:t>Almost nothing goes through it. </a:t>
            </a:r>
            <a:r>
              <a:rPr b="1"/>
              <a:t>The mechanism is proven inside our own walls</a:t>
            </a:r>
            <a:r>
              <a:rPr/>
              <a:t> — it was simply never pointed at this category of software.</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2552700"/>
                <a:gridCol w="2552700"/>
              </a:tblGrid>
              <a:tr h="0">
                <a:tc>
                  <a:txBody>
                    <a:bodyPr/>
                    <a:lstStyle/>
                    <a:p>
                      <a:pPr lvl="0" indent="0" marL="0">
                        <a:buNone/>
                      </a:pPr>
                      <a:r>
                        <a:rPr/>
                        <a:t>Through our internal supply point</a:t>
                      </a:r>
                    </a:p>
                  </a:txBody>
                  <a:tcPr/>
                </a:tc>
                <a:tc>
                  <a:txBody>
                    <a:bodyPr/>
                    <a:lstStyle/>
                    <a:p>
                      <a:endParaRPr/>
                    </a:p>
                  </a:txBody>
                  <a:tcPr/>
                </a:tc>
              </a:tr>
              <a:tr h="0">
                <a:tc>
                  <a:txBody>
                    <a:bodyPr/>
                    <a:lstStyle/>
                    <a:p>
                      <a:pPr lvl="0" indent="0" marL="0">
                        <a:buNone/>
                      </a:pPr>
                      <a:r>
                        <a:rPr/>
                        <a:t>Microsoft-ecosystem components</a:t>
                      </a:r>
                    </a:p>
                  </a:txBody>
                </a:tc>
                <a:tc>
                  <a:txBody>
                    <a:bodyPr/>
                    <a:lstStyle/>
                    <a:p>
                      <a:pPr lvl="0" indent="0" marL="0">
                        <a:buNone/>
                      </a:pPr>
                      <a:r>
                        <a:rPr b="1"/>
                        <a:t>523</a:t>
                      </a:r>
                    </a:p>
                  </a:txBody>
                </a:tc>
              </a:tr>
              <a:tr h="0">
                <a:tc>
                  <a:txBody>
                    <a:bodyPr/>
                    <a:lstStyle/>
                    <a:p>
                      <a:pPr lvl="0" indent="0" marL="0">
                        <a:buNone/>
                      </a:pPr>
                      <a:r>
                        <a:rPr/>
                        <a:t>The components in question here</a:t>
                      </a:r>
                    </a:p>
                  </a:txBody>
                </a:tc>
                <a:tc>
                  <a:txBody>
                    <a:bodyPr/>
                    <a:lstStyle/>
                    <a:p>
                      <a:pPr lvl="0" indent="0" marL="0">
                        <a:buNone/>
                      </a:pPr>
                      <a:r>
                        <a:rPr b="1"/>
                        <a:t>0</a:t>
                      </a:r>
                    </a:p>
                  </a:txBody>
                </a:tc>
              </a:tr>
            </a:tbl>
          </a:graphicData>
        </a:graphic>
      </p:graphicFrame>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Why a waiting period works</a:t>
            </a:r>
          </a:p>
        </p:txBody>
      </p:sp>
      <p:sp>
        <p:nvSpPr>
          <p:cNvPr id="4" name="Text Placeholder 3"/>
          <p:cNvSpPr>
            <a:spLocks noGrp="1"/>
          </p:cNvSpPr>
          <p:nvPr>
            <p:ph idx="2" sz="half" type="body"/>
          </p:nvPr>
        </p:nvSpPr>
        <p:spPr/>
        <p:txBody>
          <a:bodyPr/>
          <a:lstStyle/>
          <a:p>
            <a:pPr lvl="0" indent="0" marL="0">
              <a:buNone/>
            </a:pPr>
            <a:r>
              <a:rPr/>
              <a:t>The catalog cleans itself up — but only after a few days, and </a:t>
            </a:r>
            <a:r>
              <a:rPr b="1"/>
              <a:t>our builds are fast enough to catch them in that gap.</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2552700"/>
                <a:gridCol w="2552700"/>
              </a:tblGrid>
              <a:tr h="0">
                <a:tc>
                  <a:txBody>
                    <a:bodyPr/>
                    <a:lstStyle/>
                    <a:p>
                      <a:pPr lvl="0" indent="0" marL="0">
                        <a:buNone/>
                      </a:pPr>
                      <a:r>
                        <a:rPr/>
                        <a:t>Bad versions published in this campaign</a:t>
                      </a:r>
                    </a:p>
                  </a:txBody>
                  <a:tcPr/>
                </a:tc>
                <a:tc>
                  <a:txBody>
                    <a:bodyPr/>
                    <a:lstStyle/>
                    <a:p>
                      <a:pPr lvl="0" indent="0" marL="0">
                        <a:buNone/>
                      </a:pPr>
                      <a:r>
                        <a:rPr b="1"/>
                        <a:t>2,208</a:t>
                      </a:r>
                    </a:p>
                  </a:txBody>
                  <a:tcPr/>
                </a:tc>
              </a:tr>
              <a:tr h="0">
                <a:tc>
                  <a:txBody>
                    <a:bodyPr/>
                    <a:lstStyle/>
                    <a:p>
                      <a:pPr lvl="0" indent="0" marL="0">
                        <a:buNone/>
                      </a:pPr>
                      <a:r>
                        <a:rPr/>
                        <a:t>Already pulled from the catalog when we checked</a:t>
                      </a:r>
                    </a:p>
                  </a:txBody>
                </a:tc>
                <a:tc>
                  <a:txBody>
                    <a:bodyPr/>
                    <a:lstStyle/>
                    <a:p>
                      <a:pPr lvl="0" indent="0" marL="0">
                        <a:buNone/>
                      </a:pPr>
                      <a:r>
                        <a:rPr b="1"/>
                        <a:t>2,097</a:t>
                      </a:r>
                    </a:p>
                  </a:txBody>
                </a:tc>
              </a:tr>
              <a:tr h="0">
                <a:tc>
                  <a:txBody>
                    <a:bodyPr/>
                    <a:lstStyle/>
                    <a:p>
                      <a:pPr lvl="0" indent="0" marL="0">
                        <a:buNone/>
                      </a:pPr>
                      <a:r>
                        <a:rPr/>
                        <a:t>Still out there</a:t>
                      </a:r>
                    </a:p>
                  </a:txBody>
                </a:tc>
                <a:tc>
                  <a:txBody>
                    <a:bodyPr/>
                    <a:lstStyle/>
                    <a:p>
                      <a:pPr lvl="0" indent="0" marL="0">
                        <a:buNone/>
                      </a:pPr>
                      <a:r>
                        <a:rPr b="1"/>
                        <a:t>111</a:t>
                      </a:r>
                    </a:p>
                  </a:txBody>
                </a:tc>
              </a:tr>
            </a:tbl>
          </a:graphicData>
        </a:graphic>
      </p:graphicFrame>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we are not claiming</a:t>
            </a:r>
          </a:p>
        </p:txBody>
      </p:sp>
      <p:sp>
        <p:nvSpPr>
          <p:cNvPr id="3" name="Content Placeholder 2"/>
          <p:cNvSpPr>
            <a:spLocks noGrp="1"/>
          </p:cNvSpPr>
          <p:nvPr>
            <p:ph idx="1"/>
          </p:nvPr>
        </p:nvSpPr>
        <p:spPr/>
        <p:txBody>
          <a:bodyPr/>
          <a:lstStyle/>
          <a:p>
            <a:pPr lvl="0"/>
            <a:r>
              <a:rPr/>
              <a:t>We did </a:t>
            </a:r>
            <a:r>
              <a:rPr b="1"/>
              <a:t>not</a:t>
            </a:r>
            <a:r>
              <a:rPr/>
              <a:t> check everything — </a:t>
            </a:r>
            <a:r>
              <a:rPr b="1"/>
              <a:t>193</a:t>
            </a:r>
            <a:r>
              <a:rPr/>
              <a:t> projects unread</a:t>
            </a:r>
          </a:p>
          <a:p>
            <a:pPr lvl="0"/>
            <a:r>
              <a:rPr b="1"/>
              <a:t>Not checked is not the same as clean</a:t>
            </a:r>
          </a:p>
          <a:p>
            <a:pPr lvl="0"/>
            <a:r>
              <a:rPr/>
              <a:t>Personal laptops are largely </a:t>
            </a:r>
            <a:r>
              <a:rPr b="1"/>
              <a:t>outside</a:t>
            </a:r>
            <a:r>
              <a:rPr/>
              <a:t> this</a:t>
            </a:r>
          </a:p>
          <a:p>
            <a:pPr lvl="0"/>
            <a:r>
              <a:rPr/>
              <a:t>One internal supply point we </a:t>
            </a:r>
            <a:r>
              <a:rPr b="1"/>
              <a:t>could not read</a:t>
            </a:r>
          </a:p>
          <a:p>
            <a:pPr lvl="0" indent="0" marL="0">
              <a:buNone/>
            </a:pPr>
            <a:r>
              <a:rPr b="1"/>
              <a:t>“No evidence of a break-in” is not “no break-in.”</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 one minute</a:t>
            </a:r>
          </a:p>
        </p:txBody>
      </p:sp>
      <p:sp>
        <p:nvSpPr>
          <p:cNvPr id="3" name="Content Placeholder 2"/>
          <p:cNvSpPr>
            <a:spLocks noGrp="1"/>
          </p:cNvSpPr>
          <p:nvPr>
            <p:ph idx="1"/>
          </p:nvPr>
        </p:nvSpPr>
        <p:spPr/>
        <p:txBody>
          <a:bodyPr/>
          <a:lstStyle/>
          <a:p>
            <a:pPr lvl="0" indent="0" marL="0">
              <a:buNone/>
            </a:pPr>
            <a:r>
              <a:rPr/>
              <a:t>We build our products partly from free components downloaded automatically from the internet. Attackers have started poisoning those at the source, and it is working across the industry.</a:t>
            </a:r>
          </a:p>
          <a:p>
            <a:pPr lvl="0" indent="0" marL="0">
              <a:buNone/>
            </a:pPr>
            <a:r>
              <a:rPr b="1"/>
              <a:t>We checked. It has not reached us.</a:t>
            </a:r>
          </a:p>
          <a:p>
            <a:pPr lvl="0" indent="0" marL="0">
              <a:buNone/>
            </a:pPr>
            <a:r>
              <a:rPr/>
              <a:t>If it did, three things would turn a small event into a large one — and all three cost </a:t>
            </a:r>
            <a:r>
              <a:rPr b="1"/>
              <a:t>weeks, not quarters</a:t>
            </a:r>
            <a:r>
              <a:rPr/>
              <a:t>, with </a:t>
            </a:r>
            <a:r>
              <a:rPr b="1"/>
              <a:t>nothing to purchase.</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Appendix — the specific names</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How to read this appendix</a:t>
            </a:r>
          </a:p>
        </p:txBody>
      </p:sp>
      <p:sp>
        <p:nvSpPr>
          <p:cNvPr id="3" name="Content Placeholder 2"/>
          <p:cNvSpPr>
            <a:spLocks noGrp="1"/>
          </p:cNvSpPr>
          <p:nvPr>
            <p:ph idx="1"/>
          </p:nvPr>
        </p:nvSpPr>
        <p:spPr/>
        <p:txBody>
          <a:bodyPr/>
          <a:lstStyle/>
          <a:p>
            <a:pPr lvl="0" indent="0" marL="0">
              <a:buNone/>
            </a:pPr>
            <a:r>
              <a:rPr/>
              <a:t>The briefing deliberately uses counts rather than names — the names crowd out the argument for a reader who does not own any of these repositories.</a:t>
            </a:r>
          </a:p>
          <a:p>
            <a:pPr lvl="0" indent="0" marL="0">
              <a:buNone/>
            </a:pPr>
            <a:r>
              <a:rPr/>
              <a:t>This appendix is the other half: </a:t>
            </a:r>
            <a:r>
              <a:rPr b="1"/>
              <a:t>every count in the briefing, resolved to the things a team would actually open and change.</a:t>
            </a:r>
            <a:r>
              <a:rPr/>
              <a:t> It is generated from the same collector artifacts the technical report reads, not typed by hand, so it cannot drift from them.</a:t>
            </a:r>
          </a:p>
          <a:p>
            <a:pPr lvl="0" indent="0" marL="0">
              <a:buNone/>
            </a:pPr>
            <a:r>
              <a:rPr/>
              <a:t>Anything listed here is something we read directly. Where a population could not be read at all, it is named at the end as a gap rather than left out.</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Problem 1a — build components handed the whole keyring</a:t>
            </a:r>
          </a:p>
        </p:txBody>
      </p:sp>
      <p:sp>
        <p:nvSpPr>
          <p:cNvPr id="4" name="Text Placeholder 3"/>
          <p:cNvSpPr>
            <a:spLocks noGrp="1"/>
          </p:cNvSpPr>
          <p:nvPr>
            <p:ph idx="2" sz="half" type="body"/>
          </p:nvPr>
        </p:nvSpPr>
        <p:spPr/>
        <p:txBody>
          <a:bodyPr/>
          <a:lstStyle/>
          <a:p>
            <a:pPr lvl="0" indent="0" marL="0">
              <a:buNone/>
            </a:pPr>
            <a:r>
              <a:rPr b="1"/>
              <a:t>5</a:t>
            </a:r>
            <a:r>
              <a:rPr/>
              <a:t> components are passed </a:t>
            </a:r>
            <a:r>
              <a:rPr>
                <a:latin typeface="Courier"/>
              </a:rPr>
              <a:t>toJSON(secrets)</a:t>
            </a:r>
            <a:r>
              <a:rPr/>
              <a:t> — the complete secrets object — across </a:t>
            </a:r>
            <a:r>
              <a:rPr b="1"/>
              <a:t>1,929</a:t>
            </a:r>
            <a:r>
              <a:rPr/>
              <a:t> pipeline references. </a:t>
            </a:r>
            <a:r>
              <a:rPr b="1"/>
              <a:t>4</a:t>
            </a:r>
            <a:r>
              <a:rPr/>
              <a:t> of them are tracked by a moving name rather than an exact version, covering </a:t>
            </a:r>
            <a:r>
              <a:rPr b="1"/>
              <a:t>1,924</a:t>
            </a:r>
            <a:r>
              <a:rPr/>
              <a:t> of those references. The one pinned to a long commit reference is safer against tampering but still receives everything.</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016000"/>
                <a:gridCol w="1358900"/>
                <a:gridCol w="1358900"/>
                <a:gridCol w="1358900"/>
              </a:tblGrid>
              <a:tr h="0">
                <a:tc>
                  <a:txBody>
                    <a:bodyPr/>
                    <a:lstStyle/>
                    <a:p>
                      <a:pPr lvl="0" indent="0" marL="0">
                        <a:buNone/>
                      </a:pPr>
                      <a:r>
                        <a:rPr/>
                        <a:t>Build component handed every secret</a:t>
                      </a:r>
                    </a:p>
                  </a:txBody>
                  <a:tcPr/>
                </a:tc>
                <a:tc>
                  <a:txBody>
                    <a:bodyPr/>
                    <a:lstStyle/>
                    <a:p>
                      <a:pPr lvl="0" indent="0" marL="0" algn="r">
                        <a:buNone/>
                      </a:pPr>
                      <a:r>
                        <a:rPr/>
                        <a:t>Pipeline refs</a:t>
                      </a:r>
                    </a:p>
                  </a:txBody>
                  <a:tcPr/>
                </a:tc>
                <a:tc>
                  <a:txBody>
                    <a:bodyPr/>
                    <a:lstStyle/>
                    <a:p>
                      <a:pPr lvl="0" indent="0" marL="0" algn="r">
                        <a:buNone/>
                      </a:pPr>
                      <a:r>
                        <a:rPr/>
                        <a:t>Shared workflows</a:t>
                      </a:r>
                    </a:p>
                  </a:txBody>
                  <a:tcPr/>
                </a:tc>
                <a:tc>
                  <a:txBody>
                    <a:bodyPr/>
                    <a:lstStyle/>
                    <a:p>
                      <a:pPr lvl="0" indent="0" marL="0" algn="r">
                        <a:buNone/>
                      </a:pPr>
                      <a:r>
                        <a:rPr/>
                        <a:t>Deploys</a:t>
                      </a:r>
                    </a:p>
                  </a:txBody>
                  <a:tcPr/>
                </a:tc>
              </a:tr>
              <a:tr h="0">
                <a:tc>
                  <a:txBody>
                    <a:bodyPr/>
                    <a:lstStyle/>
                    <a:p>
                      <a:pPr lvl="0" indent="0" marL="0">
                        <a:buNone/>
                      </a:pPr>
                      <a:r>
                        <a:rPr>
                          <a:latin typeface="Courier"/>
                        </a:rPr>
                        <a:t>terraform-setup-composite-action@v2</a:t>
                      </a:r>
                    </a:p>
                  </a:txBody>
                </a:tc>
                <a:tc>
                  <a:txBody>
                    <a:bodyPr/>
                    <a:lstStyle/>
                    <a:p>
                      <a:pPr lvl="0" indent="0" marL="0" algn="r">
                        <a:buNone/>
                      </a:pPr>
                      <a:r>
                        <a:rPr b="1"/>
                        <a:t>1,904</a:t>
                      </a:r>
                    </a:p>
                  </a:txBody>
                </a:tc>
                <a:tc>
                  <a:txBody>
                    <a:bodyPr/>
                    <a:lstStyle/>
                    <a:p>
                      <a:pPr lvl="0" indent="0" marL="0" algn="r">
                        <a:buNone/>
                      </a:pPr>
                      <a:r>
                        <a:rPr/>
                        <a:t>40</a:t>
                      </a:r>
                    </a:p>
                  </a:txBody>
                </a:tc>
                <a:tc>
                  <a:txBody>
                    <a:bodyPr/>
                    <a:lstStyle/>
                    <a:p>
                      <a:pPr lvl="0" indent="0" marL="0" algn="r">
                        <a:buNone/>
                      </a:pPr>
                      <a:r>
                        <a:rPr/>
                        <a:t>yes</a:t>
                      </a:r>
                    </a:p>
                  </a:txBody>
                </a:tc>
              </a:tr>
              <a:tr h="0">
                <a:tc>
                  <a:txBody>
                    <a:bodyPr/>
                    <a:lstStyle/>
                    <a:p>
                      <a:pPr lvl="0" indent="0" marL="0">
                        <a:buNone/>
                      </a:pPr>
                      <a:r>
                        <a:rPr>
                          <a:latin typeface="Courier"/>
                        </a:rPr>
                        <a:t>terraform-setup-composite-action@v1</a:t>
                      </a:r>
                    </a:p>
                  </a:txBody>
                </a:tc>
                <a:tc>
                  <a:txBody>
                    <a:bodyPr/>
                    <a:lstStyle/>
                    <a:p>
                      <a:pPr lvl="0" indent="0" marL="0" algn="r">
                        <a:buNone/>
                      </a:pPr>
                      <a:r>
                        <a:rPr b="1"/>
                        <a:t>18</a:t>
                      </a:r>
                    </a:p>
                  </a:txBody>
                </a:tc>
                <a:tc>
                  <a:txBody>
                    <a:bodyPr/>
                    <a:lstStyle/>
                    <a:p>
                      <a:pPr lvl="0" indent="0" marL="0" algn="r">
                        <a:buNone/>
                      </a:pPr>
                      <a:r>
                        <a:rPr/>
                        <a:t>8</a:t>
                      </a:r>
                    </a:p>
                  </a:txBody>
                </a:tc>
                <a:tc>
                  <a:txBody>
                    <a:bodyPr/>
                    <a:lstStyle/>
                    <a:p>
                      <a:pPr lvl="0" indent="0" marL="0" algn="r">
                        <a:buNone/>
                      </a:pPr>
                      <a:r>
                        <a:rPr/>
                        <a:t>yes</a:t>
                      </a:r>
                    </a:p>
                  </a:txBody>
                </a:tc>
              </a:tr>
              <a:tr h="0">
                <a:tc>
                  <a:txBody>
                    <a:bodyPr/>
                    <a:lstStyle/>
                    <a:p>
                      <a:pPr lvl="0" indent="0" marL="0">
                        <a:buNone/>
                      </a:pPr>
                      <a:r>
                        <a:rPr>
                          <a:latin typeface="Courier"/>
                        </a:rPr>
                        <a:t>Firenza/secrets-to-env@7da604dcd013382fa0b2c9b6aeb33400f10bf322</a:t>
                      </a:r>
                    </a:p>
                  </a:txBody>
                </a:tc>
                <a:tc>
                  <a:txBody>
                    <a:bodyPr/>
                    <a:lstStyle/>
                    <a:p>
                      <a:pPr lvl="0" indent="0" marL="0" algn="r">
                        <a:buNone/>
                      </a:pPr>
                      <a:r>
                        <a:rPr b="1"/>
                        <a:t>5</a:t>
                      </a:r>
                    </a:p>
                  </a:txBody>
                </a:tc>
                <a:tc>
                  <a:txBody>
                    <a:bodyPr/>
                    <a:lstStyle/>
                    <a:p>
                      <a:pPr lvl="0" indent="0" marL="0" algn="r">
                        <a:buNone/>
                      </a:pPr>
                      <a:r>
                        <a:rPr/>
                        <a:t>1</a:t>
                      </a:r>
                    </a:p>
                  </a:txBody>
                </a:tc>
                <a:tc>
                  <a:txBody>
                    <a:bodyPr/>
                    <a:lstStyle/>
                    <a:p>
                      <a:pPr lvl="0" indent="0" marL="0" algn="r">
                        <a:buNone/>
                      </a:pPr>
                      <a:r>
                        <a:rPr/>
                        <a:t>—</a:t>
                      </a:r>
                    </a:p>
                  </a:txBody>
                </a:tc>
              </a:tr>
              <a:tr h="0">
                <a:tc>
                  <a:txBody>
                    <a:bodyPr/>
                    <a:lstStyle/>
                    <a:p>
                      <a:pPr lvl="0" indent="0" marL="0">
                        <a:buNone/>
                      </a:pPr>
                      <a:r>
                        <a:rPr>
                          <a:latin typeface="Courier"/>
                        </a:rPr>
                        <a:t>Firenza/secrets-to-env@v1.3.0</a:t>
                      </a:r>
                    </a:p>
                  </a:txBody>
                </a:tc>
                <a:tc>
                  <a:txBody>
                    <a:bodyPr/>
                    <a:lstStyle/>
                    <a:p>
                      <a:pPr lvl="0" indent="0" marL="0" algn="r">
                        <a:buNone/>
                      </a:pPr>
                      <a:r>
                        <a:rPr b="1"/>
                        <a:t>1</a:t>
                      </a:r>
                    </a:p>
                  </a:txBody>
                </a:tc>
                <a:tc>
                  <a:txBody>
                    <a:bodyPr/>
                    <a:lstStyle/>
                    <a:p>
                      <a:pPr lvl="0" indent="0" marL="0" algn="r">
                        <a:buNone/>
                      </a:pPr>
                      <a:r>
                        <a:rPr/>
                        <a:t>1</a:t>
                      </a:r>
                    </a:p>
                  </a:txBody>
                </a:tc>
                <a:tc>
                  <a:txBody>
                    <a:bodyPr/>
                    <a:lstStyle/>
                    <a:p>
                      <a:pPr lvl="0" indent="0" marL="0" algn="r">
                        <a:buNone/>
                      </a:pPr>
                      <a:r>
                        <a:rPr/>
                        <a:t>—</a:t>
                      </a:r>
                    </a:p>
                  </a:txBody>
                </a:tc>
              </a:tr>
              <a:tr h="0">
                <a:tc>
                  <a:txBody>
                    <a:bodyPr/>
                    <a:lstStyle/>
                    <a:p>
                      <a:pPr lvl="0" indent="0" marL="0">
                        <a:buNone/>
                      </a:pPr>
                      <a:r>
                        <a:rPr>
                          <a:latin typeface="Courier"/>
                        </a:rPr>
                        <a:t>secrets-to-tfvars-file-creator@v1</a:t>
                      </a:r>
                    </a:p>
                  </a:txBody>
                </a:tc>
                <a:tc>
                  <a:txBody>
                    <a:bodyPr/>
                    <a:lstStyle/>
                    <a:p>
                      <a:pPr lvl="0" indent="0" marL="0" algn="r">
                        <a:buNone/>
                      </a:pPr>
                      <a:r>
                        <a:rPr b="1"/>
                        <a:t>1</a:t>
                      </a:r>
                    </a:p>
                  </a:txBody>
                </a:tc>
                <a:tc>
                  <a:txBody>
                    <a:bodyPr/>
                    <a:lstStyle/>
                    <a:p>
                      <a:pPr lvl="0" indent="0" marL="0" algn="r">
                        <a:buNone/>
                      </a:pPr>
                      <a:r>
                        <a:rPr/>
                        <a:t>1</a:t>
                      </a:r>
                    </a:p>
                  </a:txBody>
                </a:tc>
                <a:tc>
                  <a:txBody>
                    <a:bodyPr/>
                    <a:lstStyle/>
                    <a:p>
                      <a:pPr lvl="0" indent="0" marL="0" algn="r">
                        <a:buNone/>
                      </a:pPr>
                      <a:r>
                        <a:rPr/>
                        <a:t>yes</a:t>
                      </a:r>
                    </a:p>
                  </a:txBody>
                </a:tc>
              </a:tr>
            </a:tbl>
          </a:graphicData>
        </a:graphic>
      </p:graphicFrame>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Problem 1b — shared processes handed the whole keyring (1 of 2)</a:t>
            </a:r>
          </a:p>
        </p:txBody>
      </p:sp>
      <p:sp>
        <p:nvSpPr>
          <p:cNvPr id="4" name="Text Placeholder 3"/>
          <p:cNvSpPr>
            <a:spLocks noGrp="1"/>
          </p:cNvSpPr>
          <p:nvPr>
            <p:ph idx="2" sz="half" type="body"/>
          </p:nvPr>
        </p:nvSpPr>
        <p:spPr/>
        <p:txBody>
          <a:bodyPr/>
          <a:lstStyle/>
          <a:p>
            <a:pPr lvl="0" indent="0" marL="0">
              <a:buNone/>
            </a:pPr>
            <a:r>
              <a:rPr/>
              <a:t>A second mechanism, and a separate fix: </a:t>
            </a:r>
            <a:r>
              <a:rPr b="1"/>
              <a:t>11</a:t>
            </a:r>
            <a:r>
              <a:rPr/>
              <a:t> shared processes are called with </a:t>
            </a:r>
            <a:r>
              <a:rPr>
                <a:latin typeface="Courier"/>
              </a:rPr>
              <a:t>secrets: inherit</a:t>
            </a:r>
            <a:r>
              <a:rPr/>
              <a:t>, which passes everything the caller holds without naming any of it. </a:t>
            </a:r>
            <a:r>
              <a:rPr b="1"/>
              <a:t>1,363</a:t>
            </a:r>
            <a:r>
              <a:rPr/>
              <a:t> pipeline references. Almost all of these deploy.</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016000"/>
                <a:gridCol w="1358900"/>
                <a:gridCol w="1358900"/>
                <a:gridCol w="1358900"/>
              </a:tblGrid>
              <a:tr h="0">
                <a:tc>
                  <a:txBody>
                    <a:bodyPr/>
                    <a:lstStyle/>
                    <a:p>
                      <a:pPr lvl="0" indent="0" marL="0">
                        <a:buNone/>
                      </a:pPr>
                      <a:r>
                        <a:rPr/>
                        <a:t>Shared process handed every secret</a:t>
                      </a:r>
                    </a:p>
                  </a:txBody>
                  <a:tcPr/>
                </a:tc>
                <a:tc>
                  <a:txBody>
                    <a:bodyPr/>
                    <a:lstStyle/>
                    <a:p>
                      <a:pPr lvl="0" indent="0" marL="0" algn="r">
                        <a:buNone/>
                      </a:pPr>
                      <a:r>
                        <a:rPr/>
                        <a:t>Pipeline refs</a:t>
                      </a:r>
                    </a:p>
                  </a:txBody>
                  <a:tcPr/>
                </a:tc>
                <a:tc>
                  <a:txBody>
                    <a:bodyPr/>
                    <a:lstStyle/>
                    <a:p>
                      <a:pPr lvl="0" indent="0" marL="0" algn="r">
                        <a:buNone/>
                      </a:pPr>
                      <a:r>
                        <a:rPr/>
                        <a:t>Callers</a:t>
                      </a:r>
                    </a:p>
                  </a:txBody>
                  <a:tcPr/>
                </a:tc>
                <a:tc>
                  <a:txBody>
                    <a:bodyPr/>
                    <a:lstStyle/>
                    <a:p>
                      <a:pPr lvl="0" indent="0" marL="0" algn="r">
                        <a:buNone/>
                      </a:pPr>
                      <a:r>
                        <a:rPr/>
                        <a:t>Deploys</a:t>
                      </a:r>
                    </a:p>
                  </a:txBody>
                  <a:tcPr/>
                </a:tc>
              </a:tr>
              <a:tr h="0">
                <a:tc>
                  <a:txBody>
                    <a:bodyPr/>
                    <a:lstStyle/>
                    <a:p>
                      <a:pPr lvl="0" indent="0" marL="0">
                        <a:buNone/>
                      </a:pPr>
                      <a:r>
                        <a:rPr>
                          <a:latin typeface="Courier"/>
                        </a:rPr>
                        <a:t>terraform-format-gha-workflow › terraform_format.yaml@v1</a:t>
                      </a:r>
                    </a:p>
                  </a:txBody>
                </a:tc>
                <a:tc>
                  <a:txBody>
                    <a:bodyPr/>
                    <a:lstStyle/>
                    <a:p>
                      <a:pPr lvl="0" indent="0" marL="0" algn="r">
                        <a:buNone/>
                      </a:pPr>
                      <a:r>
                        <a:rPr b="1"/>
                        <a:t>278</a:t>
                      </a:r>
                    </a:p>
                  </a:txBody>
                </a:tc>
                <a:tc>
                  <a:txBody>
                    <a:bodyPr/>
                    <a:lstStyle/>
                    <a:p>
                      <a:pPr lvl="0" indent="0" marL="0" algn="r">
                        <a:buNone/>
                      </a:pPr>
                      <a:r>
                        <a:rPr/>
                        <a:t>12</a:t>
                      </a:r>
                    </a:p>
                  </a:txBody>
                </a:tc>
                <a:tc>
                  <a:txBody>
                    <a:bodyPr/>
                    <a:lstStyle/>
                    <a:p>
                      <a:pPr lvl="0" indent="0" marL="0" algn="r">
                        <a:buNone/>
                      </a:pPr>
                      <a:r>
                        <a:rPr/>
                        <a:t>yes</a:t>
                      </a:r>
                    </a:p>
                  </a:txBody>
                </a:tc>
              </a:tr>
              <a:tr h="0">
                <a:tc>
                  <a:txBody>
                    <a:bodyPr/>
                    <a:lstStyle/>
                    <a:p>
                      <a:pPr lvl="0" indent="0" marL="0">
                        <a:buNone/>
                      </a:pPr>
                      <a:r>
                        <a:rPr>
                          <a:latin typeface="Courier"/>
                        </a:rPr>
                        <a:t>terraform-security-gha-workflow › terraform_security.yaml@v1</a:t>
                      </a:r>
                    </a:p>
                  </a:txBody>
                </a:tc>
                <a:tc>
                  <a:txBody>
                    <a:bodyPr/>
                    <a:lstStyle/>
                    <a:p>
                      <a:pPr lvl="0" indent="0" marL="0" algn="r">
                        <a:buNone/>
                      </a:pPr>
                      <a:r>
                        <a:rPr b="1"/>
                        <a:t>275</a:t>
                      </a:r>
                    </a:p>
                  </a:txBody>
                </a:tc>
                <a:tc>
                  <a:txBody>
                    <a:bodyPr/>
                    <a:lstStyle/>
                    <a:p>
                      <a:pPr lvl="0" indent="0" marL="0" algn="r">
                        <a:buNone/>
                      </a:pPr>
                      <a:r>
                        <a:rPr/>
                        <a:t>11</a:t>
                      </a:r>
                    </a:p>
                  </a:txBody>
                </a:tc>
                <a:tc>
                  <a:txBody>
                    <a:bodyPr/>
                    <a:lstStyle/>
                    <a:p>
                      <a:pPr lvl="0" indent="0" marL="0" algn="r">
                        <a:buNone/>
                      </a:pPr>
                      <a:r>
                        <a:rPr/>
                        <a:t>yes</a:t>
                      </a:r>
                    </a:p>
                  </a:txBody>
                </a:tc>
              </a:tr>
              <a:tr h="0">
                <a:tc>
                  <a:txBody>
                    <a:bodyPr/>
                    <a:lstStyle/>
                    <a:p>
                      <a:pPr lvl="0" indent="0" marL="0">
                        <a:buNone/>
                      </a:pPr>
                      <a:r>
                        <a:rPr>
                          <a:latin typeface="Courier"/>
                        </a:rPr>
                        <a:t>check-destroy-workflow › check_destroy.yaml@v1</a:t>
                      </a:r>
                    </a:p>
                  </a:txBody>
                </a:tc>
                <a:tc>
                  <a:txBody>
                    <a:bodyPr/>
                    <a:lstStyle/>
                    <a:p>
                      <a:pPr lvl="0" indent="0" marL="0" algn="r">
                        <a:buNone/>
                      </a:pPr>
                      <a:r>
                        <a:rPr b="1"/>
                        <a:t>252</a:t>
                      </a:r>
                    </a:p>
                  </a:txBody>
                </a:tc>
                <a:tc>
                  <a:txBody>
                    <a:bodyPr/>
                    <a:lstStyle/>
                    <a:p>
                      <a:pPr lvl="0" indent="0" marL="0" algn="r">
                        <a:buNone/>
                      </a:pPr>
                      <a:r>
                        <a:rPr/>
                        <a:t>10</a:t>
                      </a:r>
                    </a:p>
                  </a:txBody>
                </a:tc>
                <a:tc>
                  <a:txBody>
                    <a:bodyPr/>
                    <a:lstStyle/>
                    <a:p>
                      <a:pPr lvl="0" indent="0" marL="0" algn="r">
                        <a:buNone/>
                      </a:pPr>
                      <a:r>
                        <a:rPr/>
                        <a:t>yes</a:t>
                      </a:r>
                    </a:p>
                  </a:txBody>
                </a:tc>
              </a:tr>
              <a:tr h="0">
                <a:tc>
                  <a:txBody>
                    <a:bodyPr/>
                    <a:lstStyle/>
                    <a:p>
                      <a:pPr lvl="0" indent="0" marL="0">
                        <a:buNone/>
                      </a:pPr>
                      <a:r>
                        <a:rPr>
                          <a:latin typeface="Courier"/>
                        </a:rPr>
                        <a:t>semantic-release-deployment-workflow › semantic_release_deployment.yaml@v1</a:t>
                      </a:r>
                    </a:p>
                  </a:txBody>
                </a:tc>
                <a:tc>
                  <a:txBody>
                    <a:bodyPr/>
                    <a:lstStyle/>
                    <a:p>
                      <a:pPr lvl="0" indent="0" marL="0" algn="r">
                        <a:buNone/>
                      </a:pPr>
                      <a:r>
                        <a:rPr b="1"/>
                        <a:t>246</a:t>
                      </a:r>
                    </a:p>
                  </a:txBody>
                </a:tc>
                <a:tc>
                  <a:txBody>
                    <a:bodyPr/>
                    <a:lstStyle/>
                    <a:p>
                      <a:pPr lvl="0" indent="0" marL="0" algn="r">
                        <a:buNone/>
                      </a:pPr>
                      <a:r>
                        <a:rPr/>
                        <a:t>6</a:t>
                      </a:r>
                    </a:p>
                  </a:txBody>
                </a:tc>
                <a:tc>
                  <a:txBody>
                    <a:bodyPr/>
                    <a:lstStyle/>
                    <a:p>
                      <a:pPr lvl="0" indent="0" marL="0" algn="r">
                        <a:buNone/>
                      </a:pPr>
                      <a:r>
                        <a:rPr/>
                        <a:t>yes</a:t>
                      </a:r>
                    </a:p>
                  </a:txBody>
                </a:tc>
              </a:tr>
              <a:tr h="0">
                <a:tc>
                  <a:txBody>
                    <a:bodyPr/>
                    <a:lstStyle/>
                    <a:p>
                      <a:pPr lvl="0" indent="0" marL="0">
                        <a:buNone/>
                      </a:pPr>
                      <a:r>
                        <a:rPr>
                          <a:latin typeface="Courier"/>
                        </a:rPr>
                        <a:t>promote-release-and-deployment-workflow › promote_release_and_deployment.yaml@v1</a:t>
                      </a:r>
                    </a:p>
                  </a:txBody>
                </a:tc>
                <a:tc>
                  <a:txBody>
                    <a:bodyPr/>
                    <a:lstStyle/>
                    <a:p>
                      <a:pPr lvl="0" indent="0" marL="0" algn="r">
                        <a:buNone/>
                      </a:pPr>
                      <a:r>
                        <a:rPr b="1"/>
                        <a:t>245</a:t>
                      </a:r>
                    </a:p>
                  </a:txBody>
                </a:tc>
                <a:tc>
                  <a:txBody>
                    <a:bodyPr/>
                    <a:lstStyle/>
                    <a:p>
                      <a:pPr lvl="0" indent="0" marL="0" algn="r">
                        <a:buNone/>
                      </a:pPr>
                      <a:r>
                        <a:rPr/>
                        <a:t>9</a:t>
                      </a:r>
                    </a:p>
                  </a:txBody>
                </a:tc>
                <a:tc>
                  <a:txBody>
                    <a:bodyPr/>
                    <a:lstStyle/>
                    <a:p>
                      <a:pPr lvl="0" indent="0" marL="0" algn="r">
                        <a:buNone/>
                      </a:pPr>
                      <a:r>
                        <a:rPr/>
                        <a:t>yes</a:t>
                      </a:r>
                    </a:p>
                  </a:txBody>
                </a:tc>
              </a:tr>
              <a:tr h="0">
                <a:tc>
                  <a:txBody>
                    <a:bodyPr/>
                    <a:lstStyle/>
                    <a:p>
                      <a:pPr lvl="0" indent="0" marL="0">
                        <a:buNone/>
                      </a:pPr>
                      <a:r>
                        <a:rPr>
                          <a:latin typeface="Courier"/>
                        </a:rPr>
                        <a:t>terraform-testing-workflows › test_terraform.yml@v1</a:t>
                      </a:r>
                    </a:p>
                  </a:txBody>
                </a:tc>
                <a:tc>
                  <a:txBody>
                    <a:bodyPr/>
                    <a:lstStyle/>
                    <a:p>
                      <a:pPr lvl="0" indent="0" marL="0" algn="r">
                        <a:buNone/>
                      </a:pPr>
                      <a:r>
                        <a:rPr b="1"/>
                        <a:t>42</a:t>
                      </a:r>
                    </a:p>
                  </a:txBody>
                </a:tc>
                <a:tc>
                  <a:txBody>
                    <a:bodyPr/>
                    <a:lstStyle/>
                    <a:p>
                      <a:pPr lvl="0" indent="0" marL="0" algn="r">
                        <a:buNone/>
                      </a:pPr>
                      <a:r>
                        <a:rPr/>
                        <a:t>2</a:t>
                      </a:r>
                    </a:p>
                  </a:txBody>
                </a:tc>
                <a:tc>
                  <a:txBody>
                    <a:bodyPr/>
                    <a:lstStyle/>
                    <a:p>
                      <a:pPr lvl="0" indent="0" marL="0" algn="r">
                        <a:buNone/>
                      </a:pPr>
                      <a:r>
                        <a:rPr/>
                        <a:t>—</a:t>
                      </a:r>
                    </a:p>
                  </a:txBody>
                </a:tc>
              </a:tr>
            </a:tbl>
          </a:graphicData>
        </a:graphic>
      </p:graphicFrame>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Problem 1b — shared processes handed the whole keyring (2 of 2)</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1651000"/>
                <a:gridCol w="2197100"/>
                <a:gridCol w="2197100"/>
                <a:gridCol w="2197100"/>
              </a:tblGrid>
              <a:tr h="0">
                <a:tc>
                  <a:txBody>
                    <a:bodyPr/>
                    <a:lstStyle/>
                    <a:p>
                      <a:pPr lvl="0" indent="0" marL="0">
                        <a:buNone/>
                      </a:pPr>
                      <a:r>
                        <a:rPr/>
                        <a:t>Shared process handed every secret</a:t>
                      </a:r>
                    </a:p>
                  </a:txBody>
                  <a:tcPr/>
                </a:tc>
                <a:tc>
                  <a:txBody>
                    <a:bodyPr/>
                    <a:lstStyle/>
                    <a:p>
                      <a:pPr lvl="0" indent="0" marL="0" algn="r">
                        <a:buNone/>
                      </a:pPr>
                      <a:r>
                        <a:rPr/>
                        <a:t>Pipeline refs</a:t>
                      </a:r>
                    </a:p>
                  </a:txBody>
                  <a:tcPr/>
                </a:tc>
                <a:tc>
                  <a:txBody>
                    <a:bodyPr/>
                    <a:lstStyle/>
                    <a:p>
                      <a:pPr lvl="0" indent="0" marL="0" algn="r">
                        <a:buNone/>
                      </a:pPr>
                      <a:r>
                        <a:rPr/>
                        <a:t>Callers</a:t>
                      </a:r>
                    </a:p>
                  </a:txBody>
                  <a:tcPr/>
                </a:tc>
                <a:tc>
                  <a:txBody>
                    <a:bodyPr/>
                    <a:lstStyle/>
                    <a:p>
                      <a:pPr lvl="0" indent="0" marL="0" algn="r">
                        <a:buNone/>
                      </a:pPr>
                      <a:r>
                        <a:rPr/>
                        <a:t>Deploys</a:t>
                      </a:r>
                    </a:p>
                  </a:txBody>
                  <a:tcPr/>
                </a:tc>
              </a:tr>
              <a:tr h="0">
                <a:tc>
                  <a:txBody>
                    <a:bodyPr/>
                    <a:lstStyle/>
                    <a:p>
                      <a:pPr lvl="0" indent="0" marL="0">
                        <a:buNone/>
                      </a:pPr>
                      <a:r>
                        <a:rPr>
                          <a:latin typeface="Courier"/>
                        </a:rPr>
                        <a:t>terraform-testing-workflows › test_terraform.yml@v2</a:t>
                      </a:r>
                    </a:p>
                  </a:txBody>
                </a:tc>
                <a:tc>
                  <a:txBody>
                    <a:bodyPr/>
                    <a:lstStyle/>
                    <a:p>
                      <a:pPr lvl="0" indent="0" marL="0" algn="r">
                        <a:buNone/>
                      </a:pPr>
                      <a:r>
                        <a:rPr b="1"/>
                        <a:t>10</a:t>
                      </a:r>
                    </a:p>
                  </a:txBody>
                </a:tc>
                <a:tc>
                  <a:txBody>
                    <a:bodyPr/>
                    <a:lstStyle/>
                    <a:p>
                      <a:pPr lvl="0" indent="0" marL="0" algn="r">
                        <a:buNone/>
                      </a:pPr>
                      <a:r>
                        <a:rPr/>
                        <a:t>2</a:t>
                      </a:r>
                    </a:p>
                  </a:txBody>
                </a:tc>
                <a:tc>
                  <a:txBody>
                    <a:bodyPr/>
                    <a:lstStyle/>
                    <a:p>
                      <a:pPr lvl="0" indent="0" marL="0" algn="r">
                        <a:buNone/>
                      </a:pPr>
                      <a:r>
                        <a:rPr/>
                        <a:t>yes</a:t>
                      </a:r>
                    </a:p>
                  </a:txBody>
                </a:tc>
              </a:tr>
              <a:tr h="0">
                <a:tc>
                  <a:txBody>
                    <a:bodyPr/>
                    <a:lstStyle/>
                    <a:p>
                      <a:pPr lvl="0" indent="0" marL="0">
                        <a:buNone/>
                      </a:pPr>
                      <a:r>
                        <a:rPr>
                          <a:latin typeface="Courier"/>
                        </a:rPr>
                        <a:t>cicd-workflows › promote_release_and_deployment.yml@v1</a:t>
                      </a:r>
                    </a:p>
                  </a:txBody>
                </a:tc>
                <a:tc>
                  <a:txBody>
                    <a:bodyPr/>
                    <a:lstStyle/>
                    <a:p>
                      <a:pPr lvl="0" indent="0" marL="0" algn="r">
                        <a:buNone/>
                      </a:pPr>
                      <a:r>
                        <a:rPr b="1"/>
                        <a:t>6</a:t>
                      </a:r>
                    </a:p>
                  </a:txBody>
                </a:tc>
                <a:tc>
                  <a:txBody>
                    <a:bodyPr/>
                    <a:lstStyle/>
                    <a:p>
                      <a:pPr lvl="0" indent="0" marL="0" algn="r">
                        <a:buNone/>
                      </a:pPr>
                      <a:r>
                        <a:rPr/>
                        <a:t>4</a:t>
                      </a:r>
                    </a:p>
                  </a:txBody>
                </a:tc>
                <a:tc>
                  <a:txBody>
                    <a:bodyPr/>
                    <a:lstStyle/>
                    <a:p>
                      <a:pPr lvl="0" indent="0" marL="0" algn="r">
                        <a:buNone/>
                      </a:pPr>
                      <a:r>
                        <a:rPr/>
                        <a:t>yes</a:t>
                      </a:r>
                    </a:p>
                  </a:txBody>
                </a:tc>
              </a:tr>
              <a:tr h="0">
                <a:tc>
                  <a:txBody>
                    <a:bodyPr/>
                    <a:lstStyle/>
                    <a:p>
                      <a:pPr lvl="0" indent="0" marL="0">
                        <a:buNone/>
                      </a:pPr>
                      <a:r>
                        <a:rPr>
                          <a:latin typeface="Courier"/>
                        </a:rPr>
                        <a:t>audit-github-scanner-workflow › scan.yaml@v1</a:t>
                      </a:r>
                    </a:p>
                  </a:txBody>
                </a:tc>
                <a:tc>
                  <a:txBody>
                    <a:bodyPr/>
                    <a:lstStyle/>
                    <a:p>
                      <a:pPr lvl="0" indent="0" marL="0" algn="r">
                        <a:buNone/>
                      </a:pPr>
                      <a:r>
                        <a:rPr b="1"/>
                        <a:t>3</a:t>
                      </a:r>
                    </a:p>
                  </a:txBody>
                </a:tc>
                <a:tc>
                  <a:txBody>
                    <a:bodyPr/>
                    <a:lstStyle/>
                    <a:p>
                      <a:pPr lvl="0" indent="0" marL="0" algn="r">
                        <a:buNone/>
                      </a:pPr>
                      <a:r>
                        <a:rPr/>
                        <a:t>1</a:t>
                      </a:r>
                    </a:p>
                  </a:txBody>
                </a:tc>
                <a:tc>
                  <a:txBody>
                    <a:bodyPr/>
                    <a:lstStyle/>
                    <a:p>
                      <a:pPr lvl="0" indent="0" marL="0" algn="r">
                        <a:buNone/>
                      </a:pPr>
                      <a:r>
                        <a:rPr/>
                        <a:t>—</a:t>
                      </a:r>
                    </a:p>
                  </a:txBody>
                </a:tc>
              </a:tr>
              <a:tr h="0">
                <a:tc>
                  <a:txBody>
                    <a:bodyPr/>
                    <a:lstStyle/>
                    <a:p>
                      <a:pPr lvl="0" indent="0" marL="0">
                        <a:buNone/>
                      </a:pPr>
                      <a:r>
                        <a:rPr>
                          <a:latin typeface="Courier"/>
                        </a:rPr>
                        <a:t>ado-work-item-check › check_commit.yaml@v1</a:t>
                      </a:r>
                    </a:p>
                  </a:txBody>
                </a:tc>
                <a:tc>
                  <a:txBody>
                    <a:bodyPr/>
                    <a:lstStyle/>
                    <a:p>
                      <a:pPr lvl="0" indent="0" marL="0" algn="r">
                        <a:buNone/>
                      </a:pPr>
                      <a:r>
                        <a:rPr b="1"/>
                        <a:t>3</a:t>
                      </a:r>
                    </a:p>
                  </a:txBody>
                </a:tc>
                <a:tc>
                  <a:txBody>
                    <a:bodyPr/>
                    <a:lstStyle/>
                    <a:p>
                      <a:pPr lvl="0" indent="0" marL="0" algn="r">
                        <a:buNone/>
                      </a:pPr>
                      <a:r>
                        <a:rPr/>
                        <a:t>2</a:t>
                      </a:r>
                    </a:p>
                  </a:txBody>
                </a:tc>
                <a:tc>
                  <a:txBody>
                    <a:bodyPr/>
                    <a:lstStyle/>
                    <a:p>
                      <a:pPr lvl="0" indent="0" marL="0" algn="r">
                        <a:buNone/>
                      </a:pPr>
                      <a:r>
                        <a:rPr/>
                        <a:t>yes</a:t>
                      </a:r>
                    </a:p>
                  </a:txBody>
                </a:tc>
              </a:tr>
              <a:tr h="0">
                <a:tc>
                  <a:txBody>
                    <a:bodyPr/>
                    <a:lstStyle/>
                    <a:p>
                      <a:pPr lvl="0" indent="0" marL="0">
                        <a:buNone/>
                      </a:pPr>
                      <a:r>
                        <a:rPr>
                          <a:latin typeface="Courier"/>
                        </a:rPr>
                        <a:t>ado-work-item-update › update_work_item.yaml@v1</a:t>
                      </a:r>
                    </a:p>
                  </a:txBody>
                </a:tc>
                <a:tc>
                  <a:txBody>
                    <a:bodyPr/>
                    <a:lstStyle/>
                    <a:p>
                      <a:pPr lvl="0" indent="0" marL="0" algn="r">
                        <a:buNone/>
                      </a:pPr>
                      <a:r>
                        <a:rPr b="1"/>
                        <a:t>3</a:t>
                      </a:r>
                    </a:p>
                  </a:txBody>
                </a:tc>
                <a:tc>
                  <a:txBody>
                    <a:bodyPr/>
                    <a:lstStyle/>
                    <a:p>
                      <a:pPr lvl="0" indent="0" marL="0" algn="r">
                        <a:buNone/>
                      </a:pPr>
                      <a:r>
                        <a:rPr/>
                        <a:t>2</a:t>
                      </a:r>
                    </a:p>
                  </a:txBody>
                </a:tc>
                <a:tc>
                  <a:txBody>
                    <a:bodyPr/>
                    <a:lstStyle/>
                    <a:p>
                      <a:pPr lvl="0" indent="0" marL="0" algn="r">
                        <a:buNone/>
                      </a:pPr>
                      <a:r>
                        <a:rPr/>
                        <a:t>yes</a:t>
                      </a:r>
                    </a:p>
                  </a:txBody>
                </a:tc>
              </a:tr>
            </a:tbl>
          </a:graphicData>
        </a:graphic>
      </p:graphicFrame>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Problem 1c — steps that print the keyring into the shell</a:t>
            </a:r>
          </a:p>
        </p:txBody>
      </p:sp>
      <p:sp>
        <p:nvSpPr>
          <p:cNvPr id="4" name="Text Placeholder 3"/>
          <p:cNvSpPr>
            <a:spLocks noGrp="1"/>
          </p:cNvSpPr>
          <p:nvPr>
            <p:ph idx="2" sz="half" type="body"/>
          </p:nvPr>
        </p:nvSpPr>
        <p:spPr/>
        <p:txBody>
          <a:bodyPr/>
          <a:lstStyle/>
          <a:p>
            <a:pPr lvl="0" indent="0" marL="0">
              <a:buNone/>
            </a:pPr>
            <a:r>
              <a:rPr b="1"/>
              <a:t>2</a:t>
            </a:r>
            <a:r>
              <a:rPr/>
              <a:t> steps expand the whole secrets object into the runner’s own command line in order to read the </a:t>
            </a:r>
            <a:r>
              <a:rPr i="1"/>
              <a:t>names</a:t>
            </a:r>
            <a:r>
              <a:rPr/>
              <a:t> off it — </a:t>
            </a:r>
            <a:r>
              <a:rPr b="1"/>
              <a:t>214</a:t>
            </a:r>
            <a:r>
              <a:rPr/>
              <a:t> pipeline references. Reading names never requires handling values, so this one is a rewrite rather than a narrowing.</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397000"/>
                <a:gridCol w="1854200"/>
                <a:gridCol w="1854200"/>
              </a:tblGrid>
              <a:tr h="0">
                <a:tc>
                  <a:txBody>
                    <a:bodyPr/>
                    <a:lstStyle/>
                    <a:p>
                      <a:pPr lvl="0" indent="0" marL="0">
                        <a:buNone/>
                      </a:pPr>
                      <a:r>
                        <a:rPr/>
                        <a:t>Step that expands secrets into the build shell</a:t>
                      </a:r>
                    </a:p>
                  </a:txBody>
                  <a:tcPr/>
                </a:tc>
                <a:tc>
                  <a:txBody>
                    <a:bodyPr/>
                    <a:lstStyle/>
                    <a:p>
                      <a:pPr lvl="0" indent="0" marL="0" algn="r">
                        <a:buNone/>
                      </a:pPr>
                      <a:r>
                        <a:rPr/>
                        <a:t>Pipeline refs</a:t>
                      </a:r>
                    </a:p>
                  </a:txBody>
                  <a:tcPr/>
                </a:tc>
                <a:tc>
                  <a:txBody>
                    <a:bodyPr/>
                    <a:lstStyle/>
                    <a:p>
                      <a:pPr lvl="0" indent="0" marL="0" algn="r">
                        <a:buNone/>
                      </a:pPr>
                      <a:r>
                        <a:rPr/>
                        <a:t>Deploys</a:t>
                      </a:r>
                    </a:p>
                  </a:txBody>
                  <a:tcPr/>
                </a:tc>
              </a:tr>
              <a:tr h="0">
                <a:tc>
                  <a:txBody>
                    <a:bodyPr/>
                    <a:lstStyle/>
                    <a:p>
                      <a:pPr lvl="0" indent="0" marL="0">
                        <a:buNone/>
                      </a:pPr>
                      <a:r>
                        <a:rPr>
                          <a:latin typeface="Courier"/>
                        </a:rPr>
                        <a:t>verify-secrets-dev:Get secret JSON keys</a:t>
                      </a:r>
                    </a:p>
                  </a:txBody>
                </a:tc>
                <a:tc>
                  <a:txBody>
                    <a:bodyPr/>
                    <a:lstStyle/>
                    <a:p>
                      <a:pPr lvl="0" indent="0" marL="0" algn="r">
                        <a:buNone/>
                      </a:pPr>
                      <a:r>
                        <a:rPr b="1"/>
                        <a:t>107</a:t>
                      </a:r>
                    </a:p>
                  </a:txBody>
                </a:tc>
                <a:tc>
                  <a:txBody>
                    <a:bodyPr/>
                    <a:lstStyle/>
                    <a:p>
                      <a:pPr lvl="0" indent="0" marL="0" algn="r">
                        <a:buNone/>
                      </a:pPr>
                      <a:r>
                        <a:rPr/>
                        <a:t>—</a:t>
                      </a:r>
                    </a:p>
                  </a:txBody>
                </a:tc>
              </a:tr>
              <a:tr h="0">
                <a:tc>
                  <a:txBody>
                    <a:bodyPr/>
                    <a:lstStyle/>
                    <a:p>
                      <a:pPr lvl="0" indent="0" marL="0">
                        <a:buNone/>
                      </a:pPr>
                      <a:r>
                        <a:rPr>
                          <a:latin typeface="Courier"/>
                        </a:rPr>
                        <a:t>verify-secrets-all-env:Get secret JSON keys</a:t>
                      </a:r>
                    </a:p>
                  </a:txBody>
                </a:tc>
                <a:tc>
                  <a:txBody>
                    <a:bodyPr/>
                    <a:lstStyle/>
                    <a:p>
                      <a:pPr lvl="0" indent="0" marL="0" algn="r">
                        <a:buNone/>
                      </a:pPr>
                      <a:r>
                        <a:rPr b="1"/>
                        <a:t>107</a:t>
                      </a:r>
                    </a:p>
                  </a:txBody>
                </a:tc>
                <a:tc>
                  <a:txBody>
                    <a:bodyPr/>
                    <a:lstStyle/>
                    <a:p>
                      <a:pPr lvl="0" indent="0" marL="0" algn="r">
                        <a:buNone/>
                      </a:pPr>
                      <a:r>
                        <a:rPr/>
                        <a:t>—</a:t>
                      </a:r>
                    </a:p>
                  </a:txBody>
                </a:tc>
              </a:tr>
            </a:tbl>
          </a:graphicData>
        </a:graphic>
      </p:graphicFrame>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Problem 1 — where the change lands</a:t>
            </a:r>
          </a:p>
        </p:txBody>
      </p:sp>
      <p:sp>
        <p:nvSpPr>
          <p:cNvPr id="4" name="Text Placeholder 3"/>
          <p:cNvSpPr>
            <a:spLocks noGrp="1"/>
          </p:cNvSpPr>
          <p:nvPr>
            <p:ph idx="2" sz="half" type="body"/>
          </p:nvPr>
        </p:nvSpPr>
        <p:spPr/>
        <p:txBody>
          <a:bodyPr/>
          <a:lstStyle/>
          <a:p>
            <a:pPr lvl="0" indent="0" marL="0">
              <a:buNone/>
            </a:pPr>
            <a:r>
              <a:rPr/>
              <a:t>Three mechanisms, three different edits. All of them live in </a:t>
            </a:r>
            <a:r>
              <a:rPr>
                <a:latin typeface="Courier"/>
              </a:rPr>
              <a:t>.github/workflows/&lt;name&gt;.yaml</a:t>
            </a:r>
            <a:r>
              <a:rPr/>
              <a:t> in the shared repository, not in the consumers. For 1a and 1b there is a second step: pin the target to a commit reference instead of </a:t>
            </a:r>
            <a:r>
              <a:rPr>
                <a:latin typeface="Courier"/>
              </a:rPr>
              <a:t>@v1</a:t>
            </a:r>
            <a:r>
              <a:rPr/>
              <a:t> / </a:t>
            </a:r>
            <a:r>
              <a:rPr>
                <a:latin typeface="Courier"/>
              </a:rPr>
              <a:t>@v2</a:t>
            </a:r>
            <a:r>
              <a:rPr/>
              <a:t>, and turn on tag protection in the target’s own repository so the name cannot be moved.</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Mechanism</a:t>
                      </a:r>
                    </a:p>
                  </a:txBody>
                  <a:tcPr/>
                </a:tc>
                <a:tc>
                  <a:txBody>
                    <a:bodyPr/>
                    <a:lstStyle/>
                    <a:p>
                      <a:pPr lvl="0" indent="0" marL="0">
                        <a:buNone/>
                      </a:pPr>
                      <a:r>
                        <a:rPr/>
                        <a:t>What to look for</a:t>
                      </a:r>
                    </a:p>
                  </a:txBody>
                  <a:tcPr/>
                </a:tc>
                <a:tc>
                  <a:txBody>
                    <a:bodyPr/>
                    <a:lstStyle/>
                    <a:p>
                      <a:pPr lvl="0" indent="0" marL="0">
                        <a:buNone/>
                      </a:pPr>
                      <a:r>
                        <a:rPr/>
                        <a:t>What to replace it with</a:t>
                      </a:r>
                    </a:p>
                  </a:txBody>
                  <a:tcPr/>
                </a:tc>
              </a:tr>
              <a:tr h="0">
                <a:tc>
                  <a:txBody>
                    <a:bodyPr/>
                    <a:lstStyle/>
                    <a:p>
                      <a:pPr lvl="0" indent="0" marL="0">
                        <a:buNone/>
                      </a:pPr>
                      <a:r>
                        <a:rPr b="1"/>
                        <a:t>1a</a:t>
                      </a:r>
                    </a:p>
                  </a:txBody>
                </a:tc>
                <a:tc>
                  <a:txBody>
                    <a:bodyPr/>
                    <a:lstStyle/>
                    <a:p>
                      <a:pPr lvl="0" indent="0" marL="0">
                        <a:buNone/>
                      </a:pPr>
                      <a:r>
                        <a:rPr>
                          <a:latin typeface="Courier"/>
                        </a:rPr>
                        <a:t>${{ toJSON(secrets) }}</a:t>
                      </a:r>
                      <a:r>
                        <a:rPr/>
                        <a:t> in a </a:t>
                      </a:r>
                      <a:r>
                        <a:rPr>
                          <a:latin typeface="Courier"/>
                        </a:rPr>
                        <a:t>with:</a:t>
                      </a:r>
                      <a:r>
                        <a:rPr/>
                        <a:t> block</a:t>
                      </a:r>
                    </a:p>
                  </a:txBody>
                </a:tc>
                <a:tc>
                  <a:txBody>
                    <a:bodyPr/>
                    <a:lstStyle/>
                    <a:p>
                      <a:pPr lvl="0" indent="0" marL="0">
                        <a:buNone/>
                      </a:pPr>
                      <a:r>
                        <a:rPr/>
                        <a:t>the specific secrets that step reads, named one per line</a:t>
                      </a:r>
                    </a:p>
                  </a:txBody>
                </a:tc>
              </a:tr>
              <a:tr h="0">
                <a:tc>
                  <a:txBody>
                    <a:bodyPr/>
                    <a:lstStyle/>
                    <a:p>
                      <a:pPr lvl="0" indent="0" marL="0">
                        <a:buNone/>
                      </a:pPr>
                      <a:r>
                        <a:rPr b="1"/>
                        <a:t>1b</a:t>
                      </a:r>
                    </a:p>
                  </a:txBody>
                </a:tc>
                <a:tc>
                  <a:txBody>
                    <a:bodyPr/>
                    <a:lstStyle/>
                    <a:p>
                      <a:pPr lvl="0" indent="0" marL="0">
                        <a:buNone/>
                      </a:pPr>
                      <a:r>
                        <a:rPr>
                          <a:latin typeface="Courier"/>
                        </a:rPr>
                        <a:t>secrets: inherit</a:t>
                      </a:r>
                      <a:r>
                        <a:rPr/>
                        <a:t> under a </a:t>
                      </a:r>
                      <a:r>
                        <a:rPr>
                          <a:latin typeface="Courier"/>
                        </a:rPr>
                        <a:t>uses:</a:t>
                      </a:r>
                      <a:r>
                        <a:rPr/>
                        <a:t> call</a:t>
                      </a:r>
                    </a:p>
                  </a:txBody>
                </a:tc>
                <a:tc>
                  <a:txBody>
                    <a:bodyPr/>
                    <a:lstStyle/>
                    <a:p>
                      <a:pPr lvl="0" indent="0" marL="0">
                        <a:buNone/>
                      </a:pPr>
                      <a:r>
                        <a:rPr/>
                        <a:t>a </a:t>
                      </a:r>
                      <a:r>
                        <a:rPr>
                          <a:latin typeface="Courier"/>
                        </a:rPr>
                        <a:t>secrets:</a:t>
                      </a:r>
                      <a:r>
                        <a:rPr/>
                        <a:t> block naming only what the called process needs</a:t>
                      </a:r>
                    </a:p>
                  </a:txBody>
                </a:tc>
              </a:tr>
              <a:tr h="0">
                <a:tc>
                  <a:txBody>
                    <a:bodyPr/>
                    <a:lstStyle/>
                    <a:p>
                      <a:pPr lvl="0" indent="0" marL="0">
                        <a:buNone/>
                      </a:pPr>
                      <a:r>
                        <a:rPr b="1"/>
                        <a:t>1c</a:t>
                      </a:r>
                    </a:p>
                  </a:txBody>
                </a:tc>
                <a:tc>
                  <a:txBody>
                    <a:bodyPr/>
                    <a:lstStyle/>
                    <a:p>
                      <a:pPr lvl="0" indent="0" marL="0">
                        <a:buNone/>
                      </a:pPr>
                      <a:r>
                        <a:rPr>
                          <a:latin typeface="Courier"/>
                        </a:rPr>
                        <a:t>toJSON(secrets)</a:t>
                      </a:r>
                      <a:r>
                        <a:rPr/>
                        <a:t> inside a </a:t>
                      </a:r>
                      <a:r>
                        <a:rPr>
                          <a:latin typeface="Courier"/>
                        </a:rPr>
                        <a:t>run:</a:t>
                      </a:r>
                      <a:r>
                        <a:rPr/>
                        <a:t> script</a:t>
                      </a:r>
                    </a:p>
                  </a:txBody>
                </a:tc>
                <a:tc>
                  <a:txBody>
                    <a:bodyPr/>
                    <a:lstStyle/>
                    <a:p>
                      <a:pPr lvl="0" indent="0" marL="0">
                        <a:buNone/>
                      </a:pPr>
                      <a:r>
                        <a:rPr/>
                        <a:t>an approach that lists secret names without expanding their values</a:t>
                      </a:r>
                    </a:p>
                  </a:txBody>
                </a:tc>
              </a:tr>
            </a:tbl>
          </a:graphicData>
        </a:graphic>
      </p:graphicFrame>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Problem 1 — the shared workflows that pass it onward (largest of 46) (1 of 2)</a:t>
            </a:r>
          </a:p>
        </p:txBody>
      </p:sp>
      <p:sp>
        <p:nvSpPr>
          <p:cNvPr id="4" name="Text Placeholder 3"/>
          <p:cNvSpPr>
            <a:spLocks noGrp="1"/>
          </p:cNvSpPr>
          <p:nvPr>
            <p:ph idx="2" sz="half" type="body"/>
          </p:nvPr>
        </p:nvSpPr>
        <p:spPr/>
        <p:txBody>
          <a:bodyPr/>
          <a:lstStyle/>
          <a:p>
            <a:pPr lvl="0" indent="0" marL="0">
              <a:buNone/>
            </a:pPr>
            <a:r>
              <a:rPr b="1"/>
              <a:t>46</a:t>
            </a:r>
            <a:r>
              <a:rPr/>
              <a:t> definitions pass the whole secrets context to whatever called them, reaching </a:t>
            </a:r>
            <a:r>
              <a:rPr b="1"/>
              <a:t>1,823</a:t>
            </a:r>
            <a:r>
              <a:rPr/>
              <a:t> consumer references. </a:t>
            </a:r>
            <a:r>
              <a:rPr b="1"/>
              <a:t>37</a:t>
            </a:r>
            <a:r>
              <a:rPr/>
              <a:t> of them deploy. The full 46 are in </a:t>
            </a:r>
            <a:r>
              <a:rPr>
                <a:latin typeface="Courier"/>
              </a:rPr>
              <a:t>exports/hunt/reusable_workflow_targets.json</a:t>
            </a:r>
            <a:r>
              <a:rPr/>
              <a:t>; these are the largest.</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016000"/>
                <a:gridCol w="1358900"/>
                <a:gridCol w="1358900"/>
                <a:gridCol w="1358900"/>
              </a:tblGrid>
              <a:tr h="0">
                <a:tc>
                  <a:txBody>
                    <a:bodyPr/>
                    <a:lstStyle/>
                    <a:p>
                      <a:pPr lvl="0" indent="0" marL="0">
                        <a:buNone/>
                      </a:pPr>
                      <a:r>
                        <a:rPr/>
                        <a:t>Shared workflow</a:t>
                      </a:r>
                    </a:p>
                  </a:txBody>
                  <a:tcPr/>
                </a:tc>
                <a:tc>
                  <a:txBody>
                    <a:bodyPr/>
                    <a:lstStyle/>
                    <a:p>
                      <a:pPr lvl="0" indent="0" marL="0" algn="r">
                        <a:buNone/>
                      </a:pPr>
                      <a:r>
                        <a:rPr/>
                        <a:t>Ref</a:t>
                      </a:r>
                    </a:p>
                  </a:txBody>
                  <a:tcPr/>
                </a:tc>
                <a:tc>
                  <a:txBody>
                    <a:bodyPr/>
                    <a:lstStyle/>
                    <a:p>
                      <a:pPr lvl="0" indent="0" marL="0" algn="r">
                        <a:buNone/>
                      </a:pPr>
                      <a:r>
                        <a:rPr/>
                        <a:t>Consumers</a:t>
                      </a:r>
                    </a:p>
                  </a:txBody>
                  <a:tcPr/>
                </a:tc>
                <a:tc>
                  <a:txBody>
                    <a:bodyPr/>
                    <a:lstStyle/>
                    <a:p>
                      <a:pPr lvl="0" indent="0" marL="0" algn="r">
                        <a:buNone/>
                      </a:pPr>
                      <a:r>
                        <a:rPr/>
                        <a:t>Deploys</a:t>
                      </a:r>
                    </a:p>
                  </a:txBody>
                  <a:tcPr/>
                </a:tc>
              </a:tr>
              <a:tr h="0">
                <a:tc>
                  <a:txBody>
                    <a:bodyPr/>
                    <a:lstStyle/>
                    <a:p>
                      <a:pPr lvl="0" indent="0" marL="0">
                        <a:buNone/>
                      </a:pPr>
                      <a:r>
                        <a:rPr>
                          <a:latin typeface="Courier"/>
                        </a:rPr>
                        <a:t>terraform-delete-gha-workflow › delete_resource.yaml</a:t>
                      </a:r>
                    </a:p>
                  </a:txBody>
                </a:tc>
                <a:tc>
                  <a:txBody>
                    <a:bodyPr/>
                    <a:lstStyle/>
                    <a:p>
                      <a:pPr lvl="0" indent="0" marL="0" algn="r">
                        <a:buNone/>
                      </a:pPr>
                      <a:r>
                        <a:rPr>
                          <a:latin typeface="Courier"/>
                        </a:rPr>
                        <a:t>v2</a:t>
                      </a:r>
                    </a:p>
                  </a:txBody>
                </a:tc>
                <a:tc>
                  <a:txBody>
                    <a:bodyPr/>
                    <a:lstStyle/>
                    <a:p>
                      <a:pPr lvl="0" indent="0" marL="0" algn="r">
                        <a:buNone/>
                      </a:pPr>
                      <a:r>
                        <a:rPr b="1"/>
                        <a:t>246</a:t>
                      </a:r>
                    </a:p>
                  </a:txBody>
                </a:tc>
                <a:tc>
                  <a:txBody>
                    <a:bodyPr/>
                    <a:lstStyle/>
                    <a:p>
                      <a:pPr lvl="0" indent="0" marL="0" algn="r">
                        <a:buNone/>
                      </a:pPr>
                      <a:r>
                        <a:rPr/>
                        <a:t>yes</a:t>
                      </a:r>
                    </a:p>
                  </a:txBody>
                </a:tc>
              </a:tr>
              <a:tr h="0">
                <a:tc>
                  <a:txBody>
                    <a:bodyPr/>
                    <a:lstStyle/>
                    <a:p>
                      <a:pPr lvl="0" indent="0" marL="0">
                        <a:buNone/>
                      </a:pPr>
                      <a:r>
                        <a:rPr>
                          <a:latin typeface="Courier"/>
                        </a:rPr>
                        <a:t>terraform-unlock-gha-workflow › unlock_state.yaml</a:t>
                      </a:r>
                    </a:p>
                  </a:txBody>
                </a:tc>
                <a:tc>
                  <a:txBody>
                    <a:bodyPr/>
                    <a:lstStyle/>
                    <a:p>
                      <a:pPr lvl="0" indent="0" marL="0" algn="r">
                        <a:buNone/>
                      </a:pPr>
                      <a:r>
                        <a:rPr>
                          <a:latin typeface="Courier"/>
                        </a:rPr>
                        <a:t>v2</a:t>
                      </a:r>
                    </a:p>
                  </a:txBody>
                </a:tc>
                <a:tc>
                  <a:txBody>
                    <a:bodyPr/>
                    <a:lstStyle/>
                    <a:p>
                      <a:pPr lvl="0" indent="0" marL="0" algn="r">
                        <a:buNone/>
                      </a:pPr>
                      <a:r>
                        <a:rPr b="1"/>
                        <a:t>246</a:t>
                      </a:r>
                    </a:p>
                  </a:txBody>
                </a:tc>
                <a:tc>
                  <a:txBody>
                    <a:bodyPr/>
                    <a:lstStyle/>
                    <a:p>
                      <a:pPr lvl="0" indent="0" marL="0" algn="r">
                        <a:buNone/>
                      </a:pPr>
                      <a:r>
                        <a:rPr/>
                        <a:t>yes</a:t>
                      </a:r>
                    </a:p>
                  </a:txBody>
                </a:tc>
              </a:tr>
              <a:tr h="0">
                <a:tc>
                  <a:txBody>
                    <a:bodyPr/>
                    <a:lstStyle/>
                    <a:p>
                      <a:pPr lvl="0" indent="0" marL="0">
                        <a:buNone/>
                      </a:pPr>
                      <a:r>
                        <a:rPr>
                          <a:latin typeface="Courier"/>
                        </a:rPr>
                        <a:t>terraform-rename-gha-workflow › rename_resource.yaml</a:t>
                      </a:r>
                    </a:p>
                  </a:txBody>
                </a:tc>
                <a:tc>
                  <a:txBody>
                    <a:bodyPr/>
                    <a:lstStyle/>
                    <a:p>
                      <a:pPr lvl="0" indent="0" marL="0" algn="r">
                        <a:buNone/>
                      </a:pPr>
                      <a:r>
                        <a:rPr>
                          <a:latin typeface="Courier"/>
                        </a:rPr>
                        <a:t>v2</a:t>
                      </a:r>
                    </a:p>
                  </a:txBody>
                </a:tc>
                <a:tc>
                  <a:txBody>
                    <a:bodyPr/>
                    <a:lstStyle/>
                    <a:p>
                      <a:pPr lvl="0" indent="0" marL="0" algn="r">
                        <a:buNone/>
                      </a:pPr>
                      <a:r>
                        <a:rPr b="1"/>
                        <a:t>246</a:t>
                      </a:r>
                    </a:p>
                  </a:txBody>
                </a:tc>
                <a:tc>
                  <a:txBody>
                    <a:bodyPr/>
                    <a:lstStyle/>
                    <a:p>
                      <a:pPr lvl="0" indent="0" marL="0" algn="r">
                        <a:buNone/>
                      </a:pPr>
                      <a:r>
                        <a:rPr/>
                        <a:t>yes</a:t>
                      </a:r>
                    </a:p>
                  </a:txBody>
                </a:tc>
              </a:tr>
              <a:tr h="0">
                <a:tc>
                  <a:txBody>
                    <a:bodyPr/>
                    <a:lstStyle/>
                    <a:p>
                      <a:pPr lvl="0" indent="0" marL="0">
                        <a:buNone/>
                      </a:pPr>
                      <a:r>
                        <a:rPr>
                          <a:latin typeface="Courier"/>
                        </a:rPr>
                        <a:t>terraform-import-gha-workflow › import_resource.yaml</a:t>
                      </a:r>
                    </a:p>
                  </a:txBody>
                </a:tc>
                <a:tc>
                  <a:txBody>
                    <a:bodyPr/>
                    <a:lstStyle/>
                    <a:p>
                      <a:pPr lvl="0" indent="0" marL="0" algn="r">
                        <a:buNone/>
                      </a:pPr>
                      <a:r>
                        <a:rPr>
                          <a:latin typeface="Courier"/>
                        </a:rPr>
                        <a:t>v2</a:t>
                      </a:r>
                    </a:p>
                  </a:txBody>
                </a:tc>
                <a:tc>
                  <a:txBody>
                    <a:bodyPr/>
                    <a:lstStyle/>
                    <a:p>
                      <a:pPr lvl="0" indent="0" marL="0" algn="r">
                        <a:buNone/>
                      </a:pPr>
                      <a:r>
                        <a:rPr b="1"/>
                        <a:t>246</a:t>
                      </a:r>
                    </a:p>
                  </a:txBody>
                </a:tc>
                <a:tc>
                  <a:txBody>
                    <a:bodyPr/>
                    <a:lstStyle/>
                    <a:p>
                      <a:pPr lvl="0" indent="0" marL="0" algn="r">
                        <a:buNone/>
                      </a:pPr>
                      <a:r>
                        <a:rPr/>
                        <a:t>yes</a:t>
                      </a:r>
                    </a:p>
                  </a:txBody>
                </a:tc>
              </a:tr>
              <a:tr h="0">
                <a:tc>
                  <a:txBody>
                    <a:bodyPr/>
                    <a:lstStyle/>
                    <a:p>
                      <a:pPr lvl="0" indent="0" marL="0">
                        <a:buNone/>
                      </a:pPr>
                      <a:r>
                        <a:rPr>
                          <a:latin typeface="Courier"/>
                        </a:rPr>
                        <a:t>verify-secrets-gha-workflow › verify_secrets.yaml</a:t>
                      </a:r>
                    </a:p>
                  </a:txBody>
                </a:tc>
                <a:tc>
                  <a:txBody>
                    <a:bodyPr/>
                    <a:lstStyle/>
                    <a:p>
                      <a:pPr lvl="0" indent="0" marL="0" algn="r">
                        <a:buNone/>
                      </a:pPr>
                      <a:r>
                        <a:rPr>
                          <a:latin typeface="Courier"/>
                        </a:rPr>
                        <a:t>v1</a:t>
                      </a:r>
                    </a:p>
                  </a:txBody>
                </a:tc>
                <a:tc>
                  <a:txBody>
                    <a:bodyPr/>
                    <a:lstStyle/>
                    <a:p>
                      <a:pPr lvl="0" indent="0" marL="0" algn="r">
                        <a:buNone/>
                      </a:pPr>
                      <a:r>
                        <a:rPr b="1"/>
                        <a:t>107</a:t>
                      </a:r>
                    </a:p>
                  </a:txBody>
                </a:tc>
                <a:tc>
                  <a:txBody>
                    <a:bodyPr/>
                    <a:lstStyle/>
                    <a:p>
                      <a:pPr lvl="0" indent="0" marL="0" algn="r">
                        <a:buNone/>
                      </a:pPr>
                      <a:r>
                        <a:rPr/>
                        <a:t>—</a:t>
                      </a:r>
                    </a:p>
                  </a:txBody>
                </a:tc>
              </a:tr>
              <a:tr h="0">
                <a:tc>
                  <a:txBody>
                    <a:bodyPr/>
                    <a:lstStyle/>
                    <a:p>
                      <a:pPr lvl="0" indent="0" marL="0">
                        <a:buNone/>
                      </a:pPr>
                      <a:r>
                        <a:rPr>
                          <a:latin typeface="Courier"/>
                        </a:rPr>
                        <a:t>terraform-infra-ci-gha-workflow › terraform_ci.yaml</a:t>
                      </a:r>
                    </a:p>
                  </a:txBody>
                </a:tc>
                <a:tc>
                  <a:txBody>
                    <a:bodyPr/>
                    <a:lstStyle/>
                    <a:p>
                      <a:pPr lvl="0" indent="0" marL="0" algn="r">
                        <a:buNone/>
                      </a:pPr>
                      <a:r>
                        <a:rPr>
                          <a:latin typeface="Courier"/>
                        </a:rPr>
                        <a:t>v2</a:t>
                      </a:r>
                    </a:p>
                  </a:txBody>
                </a:tc>
                <a:tc>
                  <a:txBody>
                    <a:bodyPr/>
                    <a:lstStyle/>
                    <a:p>
                      <a:pPr lvl="0" indent="0" marL="0" algn="r">
                        <a:buNone/>
                      </a:pPr>
                      <a:r>
                        <a:rPr b="1"/>
                        <a:t>103</a:t>
                      </a:r>
                    </a:p>
                  </a:txBody>
                </a:tc>
                <a:tc>
                  <a:txBody>
                    <a:bodyPr/>
                    <a:lstStyle/>
                    <a:p>
                      <a:pPr lvl="0" indent="0" marL="0" algn="r">
                        <a:buNone/>
                      </a:pPr>
                      <a:r>
                        <a:rPr/>
                        <a:t>yes</a:t>
                      </a:r>
                    </a:p>
                  </a:txBody>
                </a:tc>
              </a:tr>
              <a:tr h="0">
                <a:tc>
                  <a:txBody>
                    <a:bodyPr/>
                    <a:lstStyle/>
                    <a:p>
                      <a:pPr lvl="0" indent="0" marL="0">
                        <a:buNone/>
                      </a:pPr>
                      <a:r>
                        <a:rPr>
                          <a:latin typeface="Courier"/>
                        </a:rPr>
                        <a:t>terraform-infra-cd-gha-workflow › terraform_cd.yaml</a:t>
                      </a:r>
                    </a:p>
                  </a:txBody>
                </a:tc>
                <a:tc>
                  <a:txBody>
                    <a:bodyPr/>
                    <a:lstStyle/>
                    <a:p>
                      <a:pPr lvl="0" indent="0" marL="0" algn="r">
                        <a:buNone/>
                      </a:pPr>
                      <a:r>
                        <a:rPr>
                          <a:latin typeface="Courier"/>
                        </a:rPr>
                        <a:t>v2</a:t>
                      </a:r>
                    </a:p>
                  </a:txBody>
                </a:tc>
                <a:tc>
                  <a:txBody>
                    <a:bodyPr/>
                    <a:lstStyle/>
                    <a:p>
                      <a:pPr lvl="0" indent="0" marL="0" algn="r">
                        <a:buNone/>
                      </a:pPr>
                      <a:r>
                        <a:rPr b="1"/>
                        <a:t>96</a:t>
                      </a:r>
                    </a:p>
                  </a:txBody>
                </a:tc>
                <a:tc>
                  <a:txBody>
                    <a:bodyPr/>
                    <a:lstStyle/>
                    <a:p>
                      <a:pPr lvl="0" indent="0" marL="0" algn="r">
                        <a:buNone/>
                      </a:pPr>
                      <a:r>
                        <a:rPr/>
                        <a:t>yes</a:t>
                      </a:r>
                    </a:p>
                  </a:txBody>
                </a:tc>
              </a:tr>
              <a:tr h="0">
                <a:tc>
                  <a:txBody>
                    <a:bodyPr/>
                    <a:lstStyle/>
                    <a:p>
                      <a:pPr lvl="0" indent="0" marL="0">
                        <a:buNone/>
                      </a:pPr>
                      <a:r>
                        <a:rPr>
                          <a:latin typeface="Courier"/>
                        </a:rPr>
                        <a:t>pr-comment-deploy-managed-api-gha-workflow › pr_comment_deploy.yaml</a:t>
                      </a:r>
                    </a:p>
                  </a:txBody>
                </a:tc>
                <a:tc>
                  <a:txBody>
                    <a:bodyPr/>
                    <a:lstStyle/>
                    <a:p>
                      <a:pPr lvl="0" indent="0" marL="0" algn="r">
                        <a:buNone/>
                      </a:pPr>
                      <a:r>
                        <a:rPr>
                          <a:latin typeface="Courier"/>
                        </a:rPr>
                        <a:t>v2</a:t>
                      </a:r>
                    </a:p>
                  </a:txBody>
                </a:tc>
                <a:tc>
                  <a:txBody>
                    <a:bodyPr/>
                    <a:lstStyle/>
                    <a:p>
                      <a:pPr lvl="0" indent="0" marL="0" algn="r">
                        <a:buNone/>
                      </a:pPr>
                      <a:r>
                        <a:rPr b="1"/>
                        <a:t>67</a:t>
                      </a:r>
                    </a:p>
                  </a:txBody>
                </a:tc>
                <a:tc>
                  <a:txBody>
                    <a:bodyPr/>
                    <a:lstStyle/>
                    <a:p>
                      <a:pPr lvl="0" indent="0" marL="0" algn="r">
                        <a:buNone/>
                      </a:pPr>
                      <a:r>
                        <a:rPr/>
                        <a:t>yes</a:t>
                      </a:r>
                    </a:p>
                  </a:txBody>
                </a:tc>
              </a:tr>
            </a:tbl>
          </a:graphicData>
        </a:graphic>
      </p:graphicFrame>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Problem 1 — the shared workflows that pass it onward (largest of 46) (2 of 2)</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1651000"/>
                <a:gridCol w="2197100"/>
                <a:gridCol w="2197100"/>
                <a:gridCol w="2197100"/>
              </a:tblGrid>
              <a:tr h="0">
                <a:tc>
                  <a:txBody>
                    <a:bodyPr/>
                    <a:lstStyle/>
                    <a:p>
                      <a:pPr lvl="0" indent="0" marL="0">
                        <a:buNone/>
                      </a:pPr>
                      <a:r>
                        <a:rPr/>
                        <a:t>Shared workflow</a:t>
                      </a:r>
                    </a:p>
                  </a:txBody>
                  <a:tcPr/>
                </a:tc>
                <a:tc>
                  <a:txBody>
                    <a:bodyPr/>
                    <a:lstStyle/>
                    <a:p>
                      <a:pPr lvl="0" indent="0" marL="0" algn="r">
                        <a:buNone/>
                      </a:pPr>
                      <a:r>
                        <a:rPr/>
                        <a:t>Ref</a:t>
                      </a:r>
                    </a:p>
                  </a:txBody>
                  <a:tcPr/>
                </a:tc>
                <a:tc>
                  <a:txBody>
                    <a:bodyPr/>
                    <a:lstStyle/>
                    <a:p>
                      <a:pPr lvl="0" indent="0" marL="0" algn="r">
                        <a:buNone/>
                      </a:pPr>
                      <a:r>
                        <a:rPr/>
                        <a:t>Consumers</a:t>
                      </a:r>
                    </a:p>
                  </a:txBody>
                  <a:tcPr/>
                </a:tc>
                <a:tc>
                  <a:txBody>
                    <a:bodyPr/>
                    <a:lstStyle/>
                    <a:p>
                      <a:pPr lvl="0" indent="0" marL="0" algn="r">
                        <a:buNone/>
                      </a:pPr>
                      <a:r>
                        <a:rPr/>
                        <a:t>Deploys</a:t>
                      </a:r>
                    </a:p>
                  </a:txBody>
                  <a:tcPr/>
                </a:tc>
              </a:tr>
              <a:tr h="0">
                <a:tc>
                  <a:txBody>
                    <a:bodyPr/>
                    <a:lstStyle/>
                    <a:p>
                      <a:pPr lvl="0" indent="0" marL="0">
                        <a:buNone/>
                      </a:pPr>
                      <a:r>
                        <a:rPr>
                          <a:latin typeface="Courier"/>
                        </a:rPr>
                        <a:t>managed-api-ci-gha-workflow › managed-api-ci.yaml</a:t>
                      </a:r>
                    </a:p>
                  </a:txBody>
                </a:tc>
                <a:tc>
                  <a:txBody>
                    <a:bodyPr/>
                    <a:lstStyle/>
                    <a:p>
                      <a:pPr lvl="0" indent="0" marL="0" algn="r">
                        <a:buNone/>
                      </a:pPr>
                      <a:r>
                        <a:rPr>
                          <a:latin typeface="Courier"/>
                        </a:rPr>
                        <a:t>v2</a:t>
                      </a:r>
                    </a:p>
                  </a:txBody>
                </a:tc>
                <a:tc>
                  <a:txBody>
                    <a:bodyPr/>
                    <a:lstStyle/>
                    <a:p>
                      <a:pPr lvl="0" indent="0" marL="0" algn="r">
                        <a:buNone/>
                      </a:pPr>
                      <a:r>
                        <a:rPr b="1"/>
                        <a:t>67</a:t>
                      </a:r>
                    </a:p>
                  </a:txBody>
                </a:tc>
                <a:tc>
                  <a:txBody>
                    <a:bodyPr/>
                    <a:lstStyle/>
                    <a:p>
                      <a:pPr lvl="0" indent="0" marL="0" algn="r">
                        <a:buNone/>
                      </a:pPr>
                      <a:r>
                        <a:rPr/>
                        <a:t>yes</a:t>
                      </a:r>
                    </a:p>
                  </a:txBody>
                </a:tc>
              </a:tr>
              <a:tr h="0">
                <a:tc>
                  <a:txBody>
                    <a:bodyPr/>
                    <a:lstStyle/>
                    <a:p>
                      <a:pPr lvl="0" indent="0" marL="0">
                        <a:buNone/>
                      </a:pPr>
                      <a:r>
                        <a:rPr>
                          <a:latin typeface="Courier"/>
                        </a:rPr>
                        <a:t>managed-api-cd-gha-workflow › managed-api-cd.yaml</a:t>
                      </a:r>
                    </a:p>
                  </a:txBody>
                </a:tc>
                <a:tc>
                  <a:txBody>
                    <a:bodyPr/>
                    <a:lstStyle/>
                    <a:p>
                      <a:pPr lvl="0" indent="0" marL="0" algn="r">
                        <a:buNone/>
                      </a:pPr>
                      <a:r>
                        <a:rPr>
                          <a:latin typeface="Courier"/>
                        </a:rPr>
                        <a:t>v2</a:t>
                      </a:r>
                    </a:p>
                  </a:txBody>
                </a:tc>
                <a:tc>
                  <a:txBody>
                    <a:bodyPr/>
                    <a:lstStyle/>
                    <a:p>
                      <a:pPr lvl="0" indent="0" marL="0" algn="r">
                        <a:buNone/>
                      </a:pPr>
                      <a:r>
                        <a:rPr b="1"/>
                        <a:t>66</a:t>
                      </a:r>
                    </a:p>
                  </a:txBody>
                </a:tc>
                <a:tc>
                  <a:txBody>
                    <a:bodyPr/>
                    <a:lstStyle/>
                    <a:p>
                      <a:pPr lvl="0" indent="0" marL="0" algn="r">
                        <a:buNone/>
                      </a:pPr>
                      <a:r>
                        <a:rPr/>
                        <a:t>yes</a:t>
                      </a:r>
                    </a:p>
                  </a:txBody>
                </a:tc>
              </a:tr>
              <a:tr h="0">
                <a:tc>
                  <a:txBody>
                    <a:bodyPr/>
                    <a:lstStyle/>
                    <a:p>
                      <a:pPr lvl="0" indent="0" marL="0">
                        <a:buNone/>
                      </a:pPr>
                      <a:r>
                        <a:rPr>
                          <a:latin typeface="Courier"/>
                        </a:rPr>
                        <a:t>pr-comment-deploy-function-app-gha-workflow › pr_comment_deploy.yaml</a:t>
                      </a:r>
                    </a:p>
                  </a:txBody>
                </a:tc>
                <a:tc>
                  <a:txBody>
                    <a:bodyPr/>
                    <a:lstStyle/>
                    <a:p>
                      <a:pPr lvl="0" indent="0" marL="0" algn="r">
                        <a:buNone/>
                      </a:pPr>
                      <a:r>
                        <a:rPr>
                          <a:latin typeface="Courier"/>
                        </a:rPr>
                        <a:t>v2</a:t>
                      </a:r>
                    </a:p>
                  </a:txBody>
                </a:tc>
                <a:tc>
                  <a:txBody>
                    <a:bodyPr/>
                    <a:lstStyle/>
                    <a:p>
                      <a:pPr lvl="0" indent="0" marL="0" algn="r">
                        <a:buNone/>
                      </a:pPr>
                      <a:r>
                        <a:rPr b="1"/>
                        <a:t>60</a:t>
                      </a:r>
                    </a:p>
                  </a:txBody>
                </a:tc>
                <a:tc>
                  <a:txBody>
                    <a:bodyPr/>
                    <a:lstStyle/>
                    <a:p>
                      <a:pPr lvl="0" indent="0" marL="0" algn="r">
                        <a:buNone/>
                      </a:pPr>
                      <a:r>
                        <a:rPr/>
                        <a:t>yes</a:t>
                      </a:r>
                    </a:p>
                  </a:txBody>
                </a:tc>
              </a:tr>
              <a:tr h="0">
                <a:tc>
                  <a:txBody>
                    <a:bodyPr/>
                    <a:lstStyle/>
                    <a:p>
                      <a:pPr lvl="0" indent="0" marL="0">
                        <a:buNone/>
                      </a:pPr>
                      <a:r>
                        <a:rPr>
                          <a:latin typeface="Courier"/>
                        </a:rPr>
                        <a:t>node-function-app-ci-gha-workflow › node-function-app-ci.yaml</a:t>
                      </a:r>
                    </a:p>
                  </a:txBody>
                </a:tc>
                <a:tc>
                  <a:txBody>
                    <a:bodyPr/>
                    <a:lstStyle/>
                    <a:p>
                      <a:pPr lvl="0" indent="0" marL="0" algn="r">
                        <a:buNone/>
                      </a:pPr>
                      <a:r>
                        <a:rPr>
                          <a:latin typeface="Courier"/>
                        </a:rPr>
                        <a:t>v2</a:t>
                      </a:r>
                    </a:p>
                  </a:txBody>
                </a:tc>
                <a:tc>
                  <a:txBody>
                    <a:bodyPr/>
                    <a:lstStyle/>
                    <a:p>
                      <a:pPr lvl="0" indent="0" marL="0" algn="r">
                        <a:buNone/>
                      </a:pPr>
                      <a:r>
                        <a:rPr b="1"/>
                        <a:t>55</a:t>
                      </a:r>
                    </a:p>
                  </a:txBody>
                </a:tc>
                <a:tc>
                  <a:txBody>
                    <a:bodyPr/>
                    <a:lstStyle/>
                    <a:p>
                      <a:pPr lvl="0" indent="0" marL="0" algn="r">
                        <a:buNone/>
                      </a:pPr>
                      <a:r>
                        <a:rPr/>
                        <a:t>yes</a:t>
                      </a:r>
                    </a:p>
                  </a:txBody>
                </a:tc>
              </a:tr>
              <a:tr h="0">
                <a:tc>
                  <a:txBody>
                    <a:bodyPr/>
                    <a:lstStyle/>
                    <a:p>
                      <a:pPr lvl="0" indent="0" marL="0">
                        <a:buNone/>
                      </a:pPr>
                      <a:r>
                        <a:rPr>
                          <a:latin typeface="Courier"/>
                        </a:rPr>
                        <a:t>node-function-app-cd-gha-workflow › node-function-app-cd.yaml</a:t>
                      </a:r>
                    </a:p>
                  </a:txBody>
                </a:tc>
                <a:tc>
                  <a:txBody>
                    <a:bodyPr/>
                    <a:lstStyle/>
                    <a:p>
                      <a:pPr lvl="0" indent="0" marL="0" algn="r">
                        <a:buNone/>
                      </a:pPr>
                      <a:r>
                        <a:rPr>
                          <a:latin typeface="Courier"/>
                        </a:rPr>
                        <a:t>v3</a:t>
                      </a:r>
                    </a:p>
                  </a:txBody>
                </a:tc>
                <a:tc>
                  <a:txBody>
                    <a:bodyPr/>
                    <a:lstStyle/>
                    <a:p>
                      <a:pPr lvl="0" indent="0" marL="0" algn="r">
                        <a:buNone/>
                      </a:pPr>
                      <a:r>
                        <a:rPr b="1"/>
                        <a:t>54</a:t>
                      </a:r>
                    </a:p>
                  </a:txBody>
                </a:tc>
                <a:tc>
                  <a:txBody>
                    <a:bodyPr/>
                    <a:lstStyle/>
                    <a:p>
                      <a:pPr lvl="0" indent="0" marL="0" algn="r">
                        <a:buNone/>
                      </a:pPr>
                      <a:r>
                        <a:rPr/>
                        <a:t>yes</a:t>
                      </a:r>
                    </a:p>
                  </a:txBody>
                </a:tc>
              </a:tr>
              <a:tr h="0">
                <a:tc>
                  <a:txBody>
                    <a:bodyPr/>
                    <a:lstStyle/>
                    <a:p>
                      <a:pPr lvl="0" indent="0" marL="0">
                        <a:buNone/>
                      </a:pPr>
                      <a:r>
                        <a:rPr>
                          <a:latin typeface="Courier"/>
                        </a:rPr>
                        <a:t>terraform-destroy-gha-workflow › destroy.yaml</a:t>
                      </a:r>
                    </a:p>
                  </a:txBody>
                </a:tc>
                <a:tc>
                  <a:txBody>
                    <a:bodyPr/>
                    <a:lstStyle/>
                    <a:p>
                      <a:pPr lvl="0" indent="0" marL="0" algn="r">
                        <a:buNone/>
                      </a:pPr>
                      <a:r>
                        <a:rPr>
                          <a:latin typeface="Courier"/>
                        </a:rPr>
                        <a:t>v1</a:t>
                      </a:r>
                    </a:p>
                  </a:txBody>
                </a:tc>
                <a:tc>
                  <a:txBody>
                    <a:bodyPr/>
                    <a:lstStyle/>
                    <a:p>
                      <a:pPr lvl="0" indent="0" marL="0" algn="r">
                        <a:buNone/>
                      </a:pPr>
                      <a:r>
                        <a:rPr b="1"/>
                        <a:t>39</a:t>
                      </a:r>
                    </a:p>
                  </a:txBody>
                </a:tc>
                <a:tc>
                  <a:txBody>
                    <a:bodyPr/>
                    <a:lstStyle/>
                    <a:p>
                      <a:pPr lvl="0" indent="0" marL="0" algn="r">
                        <a:buNone/>
                      </a:pPr>
                      <a:r>
                        <a:rPr/>
                        <a:t>yes</a:t>
                      </a:r>
                    </a:p>
                  </a:txBody>
                </a:tc>
              </a:tr>
              <a:tr h="0">
                <a:tc>
                  <a:txBody>
                    <a:bodyPr/>
                    <a:lstStyle/>
                    <a:p>
                      <a:pPr lvl="0" indent="0" marL="0">
                        <a:buNone/>
                      </a:pPr>
                      <a:r>
                        <a:rPr>
                          <a:latin typeface="Courier"/>
                        </a:rPr>
                        <a:t>terraform-module-ci-gha-workflow › terraform_module_ci.yaml</a:t>
                      </a:r>
                    </a:p>
                  </a:txBody>
                </a:tc>
                <a:tc>
                  <a:txBody>
                    <a:bodyPr/>
                    <a:lstStyle/>
                    <a:p>
                      <a:pPr lvl="0" indent="0" marL="0" algn="r">
                        <a:buNone/>
                      </a:pPr>
                      <a:r>
                        <a:rPr>
                          <a:latin typeface="Courier"/>
                        </a:rPr>
                        <a:t>v1</a:t>
                      </a:r>
                    </a:p>
                  </a:txBody>
                </a:tc>
                <a:tc>
                  <a:txBody>
                    <a:bodyPr/>
                    <a:lstStyle/>
                    <a:p>
                      <a:pPr lvl="0" indent="0" marL="0" algn="r">
                        <a:buNone/>
                      </a:pPr>
                      <a:r>
                        <a:rPr b="1"/>
                        <a:t>21</a:t>
                      </a:r>
                    </a:p>
                  </a:txBody>
                </a:tc>
                <a:tc>
                  <a:txBody>
                    <a:bodyPr/>
                    <a:lstStyle/>
                    <a:p>
                      <a:pPr lvl="0" indent="0" marL="0" algn="r">
                        <a:buNone/>
                      </a:pPr>
                      <a:r>
                        <a:rPr/>
                        <a:t>—</a:t>
                      </a:r>
                    </a:p>
                  </a:txBody>
                </a:tc>
              </a:tr>
              <a:tr h="0">
                <a:tc>
                  <a:txBody>
                    <a:bodyPr/>
                    <a:lstStyle/>
                    <a:p>
                      <a:pPr lvl="0" indent="0" marL="0">
                        <a:buNone/>
                      </a:pPr>
                      <a:r>
                        <a:rPr>
                          <a:latin typeface="Courier"/>
                        </a:rPr>
                        <a:t>node-multi-deployment-function-app-ci-gha-workflow › node-multi-deployment-function-app-ci.yaml</a:t>
                      </a:r>
                    </a:p>
                  </a:txBody>
                </a:tc>
                <a:tc>
                  <a:txBody>
                    <a:bodyPr/>
                    <a:lstStyle/>
                    <a:p>
                      <a:pPr lvl="0" indent="0" marL="0" algn="r">
                        <a:buNone/>
                      </a:pPr>
                      <a:r>
                        <a:rPr>
                          <a:latin typeface="Courier"/>
                        </a:rPr>
                        <a:t>v2</a:t>
                      </a:r>
                    </a:p>
                  </a:txBody>
                </a:tc>
                <a:tc>
                  <a:txBody>
                    <a:bodyPr/>
                    <a:lstStyle/>
                    <a:p>
                      <a:pPr lvl="0" indent="0" marL="0" algn="r">
                        <a:buNone/>
                      </a:pPr>
                      <a:r>
                        <a:rPr b="1"/>
                        <a:t>13</a:t>
                      </a:r>
                    </a:p>
                  </a:txBody>
                </a:tc>
                <a:tc>
                  <a:txBody>
                    <a:bodyPr/>
                    <a:lstStyle/>
                    <a:p>
                      <a:pPr lvl="0" indent="0" marL="0" algn="r">
                        <a:buNone/>
                      </a:pPr>
                      <a:r>
                        <a:rPr/>
                        <a:t>yes</a:t>
                      </a:r>
                    </a:p>
                  </a:txBody>
                </a:tc>
              </a:tr>
            </a:tbl>
          </a:graphicData>
        </a:graphic>
      </p:graphicFrame>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Problem 1 — the remaining shared workflows (1 of 2)</a:t>
            </a:r>
          </a:p>
        </p:txBody>
      </p:sp>
      <p:sp>
        <p:nvSpPr>
          <p:cNvPr id="4" name="Text Placeholder 3"/>
          <p:cNvSpPr>
            <a:spLocks noGrp="1"/>
          </p:cNvSpPr>
          <p:nvPr>
            <p:ph idx="2" sz="half" type="body"/>
          </p:nvPr>
        </p:nvSpPr>
        <p:spPr/>
        <p:txBody>
          <a:bodyPr/>
          <a:lstStyle/>
          <a:p>
            <a:pPr lvl="0" indent="0" marL="0">
              <a:buNone/>
            </a:pPr>
            <a:r>
              <a:rPr/>
              <a:t>The other 30 definitions, each passing the whole secrets context onward. Smaller consumer counts, same mechanism.</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0" bandRow="1">
                <a:tableStyleId>{5C22544A-7EE6-4342-B048-85BDC9FD1C3A}</a:tableStyleId>
              </a:tblPr>
              <a:tblGrid>
                <a:gridCol w="2552700"/>
                <a:gridCol w="2552700"/>
              </a:tblGrid>
              <a:tr h="0">
                <a:tc>
                  <a:txBody>
                    <a:bodyPr/>
                    <a:lstStyle/>
                    <a:p>
                      <a:pPr lvl="0" indent="0" marL="0">
                        <a:buNone/>
                      </a:pPr>
                      <a:r>
                        <a:rPr>
                          <a:latin typeface="Courier"/>
                        </a:rPr>
                        <a:t>node-multi-deployment-function-app-cd-gha-workflow@v4</a:t>
                      </a:r>
                    </a:p>
                  </a:txBody>
                </a:tc>
                <a:tc>
                  <a:txBody>
                    <a:bodyPr/>
                    <a:lstStyle/>
                    <a:p>
                      <a:pPr lvl="0" indent="0" marL="0">
                        <a:buNone/>
                      </a:pPr>
                      <a:r>
                        <a:rPr>
                          <a:latin typeface="Courier"/>
                        </a:rPr>
                        <a:t>pr-comment-deploy-multi-deployment-function-app-gha-workflow@v2</a:t>
                      </a:r>
                    </a:p>
                  </a:txBody>
                </a:tc>
              </a:tr>
              <a:tr h="0">
                <a:tc>
                  <a:txBody>
                    <a:bodyPr/>
                    <a:lstStyle/>
                    <a:p>
                      <a:pPr lvl="0" indent="0" marL="0">
                        <a:buNone/>
                      </a:pPr>
                      <a:r>
                        <a:rPr>
                          <a:latin typeface="Courier"/>
                        </a:rPr>
                        <a:t>static-web-app-cd-gha-workflow@v1</a:t>
                      </a:r>
                    </a:p>
                  </a:txBody>
                </a:tc>
                <a:tc>
                  <a:txBody>
                    <a:bodyPr/>
                    <a:lstStyle/>
                    <a:p>
                      <a:pPr lvl="0" indent="0" marL="0">
                        <a:buNone/>
                      </a:pPr>
                      <a:r>
                        <a:rPr>
                          <a:latin typeface="Courier"/>
                        </a:rPr>
                        <a:t>java-maven-ci-gha-workflow@v2</a:t>
                      </a:r>
                    </a:p>
                  </a:txBody>
                </a:tc>
              </a:tr>
              <a:tr h="0">
                <a:tc>
                  <a:txBody>
                    <a:bodyPr/>
                    <a:lstStyle/>
                    <a:p>
                      <a:pPr lvl="0" indent="0" marL="0">
                        <a:buNone/>
                      </a:pPr>
                      <a:r>
                        <a:rPr>
                          <a:latin typeface="Courier"/>
                        </a:rPr>
                        <a:t>logic-app-ci-gha-workflow@v1</a:t>
                      </a:r>
                    </a:p>
                  </a:txBody>
                </a:tc>
                <a:tc>
                  <a:txBody>
                    <a:bodyPr/>
                    <a:lstStyle/>
                    <a:p>
                      <a:pPr lvl="0" indent="0" marL="0">
                        <a:buNone/>
                      </a:pPr>
                      <a:r>
                        <a:rPr>
                          <a:latin typeface="Courier"/>
                        </a:rPr>
                        <a:t>terraform-module-ci-gha-workflow@v2</a:t>
                      </a:r>
                    </a:p>
                  </a:txBody>
                </a:tc>
              </a:tr>
              <a:tr h="0">
                <a:tc>
                  <a:txBody>
                    <a:bodyPr/>
                    <a:lstStyle/>
                    <a:p>
                      <a:pPr lvl="0" indent="0" marL="0">
                        <a:buNone/>
                      </a:pPr>
                      <a:r>
                        <a:rPr>
                          <a:latin typeface="Courier"/>
                        </a:rPr>
                        <a:t>logic-app-cd-gha-workflow@v1</a:t>
                      </a:r>
                    </a:p>
                  </a:txBody>
                </a:tc>
                <a:tc>
                  <a:txBody>
                    <a:bodyPr/>
                    <a:lstStyle/>
                    <a:p>
                      <a:pPr lvl="0" indent="0" marL="0">
                        <a:buNone/>
                      </a:pPr>
                      <a:r>
                        <a:rPr>
                          <a:latin typeface="Courier"/>
                        </a:rPr>
                        <a:t>pr-comment-deploy-logic-app-gha-workflow@v1</a:t>
                      </a:r>
                    </a:p>
                  </a:txBody>
                </a:tc>
              </a:tr>
              <a:tr h="0">
                <a:tc>
                  <a:txBody>
                    <a:bodyPr/>
                    <a:lstStyle/>
                    <a:p>
                      <a:pPr lvl="0" indent="0" marL="0">
                        <a:buNone/>
                      </a:pPr>
                      <a:r>
                        <a:rPr>
                          <a:latin typeface="Courier"/>
                        </a:rPr>
                        <a:t>container-app-ci-gha-workflow@v1</a:t>
                      </a:r>
                    </a:p>
                  </a:txBody>
                </a:tc>
                <a:tc>
                  <a:txBody>
                    <a:bodyPr/>
                    <a:lstStyle/>
                    <a:p>
                      <a:pPr lvl="0" indent="0" marL="0">
                        <a:buNone/>
                      </a:pPr>
                      <a:r>
                        <a:rPr>
                          <a:latin typeface="Courier"/>
                        </a:rPr>
                        <a:t>container-app-cd-gha-workflow@v1</a:t>
                      </a:r>
                    </a:p>
                  </a:txBody>
                </a:tc>
              </a:tr>
              <a:tr h="0">
                <a:tc>
                  <a:txBody>
                    <a:bodyPr/>
                    <a:lstStyle/>
                    <a:p>
                      <a:pPr lvl="0" indent="0" marL="0">
                        <a:buNone/>
                      </a:pPr>
                      <a:r>
                        <a:rPr>
                          <a:latin typeface="Courier"/>
                        </a:rPr>
                        <a:t>terraform-delete-gha-workflow@v1</a:t>
                      </a:r>
                    </a:p>
                  </a:txBody>
                </a:tc>
                <a:tc>
                  <a:txBody>
                    <a:bodyPr/>
                    <a:lstStyle/>
                    <a:p>
                      <a:pPr lvl="0" indent="0" marL="0">
                        <a:buNone/>
                      </a:pPr>
                      <a:r>
                        <a:rPr>
                          <a:latin typeface="Courier"/>
                        </a:rPr>
                        <a:t>terraform-import-gha-workflow@v1</a:t>
                      </a:r>
                    </a:p>
                  </a:txBody>
                </a:tc>
              </a:tr>
              <a:tr h="0">
                <a:tc>
                  <a:txBody>
                    <a:bodyPr/>
                    <a:lstStyle/>
                    <a:p>
                      <a:pPr lvl="0" indent="0" marL="0">
                        <a:buNone/>
                      </a:pPr>
                      <a:r>
                        <a:rPr>
                          <a:latin typeface="Courier"/>
                        </a:rPr>
                        <a:t>terraform-rename-gha-workflow@v1</a:t>
                      </a:r>
                    </a:p>
                  </a:txBody>
                </a:tc>
                <a:tc>
                  <a:txBody>
                    <a:bodyPr/>
                    <a:lstStyle/>
                    <a:p>
                      <a:pPr lvl="0" indent="0" marL="0">
                        <a:buNone/>
                      </a:pPr>
                      <a:r>
                        <a:rPr>
                          <a:latin typeface="Courier"/>
                        </a:rPr>
                        <a:t>terraform-unlock-gha-workflow@v1</a:t>
                      </a:r>
                    </a:p>
                  </a:txBody>
                </a:tc>
              </a:tr>
              <a:tr h="0">
                <a:tc>
                  <a:txBody>
                    <a:bodyPr/>
                    <a:lstStyle/>
                    <a:p>
                      <a:pPr lvl="0" indent="0" marL="0">
                        <a:buNone/>
                      </a:pPr>
                      <a:r>
                        <a:rPr>
                          <a:latin typeface="Courier"/>
                        </a:rPr>
                        <a:t>xslt-mapping-cd-gha-workflow@v1</a:t>
                      </a:r>
                    </a:p>
                  </a:txBody>
                </a:tc>
                <a:tc>
                  <a:txBody>
                    <a:bodyPr/>
                    <a:lstStyle/>
                    <a:p>
                      <a:pPr lvl="0" indent="0" marL="0">
                        <a:buNone/>
                      </a:pPr>
                      <a:r>
                        <a:rPr>
                          <a:latin typeface="Courier"/>
                        </a:rPr>
                        <a:t>xslt-mapping-ci-gha-workflow@v1</a:t>
                      </a:r>
                    </a:p>
                  </a:txBody>
                </a:tc>
              </a:tr>
            </a:tbl>
          </a:graphicData>
        </a:graphic>
      </p:graphicFrame>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Problem 1 — the remaining shared workflows (2 of 2)</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0" bandRow="1">
                <a:tableStyleId>{5C22544A-7EE6-4342-B048-85BDC9FD1C3A}</a:tableStyleId>
              </a:tblPr>
              <a:tblGrid>
                <a:gridCol w="4114800"/>
                <a:gridCol w="4114800"/>
              </a:tblGrid>
              <a:tr h="0">
                <a:tc>
                  <a:txBody>
                    <a:bodyPr/>
                    <a:lstStyle/>
                    <a:p>
                      <a:pPr lvl="0" indent="0" marL="0">
                        <a:buNone/>
                      </a:pPr>
                      <a:r>
                        <a:rPr>
                          <a:latin typeface="Courier"/>
                        </a:rPr>
                        <a:t>terraform-infra-cd-gha-workflow@v1</a:t>
                      </a:r>
                    </a:p>
                  </a:txBody>
                </a:tc>
                <a:tc>
                  <a:txBody>
                    <a:bodyPr/>
                    <a:lstStyle/>
                    <a:p>
                      <a:pPr lvl="0" indent="0" marL="0">
                        <a:buNone/>
                      </a:pPr>
                      <a:r>
                        <a:rPr>
                          <a:latin typeface="Courier"/>
                        </a:rPr>
                        <a:t>terraform-infra-ci-gha-workflow@v1</a:t>
                      </a:r>
                    </a:p>
                  </a:txBody>
                </a:tc>
              </a:tr>
              <a:tr h="0">
                <a:tc>
                  <a:txBody>
                    <a:bodyPr/>
                    <a:lstStyle/>
                    <a:p>
                      <a:pPr lvl="0" indent="0" marL="0">
                        <a:buNone/>
                      </a:pPr>
                      <a:r>
                        <a:rPr>
                          <a:latin typeface="Courier"/>
                        </a:rPr>
                        <a:t>web-app-cd-gha-workflow@v2</a:t>
                      </a:r>
                    </a:p>
                  </a:txBody>
                </a:tc>
                <a:tc>
                  <a:txBody>
                    <a:bodyPr/>
                    <a:lstStyle/>
                    <a:p>
                      <a:pPr lvl="0" indent="0" marL="0">
                        <a:buNone/>
                      </a:pPr>
                      <a:r>
                        <a:rPr>
                          <a:latin typeface="Courier"/>
                        </a:rPr>
                        <a:t>web-app-ci-gha-workflow@v2</a:t>
                      </a:r>
                    </a:p>
                  </a:txBody>
                </a:tc>
              </a:tr>
              <a:tr h="0">
                <a:tc>
                  <a:txBody>
                    <a:bodyPr/>
                    <a:lstStyle/>
                    <a:p>
                      <a:pPr lvl="0" indent="0" marL="0">
                        <a:buNone/>
                      </a:pPr>
                      <a:r>
                        <a:rPr>
                          <a:latin typeface="Courier"/>
                        </a:rPr>
                        <a:t>java-maven-ci-gha-workflow@secrets-to-env-vars</a:t>
                      </a:r>
                    </a:p>
                  </a:txBody>
                </a:tc>
                <a:tc>
                  <a:txBody>
                    <a:bodyPr/>
                    <a:lstStyle/>
                    <a:p>
                      <a:pPr lvl="0" indent="0" marL="0">
                        <a:buNone/>
                      </a:pPr>
                      <a:r>
                        <a:rPr>
                          <a:latin typeface="Courier"/>
                        </a:rPr>
                        <a:t>logic-app-cd-gha-workflow@add-copilot-agent-fix</a:t>
                      </a:r>
                    </a:p>
                  </a:txBody>
                </a:tc>
              </a:tr>
              <a:tr h="0">
                <a:tc>
                  <a:txBody>
                    <a:bodyPr/>
                    <a:lstStyle/>
                    <a:p>
                      <a:pPr lvl="0" indent="0" marL="0">
                        <a:buNone/>
                      </a:pPr>
                      <a:r>
                        <a:rPr>
                          <a:latin typeface="Courier"/>
                        </a:rPr>
                        <a:t>node-function-app-cd-gha-workflow@new-test</a:t>
                      </a:r>
                    </a:p>
                  </a:txBody>
                </a:tc>
                <a:tc>
                  <a:txBody>
                    <a:bodyPr/>
                    <a:lstStyle/>
                    <a:p>
                      <a:pPr lvl="0" indent="0" marL="0">
                        <a:buNone/>
                      </a:pPr>
                      <a:r>
                        <a:rPr>
                          <a:latin typeface="Courier"/>
                        </a:rPr>
                        <a:t>node-function-app-cd-gha-workflow@v2</a:t>
                      </a:r>
                    </a:p>
                  </a:txBody>
                </a:tc>
              </a:tr>
              <a:tr h="0">
                <a:tc>
                  <a:txBody>
                    <a:bodyPr/>
                    <a:lstStyle/>
                    <a:p>
                      <a:pPr lvl="0" indent="0" marL="0">
                        <a:buNone/>
                      </a:pPr>
                      <a:r>
                        <a:rPr>
                          <a:latin typeface="Courier"/>
                        </a:rPr>
                        <a:t>node-function-app-ci-gha-workflow@v1</a:t>
                      </a:r>
                    </a:p>
                  </a:txBody>
                </a:tc>
                <a:tc>
                  <a:txBody>
                    <a:bodyPr/>
                    <a:lstStyle/>
                    <a:p>
                      <a:pPr lvl="0" indent="0" marL="0">
                        <a:buNone/>
                      </a:pPr>
                      <a:r>
                        <a:rPr>
                          <a:latin typeface="Courier"/>
                        </a:rPr>
                        <a:t>pr-comment-deploy-function-app-gha-workflow@main</a:t>
                      </a:r>
                    </a:p>
                  </a:txBody>
                </a:tc>
              </a:tr>
              <a:tr h="0">
                <a:tc>
                  <a:txBody>
                    <a:bodyPr/>
                    <a:lstStyle/>
                    <a:p>
                      <a:pPr lvl="0" indent="0" marL="0">
                        <a:buNone/>
                      </a:pPr>
                      <a:r>
                        <a:rPr>
                          <a:latin typeface="Courier"/>
                        </a:rPr>
                        <a:t>pr-comment-deploy-infra-gha-workflow@v1</a:t>
                      </a:r>
                    </a:p>
                  </a:txBody>
                </a:tc>
                <a:tc>
                  <a:txBody>
                    <a:bodyPr/>
                    <a:lstStyle/>
                    <a:p>
                      <a:pPr lvl="0" indent="0" marL="0">
                        <a:buNone/>
                      </a:pPr>
                      <a:r>
                        <a:rPr>
                          <a:latin typeface="Courier"/>
                        </a:rPr>
                        <a:t>pr-comment-deploy-managed-api-gha-workflow@test-update4</a:t>
                      </a:r>
                    </a:p>
                  </a:txBody>
                </a:tc>
              </a:tr>
              <a:tr h="0">
                <a:tc>
                  <a:txBody>
                    <a:bodyPr/>
                    <a:lstStyle/>
                    <a:p>
                      <a:pPr lvl="0" indent="0" marL="0">
                        <a:buNone/>
                      </a:pPr>
                      <a:r>
                        <a:rPr>
                          <a:latin typeface="Courier"/>
                        </a:rPr>
                        <a:t>python-function-app-ci-gha-workflow@initial-creation</a:t>
                      </a:r>
                    </a:p>
                  </a:txBody>
                </a:tc>
                <a:tc>
                  <a:txBody>
                    <a:bodyPr/>
                    <a:lstStyle/>
                    <a:p>
                      <a:pPr lvl="0" indent="0" marL="0">
                        <a:buNone/>
                      </a:pPr>
                      <a:r>
                        <a:rPr>
                          <a:latin typeface="Courier"/>
                        </a:rPr>
                        <a:t>terraform-destroy-gha-workflow@initial-code</a:t>
                      </a:r>
                    </a:p>
                  </a:txBody>
                </a:tc>
              </a:tr>
            </a:tbl>
          </a:graphicData>
        </a:graphic>
      </p:graphicFrame>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Problem 2 — projects that run supplier code on sight (1 of 5)</a:t>
            </a:r>
          </a:p>
        </p:txBody>
      </p:sp>
      <p:sp>
        <p:nvSpPr>
          <p:cNvPr id="4" name="Text Placeholder 3"/>
          <p:cNvSpPr>
            <a:spLocks noGrp="1"/>
          </p:cNvSpPr>
          <p:nvPr>
            <p:ph idx="2" sz="half" type="body"/>
          </p:nvPr>
        </p:nvSpPr>
        <p:spPr/>
        <p:txBody>
          <a:bodyPr/>
          <a:lstStyle/>
          <a:p>
            <a:pPr lvl="0" indent="0" marL="0">
              <a:buNone/>
            </a:pPr>
            <a:r>
              <a:rPr/>
              <a:t>All </a:t>
            </a:r>
            <a:r>
              <a:rPr b="1"/>
              <a:t>94</a:t>
            </a:r>
            <a:r>
              <a:rPr/>
              <a:t> of them. Each needs </a:t>
            </a:r>
            <a:r>
              <a:rPr>
                <a:latin typeface="Courier"/>
              </a:rPr>
              <a:t>--ignore-scripts</a:t>
            </a:r>
            <a:r>
              <a:rPr/>
              <a:t> on its install command, or </a:t>
            </a:r>
            <a:r>
              <a:rPr>
                <a:latin typeface="Courier"/>
              </a:rPr>
              <a:t>ignore-scripts=true</a:t>
            </a:r>
            <a:r>
              <a:rPr/>
              <a:t> in an </a:t>
            </a:r>
            <a:r>
              <a:rPr>
                <a:latin typeface="Courier"/>
              </a:rPr>
              <a:t>.npmrc</a:t>
            </a:r>
            <a:r>
              <a:rPr/>
              <a:t> committed at the repository root.</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0" bandRow="1">
                <a:tableStyleId>{5C22544A-7EE6-4342-B048-85BDC9FD1C3A}</a:tableStyleId>
              </a:tblPr>
              <a:tblGrid>
                <a:gridCol w="2552700"/>
                <a:gridCol w="2552700"/>
              </a:tblGrid>
              <a:tr h="0">
                <a:tc>
                  <a:txBody>
                    <a:bodyPr/>
                    <a:lstStyle/>
                    <a:p>
                      <a:pPr lvl="0" indent="0" marL="0">
                        <a:buNone/>
                      </a:pPr>
                      <a:r>
                        <a:rPr>
                          <a:latin typeface="Courier"/>
                        </a:rPr>
                        <a:t>SleepNumber/.com</a:t>
                      </a:r>
                    </a:p>
                  </a:txBody>
                </a:tc>
                <a:tc>
                  <a:txBody>
                    <a:bodyPr/>
                    <a:lstStyle/>
                    <a:p>
                      <a:pPr lvl="0" indent="0" marL="0">
                        <a:buNone/>
                      </a:pPr>
                      <a:r>
                        <a:rPr>
                          <a:latin typeface="Courier"/>
                        </a:rPr>
                        <a:t>SleepNumber/actions-sandbox</a:t>
                      </a:r>
                    </a:p>
                  </a:txBody>
                </a:tc>
              </a:tr>
              <a:tr h="0">
                <a:tc>
                  <a:txBody>
                    <a:bodyPr/>
                    <a:lstStyle/>
                    <a:p>
                      <a:pPr lvl="0" indent="0" marL="0">
                        <a:buNone/>
                      </a:pPr>
                      <a:r>
                        <a:rPr>
                          <a:latin typeface="Courier"/>
                        </a:rPr>
                        <a:t>SleepNumber/sleepcms</a:t>
                      </a:r>
                    </a:p>
                  </a:txBody>
                </a:tc>
                <a:tc>
                  <a:txBody>
                    <a:bodyPr/>
                    <a:lstStyle/>
                    <a:p>
                      <a:pPr lvl="0" indent="0" marL="0">
                        <a:buNone/>
                      </a:pPr>
                      <a:r>
                        <a:rPr>
                          <a:latin typeface="Courier"/>
                        </a:rPr>
                        <a:t>SleepNumber/sndotcom</a:t>
                      </a:r>
                    </a:p>
                  </a:txBody>
                </a:tc>
              </a:tr>
              <a:tr h="0">
                <a:tc>
                  <a:txBody>
                    <a:bodyPr/>
                    <a:lstStyle/>
                    <a:p>
                      <a:pPr lvl="0" indent="0" marL="0">
                        <a:buNone/>
                      </a:pPr>
                      <a:r>
                        <a:rPr>
                          <a:latin typeface="Courier"/>
                        </a:rPr>
                        <a:t>SleepNumber/vtex-boilerplate-app</a:t>
                      </a:r>
                    </a:p>
                  </a:txBody>
                </a:tc>
                <a:tc>
                  <a:txBody>
                    <a:bodyPr/>
                    <a:lstStyle/>
                    <a:p>
                      <a:pPr lvl="0" indent="0" marL="0">
                        <a:buNone/>
                      </a:pPr>
                      <a:r>
                        <a:rPr>
                          <a:latin typeface="Courier"/>
                        </a:rPr>
                        <a:t>SleepNumberInc/App-Factory-Trial</a:t>
                      </a:r>
                    </a:p>
                  </a:txBody>
                </a:tc>
              </a:tr>
              <a:tr h="0">
                <a:tc>
                  <a:txBody>
                    <a:bodyPr/>
                    <a:lstStyle/>
                    <a:p>
                      <a:pPr lvl="0" indent="0" marL="0">
                        <a:buNone/>
                      </a:pPr>
                      <a:r>
                        <a:rPr>
                          <a:latin typeface="Courier"/>
                        </a:rPr>
                        <a:t>SleepNumberInc/Azure-Function-Node-POC</a:t>
                      </a:r>
                    </a:p>
                  </a:txBody>
                </a:tc>
                <a:tc>
                  <a:txBody>
                    <a:bodyPr/>
                    <a:lstStyle/>
                    <a:p>
                      <a:pPr lvl="0" indent="0" marL="0">
                        <a:buNone/>
                      </a:pPr>
                      <a:r>
                        <a:rPr>
                          <a:latin typeface="Courier"/>
                        </a:rPr>
                        <a:t>SleepNumberInc/Azure-Integrations-Managed-APIs</a:t>
                      </a:r>
                    </a:p>
                  </a:txBody>
                </a:tc>
              </a:tr>
              <a:tr h="0">
                <a:tc>
                  <a:txBody>
                    <a:bodyPr/>
                    <a:lstStyle/>
                    <a:p>
                      <a:pPr lvl="0" indent="0" marL="0">
                        <a:buNone/>
                      </a:pPr>
                      <a:r>
                        <a:rPr>
                          <a:latin typeface="Courier"/>
                        </a:rPr>
                        <a:t>SleepNumberInc/AzureIntegration</a:t>
                      </a:r>
                    </a:p>
                  </a:txBody>
                </a:tc>
                <a:tc>
                  <a:txBody>
                    <a:bodyPr/>
                    <a:lstStyle/>
                    <a:p>
                      <a:pPr lvl="0" indent="0" marL="0">
                        <a:buNone/>
                      </a:pPr>
                      <a:r>
                        <a:rPr>
                          <a:latin typeface="Courier"/>
                        </a:rPr>
                        <a:t>SleepNumberInc/ProductCatalogLogicAppsTests</a:t>
                      </a:r>
                    </a:p>
                  </a:txBody>
                </a:tc>
              </a:tr>
              <a:tr h="0">
                <a:tc>
                  <a:txBody>
                    <a:bodyPr/>
                    <a:lstStyle/>
                    <a:p>
                      <a:pPr lvl="0" indent="0" marL="0">
                        <a:buNone/>
                      </a:pPr>
                      <a:r>
                        <a:rPr>
                          <a:latin typeface="Courier"/>
                        </a:rPr>
                        <a:t>SleepNumberInc/SCM-Supplier-Stock-Automation-fna</a:t>
                      </a:r>
                    </a:p>
                  </a:txBody>
                </a:tc>
                <a:tc>
                  <a:txBody>
                    <a:bodyPr/>
                    <a:lstStyle/>
                    <a:p>
                      <a:pPr lvl="0" indent="0" marL="0">
                        <a:buNone/>
                      </a:pPr>
                      <a:r>
                        <a:rPr>
                          <a:latin typeface="Courier"/>
                        </a:rPr>
                        <a:t>SleepNumberInc/Workforce-Mgmt-Managed-APIs</a:t>
                      </a:r>
                    </a:p>
                  </a:txBody>
                </a:tc>
              </a:tr>
              <a:tr h="0">
                <a:tc>
                  <a:txBody>
                    <a:bodyPr/>
                    <a:lstStyle/>
                    <a:p>
                      <a:pPr lvl="0" indent="0" marL="0">
                        <a:buNone/>
                      </a:pPr>
                      <a:r>
                        <a:rPr>
                          <a:latin typeface="Courier"/>
                        </a:rPr>
                        <a:t>SleepNumberInc/authorize</a:t>
                      </a:r>
                    </a:p>
                  </a:txBody>
                </a:tc>
                <a:tc>
                  <a:txBody>
                    <a:bodyPr/>
                    <a:lstStyle/>
                    <a:p>
                      <a:pPr lvl="0" indent="0" marL="0">
                        <a:buNone/>
                      </a:pPr>
                      <a:r>
                        <a:rPr>
                          <a:latin typeface="Courier"/>
                        </a:rPr>
                        <a:t>SleepNumberInc/aws-waf-blocked-ip-ruleset-cron</a:t>
                      </a:r>
                    </a:p>
                  </a:txBody>
                </a:tc>
              </a:tr>
              <a:tr h="0">
                <a:tc>
                  <a:txBody>
                    <a:bodyPr/>
                    <a:lstStyle/>
                    <a:p>
                      <a:pPr lvl="0" indent="0" marL="0">
                        <a:buNone/>
                      </a:pPr>
                      <a:r>
                        <a:rPr>
                          <a:latin typeface="Courier"/>
                        </a:rPr>
                        <a:t>SleepNumberInc/cognito-user-pool-maintenance</a:t>
                      </a:r>
                    </a:p>
                  </a:txBody>
                </a:tc>
                <a:tc>
                  <a:txBody>
                    <a:bodyPr/>
                    <a:lstStyle/>
                    <a:p>
                      <a:pPr lvl="0" indent="0" marL="0">
                        <a:buNone/>
                      </a:pPr>
                      <a:r>
                        <a:rPr>
                          <a:latin typeface="Courier"/>
                        </a:rPr>
                        <a:t>SleepNumberInc/common-logging-test</a:t>
                      </a:r>
                    </a:p>
                  </a:txBody>
                </a:tc>
              </a:tr>
              <a:tr h="0">
                <a:tc>
                  <a:txBody>
                    <a:bodyPr/>
                    <a:lstStyle/>
                    <a:p>
                      <a:pPr lvl="0" indent="0" marL="0">
                        <a:buNone/>
                      </a:pPr>
                      <a:r>
                        <a:rPr>
                          <a:latin typeface="Courier"/>
                        </a:rPr>
                        <a:t>SleepNumberInc/cryptex</a:t>
                      </a:r>
                    </a:p>
                  </a:txBody>
                </a:tc>
                <a:tc>
                  <a:txBody>
                    <a:bodyPr/>
                    <a:lstStyle/>
                    <a:p>
                      <a:pPr lvl="0" indent="0" marL="0">
                        <a:buNone/>
                      </a:pPr>
                      <a:r>
                        <a:rPr>
                          <a:latin typeface="Courier"/>
                        </a:rPr>
                        <a:t>SleepNumberInc/custom-logger</a:t>
                      </a:r>
                    </a:p>
                  </a:txBody>
                </a:tc>
              </a:tr>
              <a:tr h="0">
                <a:tc>
                  <a:txBody>
                    <a:bodyPr/>
                    <a:lstStyle/>
                    <a:p>
                      <a:pPr lvl="0" indent="0" marL="0">
                        <a:buNone/>
                      </a:pPr>
                      <a:r>
                        <a:rPr>
                          <a:latin typeface="Courier"/>
                        </a:rPr>
                        <a:t>SleepNumberInc/dev-js-config</a:t>
                      </a:r>
                    </a:p>
                  </a:txBody>
                </a:tc>
                <a:tc>
                  <a:txBody>
                    <a:bodyPr/>
                    <a:lstStyle/>
                    <a:p>
                      <a:pPr lvl="0" indent="0" marL="0">
                        <a:buNone/>
                      </a:pPr>
                      <a:r>
                        <a:rPr>
                          <a:latin typeface="Courier"/>
                        </a:rPr>
                        <a:t>SleepNumberInc/devops-github-org-webhook-processor</a:t>
                      </a:r>
                    </a:p>
                  </a:txBody>
                </a:tc>
              </a:tr>
            </a:tbl>
          </a:graphicData>
        </a:graphic>
      </p:graphicFrame>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Problem 2 — projects that run supplier code on sight (2 of 5)</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0" bandRow="1">
                <a:tableStyleId>{5C22544A-7EE6-4342-B048-85BDC9FD1C3A}</a:tableStyleId>
              </a:tblPr>
              <a:tblGrid>
                <a:gridCol w="4114800"/>
                <a:gridCol w="4114800"/>
              </a:tblGrid>
              <a:tr h="0">
                <a:tc>
                  <a:txBody>
                    <a:bodyPr/>
                    <a:lstStyle/>
                    <a:p>
                      <a:pPr lvl="0" indent="0" marL="0">
                        <a:buNone/>
                      </a:pPr>
                      <a:r>
                        <a:rPr>
                          <a:latin typeface="Courier"/>
                        </a:rPr>
                        <a:t>SleepNumberInc/docker-swarm-service-balancer</a:t>
                      </a:r>
                    </a:p>
                  </a:txBody>
                </a:tc>
                <a:tc>
                  <a:txBody>
                    <a:bodyPr/>
                    <a:lstStyle/>
                    <a:p>
                      <a:pPr lvl="0" indent="0" marL="0">
                        <a:buNone/>
                      </a:pPr>
                      <a:r>
                        <a:rPr>
                          <a:latin typeface="Courier"/>
                        </a:rPr>
                        <a:t>SleepNumberInc/dot-env-to-env-var-action</a:t>
                      </a:r>
                    </a:p>
                  </a:txBody>
                </a:tc>
              </a:tr>
              <a:tr h="0">
                <a:tc>
                  <a:txBody>
                    <a:bodyPr/>
                    <a:lstStyle/>
                    <a:p>
                      <a:pPr lvl="0" indent="0" marL="0">
                        <a:buNone/>
                      </a:pPr>
                      <a:r>
                        <a:rPr>
                          <a:latin typeface="Courier"/>
                        </a:rPr>
                        <a:t>SleepNumberInc/ebs-order-integration</a:t>
                      </a:r>
                    </a:p>
                  </a:txBody>
                </a:tc>
                <a:tc>
                  <a:txBody>
                    <a:bodyPr/>
                    <a:lstStyle/>
                    <a:p>
                      <a:pPr lvl="0" indent="0" marL="0">
                        <a:buNone/>
                      </a:pPr>
                      <a:r>
                        <a:rPr>
                          <a:latin typeface="Courier"/>
                        </a:rPr>
                        <a:t>SleepNumberInc/exp-ingestion-api</a:t>
                      </a:r>
                    </a:p>
                  </a:txBody>
                </a:tc>
              </a:tr>
              <a:tr h="0">
                <a:tc>
                  <a:txBody>
                    <a:bodyPr/>
                    <a:lstStyle/>
                    <a:p>
                      <a:pPr lvl="0" indent="0" marL="0">
                        <a:buNone/>
                      </a:pPr>
                      <a:r>
                        <a:rPr>
                          <a:latin typeface="Courier"/>
                        </a:rPr>
                        <a:t>SleepNumberInc/exp-sbn-api</a:t>
                      </a:r>
                    </a:p>
                  </a:txBody>
                </a:tc>
                <a:tc>
                  <a:txBody>
                    <a:bodyPr/>
                    <a:lstStyle/>
                    <a:p>
                      <a:pPr lvl="0" indent="0" marL="0">
                        <a:buNone/>
                      </a:pPr>
                      <a:r>
                        <a:rPr>
                          <a:latin typeface="Courier"/>
                        </a:rPr>
                        <a:t>SleepNumberInc/expired-secrets-exterminator</a:t>
                      </a:r>
                    </a:p>
                  </a:txBody>
                </a:tc>
              </a:tr>
              <a:tr h="0">
                <a:tc>
                  <a:txBody>
                    <a:bodyPr/>
                    <a:lstStyle/>
                    <a:p>
                      <a:pPr lvl="0" indent="0" marL="0">
                        <a:buNone/>
                      </a:pPr>
                      <a:r>
                        <a:rPr>
                          <a:latin typeface="Courier"/>
                        </a:rPr>
                        <a:t>SleepNumberInc/gcc-creative-studio</a:t>
                      </a:r>
                    </a:p>
                  </a:txBody>
                </a:tc>
                <a:tc>
                  <a:txBody>
                    <a:bodyPr/>
                    <a:lstStyle/>
                    <a:p>
                      <a:pPr lvl="0" indent="0" marL="0">
                        <a:buNone/>
                      </a:pPr>
                      <a:r>
                        <a:rPr>
                          <a:latin typeface="Courier"/>
                        </a:rPr>
                        <a:t>SleepNumberInc/gh-token-rate-limit-monitor</a:t>
                      </a:r>
                    </a:p>
                  </a:txBody>
                </a:tc>
              </a:tr>
              <a:tr h="0">
                <a:tc>
                  <a:txBody>
                    <a:bodyPr/>
                    <a:lstStyle/>
                    <a:p>
                      <a:pPr lvl="0" indent="0" marL="0">
                        <a:buNone/>
                      </a:pPr>
                      <a:r>
                        <a:rPr>
                          <a:latin typeface="Courier"/>
                        </a:rPr>
                        <a:t>SleepNumberInc/github-runner-group-usage-monitor</a:t>
                      </a:r>
                    </a:p>
                  </a:txBody>
                </a:tc>
                <a:tc>
                  <a:txBody>
                    <a:bodyPr/>
                    <a:lstStyle/>
                    <a:p>
                      <a:pPr lvl="0" indent="0" marL="0">
                        <a:buNone/>
                      </a:pPr>
                      <a:r>
                        <a:rPr>
                          <a:latin typeface="Courier"/>
                        </a:rPr>
                        <a:t>SleepNumberInc/github-token-rate-limit-monitor</a:t>
                      </a:r>
                    </a:p>
                  </a:txBody>
                </a:tc>
              </a:tr>
              <a:tr h="0">
                <a:tc>
                  <a:txBody>
                    <a:bodyPr/>
                    <a:lstStyle/>
                    <a:p>
                      <a:pPr lvl="0" indent="0" marL="0">
                        <a:buNone/>
                      </a:pPr>
                      <a:r>
                        <a:rPr>
                          <a:latin typeface="Courier"/>
                        </a:rPr>
                        <a:t>SleepNumberInc/java-linter-output-formatter</a:t>
                      </a:r>
                    </a:p>
                  </a:txBody>
                </a:tc>
                <a:tc>
                  <a:txBody>
                    <a:bodyPr/>
                    <a:lstStyle/>
                    <a:p>
                      <a:pPr lvl="0" indent="0" marL="0">
                        <a:buNone/>
                      </a:pPr>
                      <a:r>
                        <a:rPr>
                          <a:latin typeface="Courier"/>
                        </a:rPr>
                        <a:t>SleepNumberInc/javascript-github-action-template</a:t>
                      </a:r>
                    </a:p>
                  </a:txBody>
                </a:tc>
              </a:tr>
              <a:tr h="0">
                <a:tc>
                  <a:txBody>
                    <a:bodyPr/>
                    <a:lstStyle/>
                    <a:p>
                      <a:pPr lvl="0" indent="0" marL="0">
                        <a:buNone/>
                      </a:pPr>
                      <a:r>
                        <a:rPr>
                          <a:latin typeface="Courier"/>
                        </a:rPr>
                        <a:t>SleepNumberInc/job-data-updater</a:t>
                      </a:r>
                    </a:p>
                  </a:txBody>
                </a:tc>
                <a:tc>
                  <a:txBody>
                    <a:bodyPr/>
                    <a:lstStyle/>
                    <a:p>
                      <a:pPr lvl="0" indent="0" marL="0">
                        <a:buNone/>
                      </a:pPr>
                      <a:r>
                        <a:rPr>
                          <a:latin typeface="Courier"/>
                        </a:rPr>
                        <a:t>SleepNumberInc/node-cron-docker</a:t>
                      </a:r>
                    </a:p>
                  </a:txBody>
                </a:tc>
              </a:tr>
              <a:tr h="0">
                <a:tc>
                  <a:txBody>
                    <a:bodyPr/>
                    <a:lstStyle/>
                    <a:p>
                      <a:pPr lvl="0" indent="0" marL="0">
                        <a:buNone/>
                      </a:pPr>
                      <a:r>
                        <a:rPr>
                          <a:latin typeface="Courier"/>
                        </a:rPr>
                        <a:t>SleepNumberInc/nodejs-microservice-template</a:t>
                      </a:r>
                    </a:p>
                  </a:txBody>
                </a:tc>
                <a:tc>
                  <a:txBody>
                    <a:bodyPr/>
                    <a:lstStyle/>
                    <a:p>
                      <a:pPr lvl="0" indent="0" marL="0">
                        <a:buNone/>
                      </a:pPr>
                      <a:r>
                        <a:rPr>
                          <a:latin typeface="Courier"/>
                        </a:rPr>
                        <a:t>SleepNumberInc/nodejs-microservice-utils</a:t>
                      </a:r>
                    </a:p>
                  </a:txBody>
                </a:tc>
              </a:tr>
              <a:tr h="0">
                <a:tc>
                  <a:txBody>
                    <a:bodyPr/>
                    <a:lstStyle/>
                    <a:p>
                      <a:pPr lvl="0" indent="0" marL="0">
                        <a:buNone/>
                      </a:pPr>
                      <a:r>
                        <a:rPr>
                          <a:latin typeface="Courier"/>
                        </a:rPr>
                        <a:t>SleepNumberInc/npm-package-cd-workflow</a:t>
                      </a:r>
                    </a:p>
                  </a:txBody>
                </a:tc>
                <a:tc>
                  <a:txBody>
                    <a:bodyPr/>
                    <a:lstStyle/>
                    <a:p>
                      <a:pPr lvl="0" indent="0" marL="0">
                        <a:buNone/>
                      </a:pPr>
                      <a:r>
                        <a:rPr>
                          <a:latin typeface="Courier"/>
                        </a:rPr>
                        <a:t>SleepNumberInc/npm-package-ci-workflow</a:t>
                      </a:r>
                    </a:p>
                  </a:txBody>
                </a:tc>
              </a:tr>
              <a:tr h="0">
                <a:tc>
                  <a:txBody>
                    <a:bodyPr/>
                    <a:lstStyle/>
                    <a:p>
                      <a:pPr lvl="0" indent="0" marL="0">
                        <a:buNone/>
                      </a:pPr>
                      <a:r>
                        <a:rPr>
                          <a:latin typeface="Courier"/>
                        </a:rPr>
                        <a:t>SleepNumberInc/opentelemetry-js-agent</a:t>
                      </a:r>
                    </a:p>
                  </a:txBody>
                </a:tc>
                <a:tc>
                  <a:txBody>
                    <a:bodyPr/>
                    <a:lstStyle/>
                    <a:p>
                      <a:pPr lvl="0" indent="0" marL="0">
                        <a:buNone/>
                      </a:pPr>
                      <a:r>
                        <a:rPr>
                          <a:latin typeface="Courier"/>
                        </a:rPr>
                        <a:t>SleepNumberInc/opentelemetry-plugin-nestjs-rabbitmq</a:t>
                      </a:r>
                    </a:p>
                  </a:txBody>
                </a:tc>
              </a:tr>
            </a:tbl>
          </a:graphicData>
        </a:graphic>
      </p:graphicFrame>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Problem 2 — projects that run supplier code on sight (3 of 5)</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0" bandRow="1">
                <a:tableStyleId>{5C22544A-7EE6-4342-B048-85BDC9FD1C3A}</a:tableStyleId>
              </a:tblPr>
              <a:tblGrid>
                <a:gridCol w="4114800"/>
                <a:gridCol w="4114800"/>
              </a:tblGrid>
              <a:tr h="0">
                <a:tc>
                  <a:txBody>
                    <a:bodyPr/>
                    <a:lstStyle/>
                    <a:p>
                      <a:pPr lvl="0" indent="0" marL="0">
                        <a:buNone/>
                      </a:pPr>
                      <a:r>
                        <a:rPr>
                          <a:latin typeface="Courier"/>
                        </a:rPr>
                        <a:t>SleepNumberInc/order-status-poc-api</a:t>
                      </a:r>
                    </a:p>
                  </a:txBody>
                </a:tc>
                <a:tc>
                  <a:txBody>
                    <a:bodyPr/>
                    <a:lstStyle/>
                    <a:p>
                      <a:pPr lvl="0" indent="0" marL="0">
                        <a:buNone/>
                      </a:pPr>
                      <a:r>
                        <a:rPr>
                          <a:latin typeface="Courier"/>
                        </a:rPr>
                        <a:t>SleepNumberInc/proc-product-catalog</a:t>
                      </a:r>
                    </a:p>
                  </a:txBody>
                </a:tc>
              </a:tr>
              <a:tr h="0">
                <a:tc>
                  <a:txBody>
                    <a:bodyPr/>
                    <a:lstStyle/>
                    <a:p>
                      <a:pPr lvl="0" indent="0" marL="0">
                        <a:buNone/>
                      </a:pPr>
                      <a:r>
                        <a:rPr>
                          <a:latin typeface="Courier"/>
                        </a:rPr>
                        <a:t>SleepNumberInc/product-catalog-e2e</a:t>
                      </a:r>
                    </a:p>
                  </a:txBody>
                </a:tc>
                <a:tc>
                  <a:txBody>
                    <a:bodyPr/>
                    <a:lstStyle/>
                    <a:p>
                      <a:pPr lvl="0" indent="0" marL="0">
                        <a:buNone/>
                      </a:pPr>
                      <a:r>
                        <a:rPr>
                          <a:latin typeface="Courier"/>
                        </a:rPr>
                        <a:t>SleepNumberInc/product-exchange-backend</a:t>
                      </a:r>
                    </a:p>
                  </a:txBody>
                </a:tc>
              </a:tr>
              <a:tr h="0">
                <a:tc>
                  <a:txBody>
                    <a:bodyPr/>
                    <a:lstStyle/>
                    <a:p>
                      <a:pPr lvl="0" indent="0" marL="0">
                        <a:buNone/>
                      </a:pPr>
                      <a:r>
                        <a:rPr>
                          <a:latin typeface="Courier"/>
                        </a:rPr>
                        <a:t>SleepNumberInc/product-exchange-frontend</a:t>
                      </a:r>
                    </a:p>
                  </a:txBody>
                </a:tc>
                <a:tc>
                  <a:txBody>
                    <a:bodyPr/>
                    <a:lstStyle/>
                    <a:p>
                      <a:pPr lvl="0" indent="0" marL="0">
                        <a:buNone/>
                      </a:pPr>
                      <a:r>
                        <a:rPr>
                          <a:latin typeface="Courier"/>
                        </a:rPr>
                        <a:t>SleepNumberInc/pulse-sandbox</a:t>
                      </a:r>
                    </a:p>
                  </a:txBody>
                </a:tc>
              </a:tr>
              <a:tr h="0">
                <a:tc>
                  <a:txBody>
                    <a:bodyPr/>
                    <a:lstStyle/>
                    <a:p>
                      <a:pPr lvl="0" indent="0" marL="0">
                        <a:buNone/>
                      </a:pPr>
                      <a:r>
                        <a:rPr>
                          <a:latin typeface="Courier"/>
                        </a:rPr>
                        <a:t>SleepNumberInc/scm-poc-fna</a:t>
                      </a:r>
                    </a:p>
                  </a:txBody>
                </a:tc>
                <a:tc>
                  <a:txBody>
                    <a:bodyPr/>
                    <a:lstStyle/>
                    <a:p>
                      <a:pPr lvl="0" indent="0" marL="0">
                        <a:buNone/>
                      </a:pPr>
                      <a:r>
                        <a:rPr>
                          <a:latin typeface="Courier"/>
                        </a:rPr>
                        <a:t>SleepNumberInc/scmtstfuncapp</a:t>
                      </a:r>
                    </a:p>
                  </a:txBody>
                </a:tc>
              </a:tr>
              <a:tr h="0">
                <a:tc>
                  <a:txBody>
                    <a:bodyPr/>
                    <a:lstStyle/>
                    <a:p>
                      <a:pPr lvl="0" indent="0" marL="0">
                        <a:buNone/>
                      </a:pPr>
                      <a:r>
                        <a:rPr>
                          <a:latin typeface="Courier"/>
                        </a:rPr>
                        <a:t>SleepNumberInc/sec-diligence</a:t>
                      </a:r>
                    </a:p>
                  </a:txBody>
                </a:tc>
                <a:tc>
                  <a:txBody>
                    <a:bodyPr/>
                    <a:lstStyle/>
                    <a:p>
                      <a:pPr lvl="0" indent="0" marL="0">
                        <a:buNone/>
                      </a:pPr>
                      <a:r>
                        <a:rPr>
                          <a:latin typeface="Courier"/>
                        </a:rPr>
                        <a:t>SleepNumberInc/secret-server-secret-retriever</a:t>
                      </a:r>
                    </a:p>
                  </a:txBody>
                </a:tc>
              </a:tr>
              <a:tr h="0">
                <a:tc>
                  <a:txBody>
                    <a:bodyPr/>
                    <a:lstStyle/>
                    <a:p>
                      <a:pPr lvl="0" indent="0" marL="0">
                        <a:buNone/>
                      </a:pPr>
                      <a:r>
                        <a:rPr>
                          <a:latin typeface="Courier"/>
                        </a:rPr>
                        <a:t>SleepNumberInc/secrets-to-tfvars-file-creator</a:t>
                      </a:r>
                    </a:p>
                  </a:txBody>
                </a:tc>
                <a:tc>
                  <a:txBody>
                    <a:bodyPr/>
                    <a:lstStyle/>
                    <a:p>
                      <a:pPr lvl="0" indent="0" marL="0">
                        <a:buNone/>
                      </a:pPr>
                      <a:r>
                        <a:rPr>
                          <a:latin typeface="Courier"/>
                        </a:rPr>
                        <a:t>SleepNumberInc/servicenow-devops-change</a:t>
                      </a:r>
                    </a:p>
                  </a:txBody>
                </a:tc>
              </a:tr>
              <a:tr h="0">
                <a:tc>
                  <a:txBody>
                    <a:bodyPr/>
                    <a:lstStyle/>
                    <a:p>
                      <a:pPr lvl="0" indent="0" marL="0">
                        <a:buNone/>
                      </a:pPr>
                      <a:r>
                        <a:rPr>
                          <a:latin typeface="Courier"/>
                        </a:rPr>
                        <a:t>SleepNumberInc/sharedsvc-notification-webhook-fna</a:t>
                      </a:r>
                    </a:p>
                  </a:txBody>
                </a:tc>
                <a:tc>
                  <a:txBody>
                    <a:bodyPr/>
                    <a:lstStyle/>
                    <a:p>
                      <a:pPr lvl="0" indent="0" marL="0">
                        <a:buNone/>
                      </a:pPr>
                      <a:r>
                        <a:rPr>
                          <a:latin typeface="Courier"/>
                        </a:rPr>
                        <a:t>SleepNumberInc/sn-identity-auth-test-ui</a:t>
                      </a:r>
                    </a:p>
                  </a:txBody>
                </a:tc>
              </a:tr>
              <a:tr h="0">
                <a:tc>
                  <a:txBody>
                    <a:bodyPr/>
                    <a:lstStyle/>
                    <a:p>
                      <a:pPr lvl="0" indent="0" marL="0">
                        <a:buNone/>
                      </a:pPr>
                      <a:r>
                        <a:rPr>
                          <a:latin typeface="Courier"/>
                        </a:rPr>
                        <a:t>SleepNumberInc/sn-vare-product-exchange-backend</a:t>
                      </a:r>
                    </a:p>
                  </a:txBody>
                </a:tc>
                <a:tc>
                  <a:txBody>
                    <a:bodyPr/>
                    <a:lstStyle/>
                    <a:p>
                      <a:pPr lvl="0" indent="0" marL="0">
                        <a:buNone/>
                      </a:pPr>
                      <a:r>
                        <a:rPr>
                          <a:latin typeface="Courier"/>
                        </a:rPr>
                        <a:t>SleepNumberInc/sn-vare-product-exchange-frontend</a:t>
                      </a:r>
                    </a:p>
                  </a:txBody>
                </a:tc>
              </a:tr>
              <a:tr h="0">
                <a:tc>
                  <a:txBody>
                    <a:bodyPr/>
                    <a:lstStyle/>
                    <a:p>
                      <a:pPr lvl="0" indent="0" marL="0">
                        <a:buNone/>
                      </a:pPr>
                      <a:r>
                        <a:rPr>
                          <a:latin typeface="Courier"/>
                        </a:rPr>
                        <a:t>SleepNumberInc/snint-azure-gop-fna</a:t>
                      </a:r>
                    </a:p>
                  </a:txBody>
                </a:tc>
                <a:tc>
                  <a:txBody>
                    <a:bodyPr/>
                    <a:lstStyle/>
                    <a:p>
                      <a:pPr lvl="0" indent="0" marL="0">
                        <a:buNone/>
                      </a:pPr>
                      <a:r>
                        <a:rPr>
                          <a:latin typeface="Courier"/>
                        </a:rPr>
                        <a:t>SleepNumberInc/snint-contact-merges-siebel-publisher-fna</a:t>
                      </a:r>
                    </a:p>
                  </a:txBody>
                </a:tc>
              </a:tr>
            </a:tbl>
          </a:graphicData>
        </a:graphic>
      </p:graphicFrame>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Problem 2 — projects that run supplier code on sight (4 of 5)</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0" bandRow="1">
                <a:tableStyleId>{5C22544A-7EE6-4342-B048-85BDC9FD1C3A}</a:tableStyleId>
              </a:tblPr>
              <a:tblGrid>
                <a:gridCol w="4114800"/>
                <a:gridCol w="4114800"/>
              </a:tblGrid>
              <a:tr h="0">
                <a:tc>
                  <a:txBody>
                    <a:bodyPr/>
                    <a:lstStyle/>
                    <a:p>
                      <a:pPr lvl="0" indent="0" marL="0">
                        <a:buNone/>
                      </a:pPr>
                      <a:r>
                        <a:rPr>
                          <a:latin typeface="Courier"/>
                        </a:rPr>
                        <a:t>SleepNumberInc/snint-customer-lookup-process-api-fna</a:t>
                      </a:r>
                    </a:p>
                  </a:txBody>
                </a:tc>
                <a:tc>
                  <a:txBody>
                    <a:bodyPr/>
                    <a:lstStyle/>
                    <a:p>
                      <a:pPr lvl="0" indent="0" marL="0">
                        <a:buNone/>
                      </a:pPr>
                      <a:r>
                        <a:rPr>
                          <a:latin typeface="Courier"/>
                        </a:rPr>
                        <a:t>SleepNumberInc/snint-customer-orders</a:t>
                      </a:r>
                    </a:p>
                  </a:txBody>
                </a:tc>
              </a:tr>
              <a:tr h="0">
                <a:tc>
                  <a:txBody>
                    <a:bodyPr/>
                    <a:lstStyle/>
                    <a:p>
                      <a:pPr lvl="0" indent="0" marL="0">
                        <a:buNone/>
                      </a:pPr>
                      <a:r>
                        <a:rPr>
                          <a:latin typeface="Courier"/>
                        </a:rPr>
                        <a:t>SleepNumberInc/snint-ds-k6-load-tests</a:t>
                      </a:r>
                    </a:p>
                  </a:txBody>
                </a:tc>
                <a:tc>
                  <a:txBody>
                    <a:bodyPr/>
                    <a:lstStyle/>
                    <a:p>
                      <a:pPr lvl="0" indent="0" marL="0">
                        <a:buNone/>
                      </a:pPr>
                      <a:r>
                        <a:rPr>
                          <a:latin typeface="Courier"/>
                        </a:rPr>
                        <a:t>SleepNumberInc/snint-ebs-inventory-pollers-fna</a:t>
                      </a:r>
                    </a:p>
                  </a:txBody>
                </a:tc>
              </a:tr>
              <a:tr h="0">
                <a:tc>
                  <a:txBody>
                    <a:bodyPr/>
                    <a:lstStyle/>
                    <a:p>
                      <a:pPr lvl="0" indent="0" marL="0">
                        <a:buNone/>
                      </a:pPr>
                      <a:r>
                        <a:rPr>
                          <a:latin typeface="Courier"/>
                        </a:rPr>
                        <a:t>SleepNumberInc/snint-employees-api</a:t>
                      </a:r>
                    </a:p>
                  </a:txBody>
                </a:tc>
                <a:tc>
                  <a:txBody>
                    <a:bodyPr/>
                    <a:lstStyle/>
                    <a:p>
                      <a:pPr lvl="0" indent="0" marL="0">
                        <a:buNone/>
                      </a:pPr>
                      <a:r>
                        <a:rPr>
                          <a:latin typeface="Courier"/>
                        </a:rPr>
                        <a:t>SleepNumberInc/snint-employees-d365-consumer-fna</a:t>
                      </a:r>
                    </a:p>
                  </a:txBody>
                </a:tc>
              </a:tr>
              <a:tr h="0">
                <a:tc>
                  <a:txBody>
                    <a:bodyPr/>
                    <a:lstStyle/>
                    <a:p>
                      <a:pPr lvl="0" indent="0" marL="0">
                        <a:buNone/>
                      </a:pPr>
                      <a:r>
                        <a:rPr>
                          <a:latin typeface="Courier"/>
                        </a:rPr>
                        <a:t>SleepNumberInc/snint-employees-mapper-api</a:t>
                      </a:r>
                    </a:p>
                  </a:txBody>
                </a:tc>
                <a:tc>
                  <a:txBody>
                    <a:bodyPr/>
                    <a:lstStyle/>
                    <a:p>
                      <a:pPr lvl="0" indent="0" marL="0">
                        <a:buNone/>
                      </a:pPr>
                      <a:r>
                        <a:rPr>
                          <a:latin typeface="Courier"/>
                        </a:rPr>
                        <a:t>SleepNumberInc/snint-fn-test-sftp-onpremise-dev</a:t>
                      </a:r>
                    </a:p>
                  </a:txBody>
                </a:tc>
              </a:tr>
              <a:tr h="0">
                <a:tc>
                  <a:txBody>
                    <a:bodyPr/>
                    <a:lstStyle/>
                    <a:p>
                      <a:pPr lvl="0" indent="0" marL="0">
                        <a:buNone/>
                      </a:pPr>
                      <a:r>
                        <a:rPr>
                          <a:latin typeface="Courier"/>
                        </a:rPr>
                        <a:t>SleepNumberInc/snint-incidents-d365-consumer-fna</a:t>
                      </a:r>
                    </a:p>
                  </a:txBody>
                </a:tc>
                <a:tc>
                  <a:txBody>
                    <a:bodyPr/>
                    <a:lstStyle/>
                    <a:p>
                      <a:pPr lvl="0" indent="0" marL="0">
                        <a:buNone/>
                      </a:pPr>
                      <a:r>
                        <a:rPr>
                          <a:latin typeface="Courier"/>
                        </a:rPr>
                        <a:t>SleepNumberInc/snint-incidents-d365-customer-lookup-fna</a:t>
                      </a:r>
                    </a:p>
                  </a:txBody>
                </a:tc>
              </a:tr>
              <a:tr h="0">
                <a:tc>
                  <a:txBody>
                    <a:bodyPr/>
                    <a:lstStyle/>
                    <a:p>
                      <a:pPr lvl="0" indent="0" marL="0">
                        <a:buNone/>
                      </a:pPr>
                      <a:r>
                        <a:rPr>
                          <a:latin typeface="Courier"/>
                        </a:rPr>
                        <a:t>SleepNumberInc/snint-incidents-digital-publisher-apim</a:t>
                      </a:r>
                    </a:p>
                  </a:txBody>
                </a:tc>
                <a:tc>
                  <a:txBody>
                    <a:bodyPr/>
                    <a:lstStyle/>
                    <a:p>
                      <a:pPr lvl="0" indent="0" marL="0">
                        <a:buNone/>
                      </a:pPr>
                      <a:r>
                        <a:rPr>
                          <a:latin typeface="Courier"/>
                        </a:rPr>
                        <a:t>SleepNumberInc/snint-incidents-digital-publisher-fna</a:t>
                      </a:r>
                    </a:p>
                  </a:txBody>
                </a:tc>
              </a:tr>
              <a:tr h="0">
                <a:tc>
                  <a:txBody>
                    <a:bodyPr/>
                    <a:lstStyle/>
                    <a:p>
                      <a:pPr lvl="0" indent="0" marL="0">
                        <a:buNone/>
                      </a:pPr>
                      <a:r>
                        <a:rPr>
                          <a:latin typeface="Courier"/>
                        </a:rPr>
                        <a:t>SleepNumberInc/snint-invision-mappings</a:t>
                      </a:r>
                    </a:p>
                  </a:txBody>
                </a:tc>
                <a:tc>
                  <a:txBody>
                    <a:bodyPr/>
                    <a:lstStyle/>
                    <a:p>
                      <a:pPr lvl="0" indent="0" marL="0">
                        <a:buNone/>
                      </a:pPr>
                      <a:r>
                        <a:rPr>
                          <a:latin typeface="Courier"/>
                        </a:rPr>
                        <a:t>SleepNumberInc/snint-logs-poc-fna</a:t>
                      </a:r>
                    </a:p>
                  </a:txBody>
                </a:tc>
              </a:tr>
              <a:tr h="0">
                <a:tc>
                  <a:txBody>
                    <a:bodyPr/>
                    <a:lstStyle/>
                    <a:p>
                      <a:pPr lvl="0" indent="0" marL="0">
                        <a:buNone/>
                      </a:pPr>
                      <a:r>
                        <a:rPr>
                          <a:latin typeface="Courier"/>
                        </a:rPr>
                        <a:t>SleepNumberInc/snint-logs-poc2-fna</a:t>
                      </a:r>
                    </a:p>
                  </a:txBody>
                </a:tc>
                <a:tc>
                  <a:txBody>
                    <a:bodyPr/>
                    <a:lstStyle/>
                    <a:p>
                      <a:pPr lvl="0" indent="0" marL="0">
                        <a:buNone/>
                      </a:pPr>
                      <a:r>
                        <a:rPr>
                          <a:latin typeface="Courier"/>
                        </a:rPr>
                        <a:t>SleepNumberInc/snint-logs-without-ai-poc-fna</a:t>
                      </a:r>
                    </a:p>
                  </a:txBody>
                </a:tc>
              </a:tr>
              <a:tr h="0">
                <a:tc>
                  <a:txBody>
                    <a:bodyPr/>
                    <a:lstStyle/>
                    <a:p>
                      <a:pPr lvl="0" indent="0" marL="0">
                        <a:buNone/>
                      </a:pPr>
                      <a:r>
                        <a:rPr>
                          <a:latin typeface="Courier"/>
                        </a:rPr>
                        <a:t>SleepNumberInc/snint-pim-api-fna</a:t>
                      </a:r>
                    </a:p>
                  </a:txBody>
                </a:tc>
                <a:tc>
                  <a:txBody>
                    <a:bodyPr/>
                    <a:lstStyle/>
                    <a:p>
                      <a:pPr lvl="0" indent="0" marL="0">
                        <a:buNone/>
                      </a:pPr>
                      <a:r>
                        <a:rPr>
                          <a:latin typeface="Courier"/>
                        </a:rPr>
                        <a:t>SleepNumberInc/snint-pim-conn-fna</a:t>
                      </a:r>
                    </a:p>
                  </a:txBody>
                </a:tc>
              </a:tr>
            </a:tbl>
          </a:graphicData>
        </a:graphic>
      </p:graphicFrame>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Problem 2 — projects that run supplier code on sight (5 of 5)</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0" bandRow="1">
                <a:tableStyleId>{5C22544A-7EE6-4342-B048-85BDC9FD1C3A}</a:tableStyleId>
              </a:tblPr>
              <a:tblGrid>
                <a:gridCol w="4114800"/>
                <a:gridCol w="4114800"/>
              </a:tblGrid>
              <a:tr h="0">
                <a:tc>
                  <a:txBody>
                    <a:bodyPr/>
                    <a:lstStyle/>
                    <a:p>
                      <a:pPr lvl="0" indent="0" marL="0">
                        <a:buNone/>
                      </a:pPr>
                      <a:r>
                        <a:rPr>
                          <a:latin typeface="Courier"/>
                        </a:rPr>
                        <a:t>SleepNumberInc/snint-products-fna</a:t>
                      </a:r>
                    </a:p>
                  </a:txBody>
                </a:tc>
                <a:tc>
                  <a:txBody>
                    <a:bodyPr/>
                    <a:lstStyle/>
                    <a:p>
                      <a:pPr lvl="0" indent="0" marL="0">
                        <a:buNone/>
                      </a:pPr>
                      <a:r>
                        <a:rPr>
                          <a:latin typeface="Courier"/>
                        </a:rPr>
                        <a:t>SleepNumberInc/snint-stores-siebel-publisher-fna</a:t>
                      </a:r>
                    </a:p>
                  </a:txBody>
                </a:tc>
              </a:tr>
              <a:tr h="0">
                <a:tc>
                  <a:txBody>
                    <a:bodyPr/>
                    <a:lstStyle/>
                    <a:p>
                      <a:pPr lvl="0" indent="0" marL="0">
                        <a:buNone/>
                      </a:pPr>
                      <a:r>
                        <a:rPr>
                          <a:latin typeface="Courier"/>
                        </a:rPr>
                        <a:t>SleepNumberInc/snip-cli</a:t>
                      </a:r>
                    </a:p>
                  </a:txBody>
                </a:tc>
                <a:tc>
                  <a:txBody>
                    <a:bodyPr/>
                    <a:lstStyle/>
                    <a:p>
                      <a:pPr lvl="0" indent="0" marL="0">
                        <a:buNone/>
                      </a:pPr>
                      <a:r>
                        <a:rPr>
                          <a:latin typeface="Courier"/>
                        </a:rPr>
                        <a:t>SleepNumberInc/snip-e2e-ui-poc</a:t>
                      </a:r>
                    </a:p>
                  </a:txBody>
                </a:tc>
              </a:tr>
              <a:tr h="0">
                <a:tc>
                  <a:txBody>
                    <a:bodyPr/>
                    <a:lstStyle/>
                    <a:p>
                      <a:pPr lvl="0" indent="0" marL="0">
                        <a:buNone/>
                      </a:pPr>
                      <a:r>
                        <a:rPr>
                          <a:latin typeface="Courier"/>
                        </a:rPr>
                        <a:t>SleepNumberInc/snmspsal-ai-sales-trainer-backend-fna</a:t>
                      </a:r>
                    </a:p>
                  </a:txBody>
                </a:tc>
                <a:tc>
                  <a:txBody>
                    <a:bodyPr/>
                    <a:lstStyle/>
                    <a:p>
                      <a:pPr lvl="0" indent="0" marL="0">
                        <a:buNone/>
                      </a:pPr>
                      <a:r>
                        <a:rPr>
                          <a:latin typeface="Courier"/>
                        </a:rPr>
                        <a:t>SleepNumberInc/snoint-azure-integrations-order-fna</a:t>
                      </a:r>
                    </a:p>
                  </a:txBody>
                </a:tc>
              </a:tr>
              <a:tr h="0">
                <a:tc>
                  <a:txBody>
                    <a:bodyPr/>
                    <a:lstStyle/>
                    <a:p>
                      <a:pPr lvl="0" indent="0" marL="0">
                        <a:buNone/>
                      </a:pPr>
                      <a:r>
                        <a:rPr>
                          <a:latin typeface="Courier"/>
                        </a:rPr>
                        <a:t>SleepNumberInc/snoint-siebel-gop-api-fna</a:t>
                      </a:r>
                    </a:p>
                  </a:txBody>
                </a:tc>
                <a:tc>
                  <a:txBody>
                    <a:bodyPr/>
                    <a:lstStyle/>
                    <a:p>
                      <a:pPr lvl="0" indent="0" marL="0">
                        <a:buNone/>
                      </a:pPr>
                      <a:r>
                        <a:rPr>
                          <a:latin typeface="Courier"/>
                        </a:rPr>
                        <a:t>SleepNumberInc/sys-product</a:t>
                      </a:r>
                    </a:p>
                  </a:txBody>
                </a:tc>
              </a:tr>
              <a:tr h="0">
                <a:tc>
                  <a:txBody>
                    <a:bodyPr/>
                    <a:lstStyle/>
                    <a:p>
                      <a:pPr lvl="0" indent="0" marL="0">
                        <a:buNone/>
                      </a:pPr>
                      <a:r>
                        <a:rPr>
                          <a:latin typeface="Courier"/>
                        </a:rPr>
                        <a:t>SleepNumberInc/sys-rule</a:t>
                      </a:r>
                    </a:p>
                  </a:txBody>
                </a:tc>
                <a:tc>
                  <a:txBody>
                    <a:bodyPr/>
                    <a:lstStyle/>
                    <a:p>
                      <a:pPr lvl="0" indent="0" marL="0">
                        <a:buNone/>
                      </a:pPr>
                      <a:r>
                        <a:rPr>
                          <a:latin typeface="Courier"/>
                        </a:rPr>
                        <a:t>SleepNumberInc/terratest-json-output-fixer</a:t>
                      </a:r>
                    </a:p>
                  </a:txBody>
                </a:tc>
              </a:tr>
              <a:tr h="0">
                <a:tc>
                  <a:txBody>
                    <a:bodyPr/>
                    <a:lstStyle/>
                    <a:p>
                      <a:pPr lvl="0" indent="0" marL="0">
                        <a:buNone/>
                      </a:pPr>
                      <a:r>
                        <a:rPr>
                          <a:latin typeface="Courier"/>
                        </a:rPr>
                        <a:t>SleepNumberInc/test-microservice</a:t>
                      </a:r>
                    </a:p>
                  </a:txBody>
                </a:tc>
                <a:tc>
                  <a:txBody>
                    <a:bodyPr/>
                    <a:lstStyle/>
                    <a:p>
                      <a:pPr lvl="0" indent="0" marL="0">
                        <a:buNone/>
                      </a:pPr>
                      <a:r>
                        <a:rPr>
                          <a:latin typeface="Courier"/>
                        </a:rPr>
                        <a:t>SleepNumberInc/test-ms-template</a:t>
                      </a:r>
                    </a:p>
                  </a:txBody>
                </a:tc>
              </a:tr>
              <a:tr h="0">
                <a:tc>
                  <a:txBody>
                    <a:bodyPr/>
                    <a:lstStyle/>
                    <a:p>
                      <a:pPr lvl="0" indent="0" marL="0">
                        <a:buNone/>
                      </a:pPr>
                      <a:r>
                        <a:rPr>
                          <a:latin typeface="Courier"/>
                        </a:rPr>
                        <a:t>SleepNumberInc/test-ms-template2</a:t>
                      </a:r>
                    </a:p>
                  </a:txBody>
                </a:tc>
                <a:tc>
                  <a:txBody>
                    <a:bodyPr/>
                    <a:lstStyle/>
                    <a:p>
                      <a:pPr lvl="0" indent="0" marL="0">
                        <a:buNone/>
                      </a:pPr>
                      <a:r>
                        <a:rPr>
                          <a:latin typeface="Courier"/>
                        </a:rPr>
                        <a:t>SleepNumberInc/test-results-file-to-qtest-action</a:t>
                      </a:r>
                    </a:p>
                  </a:txBody>
                </a:tc>
              </a:tr>
              <a:tr h="0">
                <a:tc>
                  <a:txBody>
                    <a:bodyPr/>
                    <a:lstStyle/>
                    <a:p>
                      <a:pPr lvl="0" indent="0" marL="0">
                        <a:buNone/>
                      </a:pPr>
                      <a:r>
                        <a:rPr>
                          <a:latin typeface="Courier"/>
                        </a:rPr>
                        <a:t>sleepnumberlabs/poc-john-merrill-testing</a:t>
                      </a:r>
                    </a:p>
                  </a:txBody>
                </a:tc>
                <a:tc>
                  <a:txBody>
                    <a:bodyPr/>
                    <a:lstStyle/>
                    <a:p>
                      <a:pPr lvl="0" indent="0" marL="0">
                        <a:buNone/>
                      </a:pPr>
                      <a:r>
                        <a:rPr>
                          <a:latin typeface="Courier"/>
                        </a:rPr>
                        <a:t>sleepnumberlabs/qa-sn-playwright-automation</a:t>
                      </a:r>
                    </a:p>
                  </a:txBody>
                </a:tc>
              </a:tr>
              <a:tr h="0">
                <a:tc>
                  <a:txBody>
                    <a:bodyPr/>
                    <a:lstStyle/>
                    <a:p>
                      <a:pPr lvl="0" indent="0" marL="0">
                        <a:buNone/>
                      </a:pPr>
                      <a:r>
                        <a:rPr>
                          <a:latin typeface="Courier"/>
                        </a:rPr>
                        <a:t>sleepnumberlabs/web-consumer-sleepiq</a:t>
                      </a:r>
                    </a:p>
                  </a:txBody>
                </a:tc>
                <a:tc>
                  <a:txBody>
                    <a:bodyPr/>
                    <a:lstStyle/>
                    <a:p>
                      <a:pPr lvl="0" indent="0" marL="0">
                        <a:buNone/>
                      </a:pPr>
                      <a:r>
                        <a:rPr>
                          <a:latin typeface="Courier"/>
                        </a:rPr>
                        <a:t>sleepnumberlabs/web-support-portal</a:t>
                      </a:r>
                    </a:p>
                  </a:txBody>
                </a:tc>
              </a:tr>
            </a:tbl>
          </a:graphicData>
        </a:graphic>
      </p:graphicFrame>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Problem 2 — the projects that already refuse</a:t>
            </a:r>
          </a:p>
        </p:txBody>
      </p:sp>
      <p:sp>
        <p:nvSpPr>
          <p:cNvPr id="4" name="Text Placeholder 3"/>
          <p:cNvSpPr>
            <a:spLocks noGrp="1"/>
          </p:cNvSpPr>
          <p:nvPr>
            <p:ph idx="2" sz="half" type="body"/>
          </p:nvPr>
        </p:nvSpPr>
        <p:spPr/>
        <p:txBody>
          <a:bodyPr/>
          <a:lstStyle/>
          <a:p>
            <a:pPr lvl="0" indent="0" marL="0">
              <a:buNone/>
            </a:pPr>
            <a:r>
              <a:rPr b="1"/>
              <a:t>5</a:t>
            </a:r>
            <a:r>
              <a:rPr/>
              <a:t> repositories are already protected, covering </a:t>
            </a:r>
            <a:r>
              <a:rPr b="1"/>
              <a:t>6</a:t>
            </a:r>
            <a:r>
              <a:rPr/>
              <a:t> workflows. They are the pattern to copy — the change is already written and reviewed inside our own estate.</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2184400"/>
                <a:gridCol w="2921000"/>
              </a:tblGrid>
              <a:tr h="0">
                <a:tc>
                  <a:txBody>
                    <a:bodyPr/>
                    <a:lstStyle/>
                    <a:p>
                      <a:pPr lvl="0" indent="0" marL="0">
                        <a:buNone/>
                      </a:pPr>
                      <a:r>
                        <a:rPr/>
                        <a:t>Repository</a:t>
                      </a:r>
                    </a:p>
                  </a:txBody>
                  <a:tcPr/>
                </a:tc>
                <a:tc>
                  <a:txBody>
                    <a:bodyPr/>
                    <a:lstStyle/>
                    <a:p>
                      <a:pPr lvl="0" indent="0" marL="0" algn="r">
                        <a:buNone/>
                      </a:pPr>
                      <a:r>
                        <a:rPr/>
                        <a:t>How it is protected</a:t>
                      </a:r>
                    </a:p>
                  </a:txBody>
                  <a:tcPr/>
                </a:tc>
              </a:tr>
              <a:tr h="0">
                <a:tc>
                  <a:txBody>
                    <a:bodyPr/>
                    <a:lstStyle/>
                    <a:p>
                      <a:pPr lvl="0" indent="0" marL="0">
                        <a:buNone/>
                      </a:pPr>
                      <a:r>
                        <a:rPr>
                          <a:latin typeface="Courier"/>
                        </a:rPr>
                        <a:t>SleepNumberInc/chads-github-actions-playground</a:t>
                      </a:r>
                    </a:p>
                  </a:txBody>
                </a:tc>
                <a:tc>
                  <a:txBody>
                    <a:bodyPr/>
                    <a:lstStyle/>
                    <a:p>
                      <a:pPr lvl="0" indent="0" marL="0" algn="r">
                        <a:buNone/>
                      </a:pPr>
                      <a:r>
                        <a:rPr>
                          <a:latin typeface="Courier"/>
                        </a:rPr>
                        <a:t>.npmrc</a:t>
                      </a:r>
                      <a:r>
                        <a:rPr/>
                        <a:t> config</a:t>
                      </a:r>
                    </a:p>
                  </a:txBody>
                </a:tc>
              </a:tr>
              <a:tr h="0">
                <a:tc>
                  <a:txBody>
                    <a:bodyPr/>
                    <a:lstStyle/>
                    <a:p>
                      <a:pPr lvl="0" indent="0" marL="0">
                        <a:buNone/>
                      </a:pPr>
                      <a:r>
                        <a:rPr>
                          <a:latin typeface="Courier"/>
                        </a:rPr>
                        <a:t>SleepNumberInc/sn-identity</a:t>
                      </a:r>
                    </a:p>
                  </a:txBody>
                </a:tc>
                <a:tc>
                  <a:txBody>
                    <a:bodyPr/>
                    <a:lstStyle/>
                    <a:p>
                      <a:pPr lvl="0" indent="0" marL="0" algn="r">
                        <a:buNone/>
                      </a:pPr>
                      <a:r>
                        <a:rPr/>
                        <a:t>every installing workflow</a:t>
                      </a:r>
                    </a:p>
                  </a:txBody>
                </a:tc>
              </a:tr>
              <a:tr h="0">
                <a:tc>
                  <a:txBody>
                    <a:bodyPr/>
                    <a:lstStyle/>
                    <a:p>
                      <a:pPr lvl="0" indent="0" marL="0">
                        <a:buNone/>
                      </a:pPr>
                      <a:r>
                        <a:rPr>
                          <a:latin typeface="Courier"/>
                        </a:rPr>
                        <a:t>SleepNumberInc/snint-ds-e2e-testcases</a:t>
                      </a:r>
                    </a:p>
                  </a:txBody>
                </a:tc>
                <a:tc>
                  <a:txBody>
                    <a:bodyPr/>
                    <a:lstStyle/>
                    <a:p>
                      <a:pPr lvl="0" indent="0" marL="0" algn="r">
                        <a:buNone/>
                      </a:pPr>
                      <a:r>
                        <a:rPr/>
                        <a:t>every installing workflow</a:t>
                      </a:r>
                    </a:p>
                  </a:txBody>
                </a:tc>
              </a:tr>
              <a:tr h="0">
                <a:tc>
                  <a:txBody>
                    <a:bodyPr/>
                    <a:lstStyle/>
                    <a:p>
                      <a:pPr lvl="0" indent="0" marL="0">
                        <a:buNone/>
                      </a:pPr>
                      <a:r>
                        <a:rPr>
                          <a:latin typeface="Courier"/>
                        </a:rPr>
                        <a:t>SleepNumberInc/snint-marketing-campaign-e2e-testcases</a:t>
                      </a:r>
                    </a:p>
                  </a:txBody>
                </a:tc>
                <a:tc>
                  <a:txBody>
                    <a:bodyPr/>
                    <a:lstStyle/>
                    <a:p>
                      <a:pPr lvl="0" indent="0" marL="0" algn="r">
                        <a:buNone/>
                      </a:pPr>
                      <a:r>
                        <a:rPr/>
                        <a:t>every installing workflow</a:t>
                      </a:r>
                    </a:p>
                  </a:txBody>
                </a:tc>
              </a:tr>
              <a:tr h="0">
                <a:tc>
                  <a:txBody>
                    <a:bodyPr/>
                    <a:lstStyle/>
                    <a:p>
                      <a:pPr lvl="0" indent="0" marL="0">
                        <a:buNone/>
                      </a:pPr>
                      <a:r>
                        <a:rPr>
                          <a:latin typeface="Courier"/>
                        </a:rPr>
                        <a:t>SleepNumberInc/snip-auth-service-e2e-testcases</a:t>
                      </a:r>
                    </a:p>
                  </a:txBody>
                </a:tc>
                <a:tc>
                  <a:txBody>
                    <a:bodyPr/>
                    <a:lstStyle/>
                    <a:p>
                      <a:pPr lvl="0" indent="0" marL="0" algn="r">
                        <a:buNone/>
                      </a:pPr>
                      <a:r>
                        <a:rPr/>
                        <a:t>every installing workflow</a:t>
                      </a:r>
                    </a:p>
                  </a:txBody>
                </a:tc>
              </a:tr>
            </a:tbl>
          </a:graphicData>
        </a:graphic>
      </p:graphicFrame>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Problem 2 — where the change lands</a:t>
            </a:r>
          </a:p>
        </p:txBody>
      </p:sp>
      <p:sp>
        <p:nvSpPr>
          <p:cNvPr id="3" name="Content Placeholder 2"/>
          <p:cNvSpPr>
            <a:spLocks noGrp="1"/>
          </p:cNvSpPr>
          <p:nvPr>
            <p:ph idx="1"/>
          </p:nvPr>
        </p:nvSpPr>
        <p:spPr/>
        <p:txBody>
          <a:bodyPr/>
          <a:lstStyle/>
          <a:p>
            <a:pPr lvl="0"/>
            <a:r>
              <a:rPr b="1"/>
              <a:t>In a workflow:</a:t>
            </a:r>
            <a:r>
              <a:rPr/>
              <a:t> </a:t>
            </a:r>
            <a:r>
              <a:rPr>
                <a:latin typeface="Courier"/>
              </a:rPr>
              <a:t>.github/workflows/&lt;name&gt;.yml</a:t>
            </a:r>
            <a:r>
              <a:rPr/>
              <a:t> — add </a:t>
            </a:r>
            <a:r>
              <a:rPr>
                <a:latin typeface="Courier"/>
              </a:rPr>
              <a:t>--ignore-scripts</a:t>
            </a:r>
            <a:r>
              <a:rPr/>
              <a:t> to the </a:t>
            </a:r>
            <a:r>
              <a:rPr>
                <a:latin typeface="Courier"/>
              </a:rPr>
              <a:t>npm ci</a:t>
            </a:r>
            <a:r>
              <a:rPr/>
              <a:t> / </a:t>
            </a:r>
            <a:r>
              <a:rPr>
                <a:latin typeface="Courier"/>
              </a:rPr>
              <a:t>npm install</a:t>
            </a:r>
            <a:r>
              <a:rPr/>
              <a:t> / </a:t>
            </a:r>
            <a:r>
              <a:rPr>
                <a:latin typeface="Courier"/>
              </a:rPr>
              <a:t>yarn</a:t>
            </a:r>
            <a:r>
              <a:rPr/>
              <a:t> / </a:t>
            </a:r>
            <a:r>
              <a:rPr>
                <a:latin typeface="Courier"/>
              </a:rPr>
              <a:t>pnpm</a:t>
            </a:r>
            <a:r>
              <a:rPr/>
              <a:t> line</a:t>
            </a:r>
          </a:p>
          <a:p>
            <a:pPr lvl="0"/>
            <a:r>
              <a:rPr b="1"/>
              <a:t>Or, better, once per repository:</a:t>
            </a:r>
            <a:r>
              <a:rPr/>
              <a:t> create </a:t>
            </a:r>
            <a:r>
              <a:rPr>
                <a:latin typeface="Courier"/>
              </a:rPr>
              <a:t>.npmrc</a:t>
            </a:r>
            <a:r>
              <a:rPr/>
              <a:t> at the repository root containing </a:t>
            </a:r>
            <a:r>
              <a:rPr>
                <a:latin typeface="Courier"/>
              </a:rPr>
              <a:t>ignore-scripts=true</a:t>
            </a:r>
            <a:r>
              <a:rPr/>
              <a:t>, which covers every install including a developer’s laptop</a:t>
            </a:r>
          </a:p>
          <a:p>
            <a:pPr lvl="0" indent="0" marL="0">
              <a:buNone/>
            </a:pPr>
            <a:r>
              <a:rPr/>
              <a:t>The second form is preferred: it is one file, it is reviewable, and it protects the surface the first form does not.</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Problem 3 — the vacant addresses</a:t>
            </a:r>
          </a:p>
        </p:txBody>
      </p:sp>
      <p:sp>
        <p:nvSpPr>
          <p:cNvPr id="4" name="Text Placeholder 3"/>
          <p:cNvSpPr>
            <a:spLocks noGrp="1"/>
          </p:cNvSpPr>
          <p:nvPr>
            <p:ph idx="2" sz="half" type="body"/>
          </p:nvPr>
        </p:nvSpPr>
        <p:spPr/>
        <p:txBody>
          <a:bodyPr/>
          <a:lstStyle/>
          <a:p>
            <a:pPr lvl="0" indent="0" marL="0">
              <a:buNone/>
            </a:pPr>
            <a:r>
              <a:rPr b="1"/>
              <a:t>9 references across 12 consumer calls</a:t>
            </a:r>
            <a:r>
              <a:rPr/>
              <a:t> point at these branch names in central workflow repositories. The repositories exist; the branches were verified deleted. Two names carry more than one reference, which is why nine references map to eight distinct names.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2552700"/>
                <a:gridCol w="2552700"/>
              </a:tblGrid>
              <a:tr h="0">
                <a:tc>
                  <a:txBody>
                    <a:bodyPr/>
                    <a:lstStyle/>
                    <a:p>
                      <a:pPr lvl="0" indent="0" marL="0">
                        <a:buNone/>
                      </a:pPr>
                      <a:r>
                        <a:rPr/>
                        <a:t>Branch name being called</a:t>
                      </a:r>
                    </a:p>
                  </a:txBody>
                  <a:tcPr/>
                </a:tc>
                <a:tc>
                  <a:txBody>
                    <a:bodyPr/>
                    <a:lstStyle/>
                    <a:p>
                      <a:pPr lvl="0" indent="0" marL="0" algn="r">
                        <a:buNone/>
                      </a:pPr>
                      <a:r>
                        <a:rPr/>
                        <a:t>Status</a:t>
                      </a:r>
                    </a:p>
                  </a:txBody>
                  <a:tcPr/>
                </a:tc>
              </a:tr>
              <a:tr h="0">
                <a:tc>
                  <a:txBody>
                    <a:bodyPr/>
                    <a:lstStyle/>
                    <a:p>
                      <a:pPr lvl="0" indent="0" marL="0">
                        <a:buNone/>
                      </a:pPr>
                      <a:r>
                        <a:rPr>
                          <a:latin typeface="Courier"/>
                        </a:rPr>
                        <a:t>initi</a:t>
                      </a:r>
                    </a:p>
                  </a:txBody>
                </a:tc>
                <a:tc>
                  <a:txBody>
                    <a:bodyPr/>
                    <a:lstStyle/>
                    <a:p>
                      <a:pPr lvl="0" indent="0" marL="0" algn="r">
                        <a:buNone/>
                      </a:pPr>
                      <a:r>
                        <a:rPr/>
                        <a:t>deleted — claimable</a:t>
                      </a:r>
                    </a:p>
                  </a:txBody>
                </a:tc>
              </a:tr>
              <a:tr h="0">
                <a:tc>
                  <a:txBody>
                    <a:bodyPr/>
                    <a:lstStyle/>
                    <a:p>
                      <a:pPr lvl="0" indent="0" marL="0">
                        <a:buNone/>
                      </a:pPr>
                      <a:r>
                        <a:rPr>
                          <a:latin typeface="Courier"/>
                        </a:rPr>
                        <a:t>use-environment</a:t>
                      </a:r>
                    </a:p>
                  </a:txBody>
                </a:tc>
                <a:tc>
                  <a:txBody>
                    <a:bodyPr/>
                    <a:lstStyle/>
                    <a:p>
                      <a:pPr lvl="0" indent="0" marL="0" algn="r">
                        <a:buNone/>
                      </a:pPr>
                      <a:r>
                        <a:rPr/>
                        <a:t>deleted — claimable</a:t>
                      </a:r>
                    </a:p>
                  </a:txBody>
                </a:tc>
              </a:tr>
              <a:tr h="0">
                <a:tc>
                  <a:txBody>
                    <a:bodyPr/>
                    <a:lstStyle/>
                    <a:p>
                      <a:pPr lvl="0" indent="0" marL="0">
                        <a:buNone/>
                      </a:pPr>
                      <a:r>
                        <a:rPr>
                          <a:latin typeface="Courier"/>
                        </a:rPr>
                        <a:t>add-copilot-blocker</a:t>
                      </a:r>
                    </a:p>
                  </a:txBody>
                </a:tc>
                <a:tc>
                  <a:txBody>
                    <a:bodyPr/>
                    <a:lstStyle/>
                    <a:p>
                      <a:pPr lvl="0" indent="0" marL="0" algn="r">
                        <a:buNone/>
                      </a:pPr>
                      <a:r>
                        <a:rPr/>
                        <a:t>deleted — claimable</a:t>
                      </a:r>
                    </a:p>
                  </a:txBody>
                </a:tc>
              </a:tr>
              <a:tr h="0">
                <a:tc>
                  <a:txBody>
                    <a:bodyPr/>
                    <a:lstStyle/>
                    <a:p>
                      <a:pPr lvl="0" indent="0" marL="0">
                        <a:buNone/>
                      </a:pPr>
                      <a:r>
                        <a:rPr>
                          <a:latin typeface="Courier"/>
                        </a:rPr>
                        <a:t>feat/extra-node-ca-cert</a:t>
                      </a:r>
                    </a:p>
                  </a:txBody>
                </a:tc>
                <a:tc>
                  <a:txBody>
                    <a:bodyPr/>
                    <a:lstStyle/>
                    <a:p>
                      <a:pPr lvl="0" indent="0" marL="0" algn="r">
                        <a:buNone/>
                      </a:pPr>
                      <a:r>
                        <a:rPr/>
                        <a:t>deleted — claimable</a:t>
                      </a:r>
                    </a:p>
                  </a:txBody>
                </a:tc>
              </a:tr>
              <a:tr h="0">
                <a:tc>
                  <a:txBody>
                    <a:bodyPr/>
                    <a:lstStyle/>
                    <a:p>
                      <a:pPr lvl="0" indent="0" marL="0">
                        <a:buNone/>
                      </a:pPr>
                      <a:r>
                        <a:rPr>
                          <a:latin typeface="Courier"/>
                        </a:rPr>
                        <a:t>update-to-node-24-actions</a:t>
                      </a:r>
                    </a:p>
                  </a:txBody>
                </a:tc>
                <a:tc>
                  <a:txBody>
                    <a:bodyPr/>
                    <a:lstStyle/>
                    <a:p>
                      <a:pPr lvl="0" indent="0" marL="0" algn="r">
                        <a:buNone/>
                      </a:pPr>
                      <a:r>
                        <a:rPr/>
                        <a:t>deleted — claimable</a:t>
                      </a:r>
                    </a:p>
                  </a:txBody>
                </a:tc>
              </a:tr>
              <a:tr h="0">
                <a:tc>
                  <a:txBody>
                    <a:bodyPr/>
                    <a:lstStyle/>
                    <a:p>
                      <a:pPr lvl="0" indent="0" marL="0">
                        <a:buNone/>
                      </a:pPr>
                      <a:r>
                        <a:rPr>
                          <a:latin typeface="Courier"/>
                        </a:rPr>
                        <a:t>multipe-primary-image-versions</a:t>
                      </a:r>
                    </a:p>
                  </a:txBody>
                </a:tc>
                <a:tc>
                  <a:txBody>
                    <a:bodyPr/>
                    <a:lstStyle/>
                    <a:p>
                      <a:pPr lvl="0" indent="0" marL="0" algn="r">
                        <a:buNone/>
                      </a:pPr>
                      <a:r>
                        <a:rPr/>
                        <a:t>deleted — claimable</a:t>
                      </a:r>
                    </a:p>
                  </a:txBody>
                </a:tc>
              </a:tr>
              <a:tr h="0">
                <a:tc>
                  <a:txBody>
                    <a:bodyPr/>
                    <a:lstStyle/>
                    <a:p>
                      <a:pPr lvl="0" indent="0" marL="0">
                        <a:buNone/>
                      </a:pPr>
                      <a:r>
                        <a:rPr>
                          <a:latin typeface="Courier"/>
                        </a:rPr>
                        <a:t>update-provider-inputs</a:t>
                      </a:r>
                    </a:p>
                  </a:txBody>
                </a:tc>
                <a:tc>
                  <a:txBody>
                    <a:bodyPr/>
                    <a:lstStyle/>
                    <a:p>
                      <a:pPr lvl="0" indent="0" marL="0" algn="r">
                        <a:buNone/>
                      </a:pPr>
                      <a:r>
                        <a:rPr/>
                        <a:t>deleted — claimable</a:t>
                      </a:r>
                    </a:p>
                  </a:txBody>
                </a:tc>
              </a:tr>
              <a:tr h="0">
                <a:tc>
                  <a:txBody>
                    <a:bodyPr/>
                    <a:lstStyle/>
                    <a:p>
                      <a:pPr lvl="0" indent="0" marL="0">
                        <a:buNone/>
                      </a:pPr>
                      <a:r>
                        <a:rPr>
                          <a:latin typeface="Courier"/>
                        </a:rPr>
                        <a:t>dependabot-fixes</a:t>
                      </a:r>
                    </a:p>
                  </a:txBody>
                </a:tc>
                <a:tc>
                  <a:txBody>
                    <a:bodyPr/>
                    <a:lstStyle/>
                    <a:p>
                      <a:pPr lvl="0" indent="0" marL="0" algn="r">
                        <a:buNone/>
                      </a:pPr>
                      <a:r>
                        <a:rPr/>
                        <a:t>deleted — claimable</a:t>
                      </a:r>
                    </a:p>
                  </a:txBody>
                </a:tc>
              </a:tr>
            </a:tbl>
          </a:graphicData>
        </a:graphic>
      </p:graphicFrame>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Problem 3 — who is calling them, and what to do</a:t>
            </a:r>
          </a:p>
        </p:txBody>
      </p:sp>
      <p:sp>
        <p:nvSpPr>
          <p:cNvPr id="3" name="Content Placeholder 2"/>
          <p:cNvSpPr>
            <a:spLocks noGrp="1"/>
          </p:cNvSpPr>
          <p:nvPr>
            <p:ph idx="1"/>
          </p:nvPr>
        </p:nvSpPr>
        <p:spPr/>
        <p:txBody>
          <a:bodyPr/>
          <a:lstStyle/>
          <a:p>
            <a:pPr lvl="0" indent="0" marL="0">
              <a:buNone/>
            </a:pPr>
            <a:r>
              <a:rPr b="1"/>
              <a:t>Consumers that are not sandboxes</a:t>
            </a:r>
            <a:r>
              <a:rPr/>
              <a:t> — these break today and are the escalation path:</a:t>
            </a:r>
          </a:p>
          <a:p>
            <a:pPr lvl="0"/>
            <a:r>
              <a:rPr>
                <a:latin typeface="Courier"/>
              </a:rPr>
              <a:t>SleepNumberInc/snip-iics-mft-ops</a:t>
            </a:r>
          </a:p>
          <a:p>
            <a:pPr lvl="0"/>
            <a:r>
              <a:rPr>
                <a:latin typeface="Courier"/>
              </a:rPr>
              <a:t>SleepNumberInc/dot-env-to-env-var-action</a:t>
            </a:r>
          </a:p>
          <a:p>
            <a:pPr lvl="0"/>
            <a:r>
              <a:rPr>
                <a:latin typeface="Courier"/>
              </a:rPr>
              <a:t>SleepNumberInc/eslint-config-azure-integrations</a:t>
            </a:r>
          </a:p>
          <a:p>
            <a:pPr lvl="0" indent="0" marL="0">
              <a:buNone/>
            </a:pPr>
            <a:r>
              <a:rPr/>
              <a:t>The rest are sandbox and proof-of-concept repositories (</a:t>
            </a:r>
            <a:r>
              <a:rPr>
                <a:latin typeface="Courier"/>
              </a:rPr>
              <a:t>cldsvcs-test-*</a:t>
            </a:r>
            <a:r>
              <a:rPr/>
              <a:t>, </a:t>
            </a:r>
            <a:r>
              <a:rPr>
                <a:latin typeface="Courier"/>
              </a:rPr>
              <a:t>devops-sandbox-*</a:t>
            </a:r>
            <a:r>
              <a:rPr/>
              <a:t>, </a:t>
            </a:r>
            <a:r>
              <a:rPr>
                <a:latin typeface="Courier"/>
              </a:rPr>
              <a:t>ss_gh_poc</a:t>
            </a:r>
            <a:r>
              <a:rPr/>
              <a:t>, </a:t>
            </a:r>
            <a:r>
              <a:rPr>
                <a:latin typeface="Courier"/>
              </a:rPr>
              <a:t>chads-github-actions-playground</a:t>
            </a:r>
            <a:r>
              <a:rPr/>
              <a:t>).</a:t>
            </a:r>
          </a:p>
          <a:p>
            <a:pPr lvl="0" indent="0" marL="0">
              <a:buNone/>
            </a:pPr>
            <a:r>
              <a:rPr b="1"/>
              <a:t>Two more are ordinary breakage rather than risk:</a:t>
            </a:r>
            <a:r>
              <a:rPr/>
              <a:t> </a:t>
            </a:r>
            <a:r>
              <a:rPr>
                <a:latin typeface="Courier"/>
              </a:rPr>
              <a:t>snip-iics-mft-ops</a:t>
            </a:r>
            <a:r>
              <a:rPr/>
              <a:t> calls </a:t>
            </a:r>
            <a:r>
              <a:rPr>
                <a:latin typeface="Courier"/>
              </a:rPr>
              <a:t>iics_cd_workflow.yaml@main</a:t>
            </a:r>
            <a:r>
              <a:rPr/>
              <a:t> where the file is now </a:t>
            </a:r>
            <a:r>
              <a:rPr>
                <a:latin typeface="Courier"/>
              </a:rPr>
              <a:t>iics_cd.yaml</a:t>
            </a:r>
            <a:r>
              <a:rPr/>
              <a:t>, and two repos call </a:t>
            </a:r>
            <a:r>
              <a:rPr>
                <a:latin typeface="Courier"/>
              </a:rPr>
              <a:t>pr_lint.yml@v1</a:t>
            </a:r>
            <a:r>
              <a:rPr/>
              <a:t> where the file is </a:t>
            </a:r>
            <a:r>
              <a:rPr>
                <a:latin typeface="Courier"/>
              </a:rPr>
              <a:t>pr_lint.yaml</a:t>
            </a:r>
            <a:r>
              <a:rPr/>
              <a:t>.</a:t>
            </a:r>
          </a:p>
          <a:p>
            <a:pPr lvl="0" indent="0" marL="0">
              <a:buNone/>
            </a:pPr>
            <a:r>
              <a:rPr b="1"/>
              <a:t>The fix has two halves, and both are required.</a:t>
            </a:r>
            <a:r>
              <a:rPr/>
              <a:t> Repoint the </a:t>
            </a:r>
            <a:r>
              <a:rPr>
                <a:latin typeface="Courier"/>
              </a:rPr>
              <a:t>uses:</a:t>
            </a:r>
            <a:r>
              <a:rPr/>
              <a:t> line at a commit SHA on a branch that exists — then add a branch protection rule in the </a:t>
            </a:r>
            <a:r>
              <a:rPr i="1"/>
              <a:t>central</a:t>
            </a:r>
            <a:r>
              <a:rPr/>
              <a:t> repository matching each deleted name, and restrict branch creation to maintainers. Repointing alone leaves the door shut but unlocked.</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Problem 4 — the most-referenced moving targets</a:t>
            </a:r>
          </a:p>
        </p:txBody>
      </p:sp>
      <p:sp>
        <p:nvSpPr>
          <p:cNvPr id="4" name="Text Placeholder 3"/>
          <p:cNvSpPr>
            <a:spLocks noGrp="1"/>
          </p:cNvSpPr>
          <p:nvPr>
            <p:ph idx="2" sz="half" type="body"/>
          </p:nvPr>
        </p:nvSpPr>
        <p:spPr/>
        <p:txBody>
          <a:bodyPr/>
          <a:lstStyle/>
          <a:p>
            <a:pPr lvl="0" indent="0" marL="0">
              <a:buNone/>
            </a:pPr>
            <a:r>
              <a:rPr b="1"/>
              <a:t>8,115</a:t>
            </a:r>
            <a:r>
              <a:rPr/>
              <a:t> references sit on a moving name against </a:t>
            </a:r>
            <a:r>
              <a:rPr b="1"/>
              <a:t>960</a:t>
            </a:r>
            <a:r>
              <a:rPr/>
              <a:t> pinned to an exact version. These twelve are where pinning buys the most.</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2552700"/>
                <a:gridCol w="2552700"/>
              </a:tblGrid>
              <a:tr h="0">
                <a:tc>
                  <a:txBody>
                    <a:bodyPr/>
                    <a:lstStyle/>
                    <a:p>
                      <a:pPr lvl="0" indent="0" marL="0">
                        <a:buNone/>
                      </a:pPr>
                      <a:r>
                        <a:rPr/>
                        <a:t>Outside component tracked on a moving name</a:t>
                      </a:r>
                    </a:p>
                  </a:txBody>
                  <a:tcPr/>
                </a:tc>
                <a:tc>
                  <a:txBody>
                    <a:bodyPr/>
                    <a:lstStyle/>
                    <a:p>
                      <a:pPr lvl="0" indent="0" marL="0" algn="r">
                        <a:buNone/>
                      </a:pPr>
                      <a:r>
                        <a:rPr/>
                        <a:t>References</a:t>
                      </a:r>
                    </a:p>
                  </a:txBody>
                  <a:tcPr/>
                </a:tc>
              </a:tr>
              <a:tr h="0">
                <a:tc>
                  <a:txBody>
                    <a:bodyPr/>
                    <a:lstStyle/>
                    <a:p>
                      <a:pPr lvl="0" indent="0" marL="0">
                        <a:buNone/>
                      </a:pPr>
                      <a:r>
                        <a:rPr>
                          <a:latin typeface="Courier"/>
                        </a:rPr>
                        <a:t>FranzDiebold/github-env-vars-action@v2.1.0</a:t>
                      </a:r>
                    </a:p>
                  </a:txBody>
                </a:tc>
                <a:tc>
                  <a:txBody>
                    <a:bodyPr/>
                    <a:lstStyle/>
                    <a:p>
                      <a:pPr lvl="0" indent="0" marL="0" algn="r">
                        <a:buNone/>
                      </a:pPr>
                      <a:r>
                        <a:rPr b="1"/>
                        <a:t>233</a:t>
                      </a:r>
                    </a:p>
                  </a:txBody>
                </a:tc>
              </a:tr>
              <a:tr h="0">
                <a:tc>
                  <a:txBody>
                    <a:bodyPr/>
                    <a:lstStyle/>
                    <a:p>
                      <a:pPr lvl="0" indent="0" marL="0">
                        <a:buNone/>
                      </a:pPr>
                      <a:r>
                        <a:rPr>
                          <a:latin typeface="Courier"/>
                        </a:rPr>
                        <a:t>hashicorp/setup-terraform@v1</a:t>
                      </a:r>
                    </a:p>
                  </a:txBody>
                </a:tc>
                <a:tc>
                  <a:txBody>
                    <a:bodyPr/>
                    <a:lstStyle/>
                    <a:p>
                      <a:pPr lvl="0" indent="0" marL="0" algn="r">
                        <a:buNone/>
                      </a:pPr>
                      <a:r>
                        <a:rPr b="1"/>
                        <a:t>162</a:t>
                      </a:r>
                    </a:p>
                  </a:txBody>
                </a:tc>
              </a:tr>
              <a:tr h="0">
                <a:tc>
                  <a:txBody>
                    <a:bodyPr/>
                    <a:lstStyle/>
                    <a:p>
                      <a:pPr lvl="0" indent="0" marL="0">
                        <a:buNone/>
                      </a:pPr>
                      <a:r>
                        <a:rPr>
                          <a:latin typeface="Courier"/>
                        </a:rPr>
                        <a:t>c-py/action-dotenv-to-setenv@v3</a:t>
                      </a:r>
                    </a:p>
                  </a:txBody>
                </a:tc>
                <a:tc>
                  <a:txBody>
                    <a:bodyPr/>
                    <a:lstStyle/>
                    <a:p>
                      <a:pPr lvl="0" indent="0" marL="0" algn="r">
                        <a:buNone/>
                      </a:pPr>
                      <a:r>
                        <a:rPr b="1"/>
                        <a:t>111</a:t>
                      </a:r>
                    </a:p>
                  </a:txBody>
                </a:tc>
              </a:tr>
              <a:tr h="0">
                <a:tc>
                  <a:txBody>
                    <a:bodyPr/>
                    <a:lstStyle/>
                    <a:p>
                      <a:pPr lvl="0" indent="0" marL="0">
                        <a:buNone/>
                      </a:pPr>
                      <a:r>
                        <a:rPr>
                          <a:latin typeface="Courier"/>
                        </a:rPr>
                        <a:t>chrnorm/deployment-action@releases/v1</a:t>
                      </a:r>
                    </a:p>
                  </a:txBody>
                </a:tc>
                <a:tc>
                  <a:txBody>
                    <a:bodyPr/>
                    <a:lstStyle/>
                    <a:p>
                      <a:pPr lvl="0" indent="0" marL="0" algn="r">
                        <a:buNone/>
                      </a:pPr>
                      <a:r>
                        <a:rPr b="1"/>
                        <a:t>92</a:t>
                      </a:r>
                    </a:p>
                  </a:txBody>
                </a:tc>
              </a:tr>
              <a:tr h="0">
                <a:tc>
                  <a:txBody>
                    <a:bodyPr/>
                    <a:lstStyle/>
                    <a:p>
                      <a:pPr lvl="0" indent="0" marL="0">
                        <a:buNone/>
                      </a:pPr>
                      <a:r>
                        <a:rPr>
                          <a:latin typeface="Courier"/>
                        </a:rPr>
                        <a:t>ncipollo/release-action@v1</a:t>
                      </a:r>
                    </a:p>
                  </a:txBody>
                </a:tc>
                <a:tc>
                  <a:txBody>
                    <a:bodyPr/>
                    <a:lstStyle/>
                    <a:p>
                      <a:pPr lvl="0" indent="0" marL="0" algn="r">
                        <a:buNone/>
                      </a:pPr>
                      <a:r>
                        <a:rPr b="1"/>
                        <a:t>73</a:t>
                      </a:r>
                    </a:p>
                  </a:txBody>
                </a:tc>
              </a:tr>
              <a:tr h="0">
                <a:tc>
                  <a:txBody>
                    <a:bodyPr/>
                    <a:lstStyle/>
                    <a:p>
                      <a:pPr lvl="0" indent="0" marL="0">
                        <a:buNone/>
                      </a:pPr>
                      <a:r>
                        <a:rPr>
                          <a:latin typeface="Courier"/>
                        </a:rPr>
                        <a:t>Azure/docker-login@v1</a:t>
                      </a:r>
                    </a:p>
                  </a:txBody>
                </a:tc>
                <a:tc>
                  <a:txBody>
                    <a:bodyPr/>
                    <a:lstStyle/>
                    <a:p>
                      <a:pPr lvl="0" indent="0" marL="0" algn="r">
                        <a:buNone/>
                      </a:pPr>
                      <a:r>
                        <a:rPr b="1"/>
                        <a:t>70</a:t>
                      </a:r>
                    </a:p>
                  </a:txBody>
                </a:tc>
              </a:tr>
              <a:tr h="0">
                <a:tc>
                  <a:txBody>
                    <a:bodyPr/>
                    <a:lstStyle/>
                    <a:p>
                      <a:pPr lvl="0" indent="0" marL="0">
                        <a:buNone/>
                      </a:pPr>
                      <a:r>
                        <a:rPr>
                          <a:latin typeface="Courier"/>
                        </a:rPr>
                        <a:t>montudor/action-zip@v0.1.1</a:t>
                      </a:r>
                    </a:p>
                  </a:txBody>
                </a:tc>
                <a:tc>
                  <a:txBody>
                    <a:bodyPr/>
                    <a:lstStyle/>
                    <a:p>
                      <a:pPr lvl="0" indent="0" marL="0" algn="r">
                        <a:buNone/>
                      </a:pPr>
                      <a:r>
                        <a:rPr b="1"/>
                        <a:t>63</a:t>
                      </a:r>
                    </a:p>
                  </a:txBody>
                </a:tc>
              </a:tr>
              <a:tr h="0">
                <a:tc>
                  <a:txBody>
                    <a:bodyPr/>
                    <a:lstStyle/>
                    <a:p>
                      <a:pPr lvl="0" indent="0" marL="0">
                        <a:buNone/>
                      </a:pPr>
                      <a:r>
                        <a:rPr>
                          <a:latin typeface="Courier"/>
                        </a:rPr>
                        <a:t>notiz-dev/github-action-json-property@release</a:t>
                      </a:r>
                    </a:p>
                  </a:txBody>
                </a:tc>
                <a:tc>
                  <a:txBody>
                    <a:bodyPr/>
                    <a:lstStyle/>
                    <a:p>
                      <a:pPr lvl="0" indent="0" marL="0" algn="r">
                        <a:buNone/>
                      </a:pPr>
                      <a:r>
                        <a:rPr b="1"/>
                        <a:t>62</a:t>
                      </a:r>
                    </a:p>
                  </a:txBody>
                </a:tc>
              </a:tr>
              <a:tr h="0">
                <a:tc>
                  <a:txBody>
                    <a:bodyPr/>
                    <a:lstStyle/>
                    <a:p>
                      <a:pPr lvl="0" indent="0" marL="0">
                        <a:buNone/>
                      </a:pPr>
                      <a:r>
                        <a:rPr>
                          <a:latin typeface="Courier"/>
                        </a:rPr>
                        <a:t>rsotnychenko/deployment-status-update@0.2.0</a:t>
                      </a:r>
                    </a:p>
                  </a:txBody>
                </a:tc>
                <a:tc>
                  <a:txBody>
                    <a:bodyPr/>
                    <a:lstStyle/>
                    <a:p>
                      <a:pPr lvl="0" indent="0" marL="0" algn="r">
                        <a:buNone/>
                      </a:pPr>
                      <a:r>
                        <a:rPr b="1"/>
                        <a:t>60</a:t>
                      </a:r>
                    </a:p>
                  </a:txBody>
                </a:tc>
              </a:tr>
              <a:tr h="0">
                <a:tc>
                  <a:txBody>
                    <a:bodyPr/>
                    <a:lstStyle/>
                    <a:p>
                      <a:pPr lvl="0" indent="0" marL="0">
                        <a:buNone/>
                      </a:pPr>
                      <a:r>
                        <a:rPr>
                          <a:latin typeface="Courier"/>
                        </a:rPr>
                        <a:t>jossef/action-set-json-field@v1</a:t>
                      </a:r>
                    </a:p>
                  </a:txBody>
                </a:tc>
                <a:tc>
                  <a:txBody>
                    <a:bodyPr/>
                    <a:lstStyle/>
                    <a:p>
                      <a:pPr lvl="0" indent="0" marL="0" algn="r">
                        <a:buNone/>
                      </a:pPr>
                      <a:r>
                        <a:rPr b="1"/>
                        <a:t>55</a:t>
                      </a:r>
                    </a:p>
                  </a:txBody>
                </a:tc>
              </a:tr>
              <a:tr h="0">
                <a:tc>
                  <a:txBody>
                    <a:bodyPr/>
                    <a:lstStyle/>
                    <a:p>
                      <a:pPr lvl="0" indent="0" marL="0">
                        <a:buNone/>
                      </a:pPr>
                      <a:r>
                        <a:rPr>
                          <a:latin typeface="Courier"/>
                        </a:rPr>
                        <a:t>Azure/container-scan@v0</a:t>
                      </a:r>
                    </a:p>
                  </a:txBody>
                </a:tc>
                <a:tc>
                  <a:txBody>
                    <a:bodyPr/>
                    <a:lstStyle/>
                    <a:p>
                      <a:pPr lvl="0" indent="0" marL="0" algn="r">
                        <a:buNone/>
                      </a:pPr>
                      <a:r>
                        <a:rPr b="1"/>
                        <a:t>52</a:t>
                      </a:r>
                    </a:p>
                  </a:txBody>
                </a:tc>
              </a:tr>
              <a:tr h="0">
                <a:tc>
                  <a:txBody>
                    <a:bodyPr/>
                    <a:lstStyle/>
                    <a:p>
                      <a:pPr lvl="0" indent="0" marL="0">
                        <a:buNone/>
                      </a:pPr>
                      <a:r>
                        <a:rPr>
                          <a:latin typeface="Courier"/>
                        </a:rPr>
                        <a:t>Firenza/secrets-to-env@v1.1.0</a:t>
                      </a:r>
                    </a:p>
                  </a:txBody>
                </a:tc>
                <a:tc>
                  <a:txBody>
                    <a:bodyPr/>
                    <a:lstStyle/>
                    <a:p>
                      <a:pPr lvl="0" indent="0" marL="0" algn="r">
                        <a:buNone/>
                      </a:pPr>
                      <a:r>
                        <a:rPr b="1"/>
                        <a:t>52</a:t>
                      </a:r>
                    </a:p>
                  </a:txBody>
                </a:tc>
              </a:tr>
            </a:tbl>
          </a:graphicData>
        </a:graphic>
      </p:graphicFrame>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Problem 4 — workflows that download and run code without checking it</a:t>
            </a:r>
          </a:p>
        </p:txBody>
      </p:sp>
      <p:sp>
        <p:nvSpPr>
          <p:cNvPr id="4" name="Text Placeholder 3"/>
          <p:cNvSpPr>
            <a:spLocks noGrp="1"/>
          </p:cNvSpPr>
          <p:nvPr>
            <p:ph idx="2" sz="half" type="body"/>
          </p:nvPr>
        </p:nvSpPr>
        <p:spPr/>
        <p:txBody>
          <a:bodyPr/>
          <a:lstStyle/>
          <a:p>
            <a:pPr lvl="0" indent="0" marL="0">
              <a:buNone/>
            </a:pPr>
            <a:r>
              <a:rPr/>
              <a:t>Four workflows fetch code from the internet and execute it immediately. This is deliberate in each case, but it is the same primitive the campaign relies on, so each should be pinned to a known version or replaced.</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397000"/>
                <a:gridCol w="1854200"/>
                <a:gridCol w="1854200"/>
              </a:tblGrid>
              <a:tr h="0">
                <a:tc>
                  <a:txBody>
                    <a:bodyPr/>
                    <a:lstStyle/>
                    <a:p>
                      <a:pPr lvl="0" indent="0" marL="0">
                        <a:buNone/>
                      </a:pPr>
                      <a:r>
                        <a:rPr/>
                        <a:t>Repository</a:t>
                      </a:r>
                    </a:p>
                  </a:txBody>
                  <a:tcPr/>
                </a:tc>
                <a:tc>
                  <a:txBody>
                    <a:bodyPr/>
                    <a:lstStyle/>
                    <a:p>
                      <a:pPr lvl="0" indent="0" marL="0" algn="r">
                        <a:buNone/>
                      </a:pPr>
                      <a:r>
                        <a:rPr/>
                        <a:t>File</a:t>
                      </a:r>
                    </a:p>
                  </a:txBody>
                  <a:tcPr/>
                </a:tc>
                <a:tc>
                  <a:txBody>
                    <a:bodyPr/>
                    <a:lstStyle/>
                    <a:p>
                      <a:pPr lvl="0" indent="0" marL="0" algn="r">
                        <a:buNone/>
                      </a:pPr>
                      <a:r>
                        <a:rPr/>
                        <a:t>Occurrences</a:t>
                      </a:r>
                    </a:p>
                  </a:txBody>
                  <a:tcPr/>
                </a:tc>
              </a:tr>
              <a:tr h="0">
                <a:tc>
                  <a:txBody>
                    <a:bodyPr/>
                    <a:lstStyle/>
                    <a:p>
                      <a:pPr lvl="0" indent="0" marL="0">
                        <a:buNone/>
                      </a:pPr>
                      <a:r>
                        <a:rPr>
                          <a:latin typeface="Courier"/>
                        </a:rPr>
                        <a:t>sleep-number-claude-code-plugins</a:t>
                      </a:r>
                    </a:p>
                  </a:txBody>
                </a:tc>
                <a:tc>
                  <a:txBody>
                    <a:bodyPr/>
                    <a:lstStyle/>
                    <a:p>
                      <a:pPr lvl="0" indent="0" marL="0" algn="r">
                        <a:buNone/>
                      </a:pPr>
                      <a:r>
                        <a:rPr>
                          <a:latin typeface="Courier"/>
                        </a:rPr>
                        <a:t>.github/workflows/ci.yaml</a:t>
                      </a:r>
                    </a:p>
                  </a:txBody>
                </a:tc>
                <a:tc>
                  <a:txBody>
                    <a:bodyPr/>
                    <a:lstStyle/>
                    <a:p>
                      <a:pPr lvl="0" indent="0" marL="0" algn="r">
                        <a:buNone/>
                      </a:pPr>
                      <a:r>
                        <a:rPr/>
                        <a:t>2</a:t>
                      </a:r>
                    </a:p>
                  </a:txBody>
                </a:tc>
              </a:tr>
              <a:tr h="0">
                <a:tc>
                  <a:txBody>
                    <a:bodyPr/>
                    <a:lstStyle/>
                    <a:p>
                      <a:pPr lvl="0" indent="0" marL="0">
                        <a:buNone/>
                      </a:pPr>
                      <a:r>
                        <a:rPr>
                          <a:latin typeface="Courier"/>
                        </a:rPr>
                        <a:t>sleepnumberlabs/sdna-new-databricks</a:t>
                      </a:r>
                    </a:p>
                  </a:txBody>
                </a:tc>
                <a:tc>
                  <a:txBody>
                    <a:bodyPr/>
                    <a:lstStyle/>
                    <a:p>
                      <a:pPr lvl="0" indent="0" marL="0" algn="r">
                        <a:buNone/>
                      </a:pPr>
                      <a:r>
                        <a:rPr>
                          <a:latin typeface="Courier"/>
                        </a:rPr>
                        <a:t>.github/workflows/1-sync-databricks-jobs.yml</a:t>
                      </a:r>
                    </a:p>
                  </a:txBody>
                </a:tc>
                <a:tc>
                  <a:txBody>
                    <a:bodyPr/>
                    <a:lstStyle/>
                    <a:p>
                      <a:pPr lvl="0" indent="0" marL="0" algn="r">
                        <a:buNone/>
                      </a:pPr>
                      <a:r>
                        <a:rPr/>
                        <a:t>1</a:t>
                      </a:r>
                    </a:p>
                  </a:txBody>
                </a:tc>
              </a:tr>
              <a:tr h="0">
                <a:tc>
                  <a:txBody>
                    <a:bodyPr/>
                    <a:lstStyle/>
                    <a:p>
                      <a:pPr lvl="0" indent="0" marL="0">
                        <a:buNone/>
                      </a:pPr>
                      <a:r>
                        <a:rPr>
                          <a:latin typeface="Courier"/>
                        </a:rPr>
                        <a:t>sleepnumberlabs/sdp-databricks-pytest-poc</a:t>
                      </a:r>
                    </a:p>
                  </a:txBody>
                </a:tc>
                <a:tc>
                  <a:txBody>
                    <a:bodyPr/>
                    <a:lstStyle/>
                    <a:p>
                      <a:pPr lvl="0" indent="0" marL="0" algn="r">
                        <a:buNone/>
                      </a:pPr>
                      <a:r>
                        <a:rPr>
                          <a:latin typeface="Courier"/>
                        </a:rPr>
                        <a:t>.github/workflows/run-integration-tests.yml</a:t>
                      </a:r>
                    </a:p>
                  </a:txBody>
                </a:tc>
                <a:tc>
                  <a:txBody>
                    <a:bodyPr/>
                    <a:lstStyle/>
                    <a:p>
                      <a:pPr lvl="0" indent="0" marL="0" algn="r">
                        <a:buNone/>
                      </a:pPr>
                      <a:r>
                        <a:rPr/>
                        <a:t>1</a:t>
                      </a:r>
                    </a:p>
                  </a:txBody>
                </a:tc>
              </a:tr>
              <a:tr h="0">
                <a:tc>
                  <a:txBody>
                    <a:bodyPr/>
                    <a:lstStyle/>
                    <a:p>
                      <a:pPr lvl="0" indent="0" marL="0">
                        <a:buNone/>
                      </a:pPr>
                      <a:r>
                        <a:rPr>
                          <a:latin typeface="Courier"/>
                        </a:rPr>
                        <a:t>sleepnumberlabs/sdp-databricks-pytest-poc</a:t>
                      </a:r>
                    </a:p>
                  </a:txBody>
                </a:tc>
                <a:tc>
                  <a:txBody>
                    <a:bodyPr/>
                    <a:lstStyle/>
                    <a:p>
                      <a:pPr lvl="0" indent="0" marL="0" algn="r">
                        <a:buNone/>
                      </a:pPr>
                      <a:r>
                        <a:rPr>
                          <a:latin typeface="Courier"/>
                        </a:rPr>
                        <a:t>.github/workflows/run-tests-on-databricks-dev.yml</a:t>
                      </a:r>
                    </a:p>
                  </a:txBody>
                </a:tc>
                <a:tc>
                  <a:txBody>
                    <a:bodyPr/>
                    <a:lstStyle/>
                    <a:p>
                      <a:pPr lvl="0" indent="0" marL="0" algn="r">
                        <a:buNone/>
                      </a:pPr>
                      <a:r>
                        <a:rPr/>
                        <a:t>1</a:t>
                      </a:r>
                    </a:p>
                  </a:txBody>
                </a:tc>
              </a:tr>
            </a:tbl>
          </a:graphicData>
        </a:graphic>
      </p:graphicFrame>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Fix E — the front door we already own</a:t>
            </a:r>
          </a:p>
        </p:txBody>
      </p:sp>
      <p:sp>
        <p:nvSpPr>
          <p:cNvPr id="4" name="Text Placeholder 3"/>
          <p:cNvSpPr>
            <a:spLocks noGrp="1"/>
          </p:cNvSpPr>
          <p:nvPr>
            <p:ph idx="2" sz="half" type="body"/>
          </p:nvPr>
        </p:nvSpPr>
        <p:spPr/>
        <p:txBody>
          <a:bodyPr/>
          <a:lstStyle/>
          <a:p>
            <a:pPr lvl="0" indent="0" marL="0">
              <a:buNone/>
            </a:pPr>
            <a:r>
              <a:rPr b="1"/>
              <a:t>0</a:t>
            </a:r>
            <a:r>
              <a:rPr/>
              <a:t> relevant components flow through any of these, against </a:t>
            </a:r>
            <a:r>
              <a:rPr b="1"/>
              <a:t>523</a:t>
            </a:r>
            <a:r>
              <a:rPr/>
              <a:t> Microsoft-ecosystem components that do. The connection already exists on three of them.</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Feed</a:t>
                      </a:r>
                    </a:p>
                  </a:txBody>
                  <a:tcPr/>
                </a:tc>
                <a:tc>
                  <a:txBody>
                    <a:bodyPr/>
                    <a:lstStyle/>
                    <a:p>
                      <a:pPr lvl="0" indent="0" marL="0" algn="r">
                        <a:buNone/>
                      </a:pPr>
                      <a:r>
                        <a:rPr/>
                        <a:t>Connected to the public catalog</a:t>
                      </a:r>
                    </a:p>
                  </a:txBody>
                  <a:tcPr/>
                </a:tc>
                <a:tc>
                  <a:txBody>
                    <a:bodyPr/>
                    <a:lstStyle/>
                    <a:p>
                      <a:pPr lvl="0" indent="0" marL="0" algn="r">
                        <a:buNone/>
                      </a:pPr>
                      <a:r>
                        <a:rPr/>
                        <a:t>Readable</a:t>
                      </a:r>
                    </a:p>
                  </a:txBody>
                  <a:tcPr/>
                </a:tc>
              </a:tr>
              <a:tr h="0">
                <a:tc>
                  <a:txBody>
                    <a:bodyPr/>
                    <a:lstStyle/>
                    <a:p>
                      <a:pPr lvl="0" indent="0" marL="0">
                        <a:buNone/>
                      </a:pPr>
                      <a:r>
                        <a:rPr>
                          <a:latin typeface="Courier"/>
                        </a:rPr>
                        <a:t>sn-tim/sn-tim</a:t>
                      </a:r>
                    </a:p>
                  </a:txBody>
                </a:tc>
                <a:tc>
                  <a:txBody>
                    <a:bodyPr/>
                    <a:lstStyle/>
                    <a:p>
                      <a:pPr lvl="0" indent="0" marL="0" algn="r">
                        <a:buNone/>
                      </a:pPr>
                      <a:r>
                        <a:rPr/>
                        <a:t>yes</a:t>
                      </a:r>
                    </a:p>
                  </a:txBody>
                </a:tc>
                <a:tc>
                  <a:txBody>
                    <a:bodyPr/>
                    <a:lstStyle/>
                    <a:p>
                      <a:pPr lvl="0" indent="0" marL="0" algn="r">
                        <a:buNone/>
                      </a:pPr>
                      <a:r>
                        <a:rPr/>
                        <a:t>yes</a:t>
                      </a:r>
                    </a:p>
                  </a:txBody>
                </a:tc>
              </a:tr>
              <a:tr h="0">
                <a:tc>
                  <a:txBody>
                    <a:bodyPr/>
                    <a:lstStyle/>
                    <a:p>
                      <a:pPr lvl="0" indent="0" marL="0">
                        <a:buNone/>
                      </a:pPr>
                      <a:r>
                        <a:rPr>
                          <a:latin typeface="Courier"/>
                        </a:rPr>
                        <a:t>sn-tim/sn-tim-invision-packages</a:t>
                      </a:r>
                    </a:p>
                  </a:txBody>
                </a:tc>
                <a:tc>
                  <a:txBody>
                    <a:bodyPr/>
                    <a:lstStyle/>
                    <a:p>
                      <a:pPr lvl="0" indent="0" marL="0" algn="r">
                        <a:buNone/>
                      </a:pPr>
                      <a:r>
                        <a:rPr/>
                        <a:t>no</a:t>
                      </a:r>
                    </a:p>
                  </a:txBody>
                </a:tc>
                <a:tc>
                  <a:txBody>
                    <a:bodyPr/>
                    <a:lstStyle/>
                    <a:p>
                      <a:pPr lvl="0" indent="0" marL="0" algn="r">
                        <a:buNone/>
                      </a:pPr>
                      <a:r>
                        <a:rPr/>
                        <a:t>yes</a:t>
                      </a:r>
                    </a:p>
                  </a:txBody>
                </a:tc>
              </a:tr>
              <a:tr h="0">
                <a:tc>
                  <a:txBody>
                    <a:bodyPr/>
                    <a:lstStyle/>
                    <a:p>
                      <a:pPr lvl="0" indent="0" marL="0">
                        <a:buNone/>
                      </a:pPr>
                      <a:r>
                        <a:rPr>
                          <a:latin typeface="Courier"/>
                        </a:rPr>
                        <a:t>sn-tim/sn-tim-packages</a:t>
                      </a:r>
                    </a:p>
                  </a:txBody>
                </a:tc>
                <a:tc>
                  <a:txBody>
                    <a:bodyPr/>
                    <a:lstStyle/>
                    <a:p>
                      <a:pPr lvl="0" indent="0" marL="0" algn="r">
                        <a:buNone/>
                      </a:pPr>
                      <a:r>
                        <a:rPr/>
                        <a:t>yes</a:t>
                      </a:r>
                    </a:p>
                  </a:txBody>
                </a:tc>
                <a:tc>
                  <a:txBody>
                    <a:bodyPr/>
                    <a:lstStyle/>
                    <a:p>
                      <a:pPr lvl="0" indent="0" marL="0" algn="r">
                        <a:buNone/>
                      </a:pPr>
                      <a:r>
                        <a:rPr/>
                        <a:t>yes</a:t>
                      </a:r>
                    </a:p>
                  </a:txBody>
                </a:tc>
              </a:tr>
              <a:tr h="0">
                <a:tc>
                  <a:txBody>
                    <a:bodyPr/>
                    <a:lstStyle/>
                    <a:p>
                      <a:pPr lvl="0" indent="0" marL="0">
                        <a:buNone/>
                      </a:pPr>
                      <a:r>
                        <a:rPr>
                          <a:latin typeface="Courier"/>
                        </a:rPr>
                        <a:t>SleepNumberIndigo/k8s-manifests</a:t>
                      </a:r>
                    </a:p>
                  </a:txBody>
                </a:tc>
                <a:tc>
                  <a:txBody>
                    <a:bodyPr/>
                    <a:lstStyle/>
                    <a:p>
                      <a:pPr lvl="0" indent="0" marL="0" algn="r">
                        <a:buNone/>
                      </a:pPr>
                      <a:r>
                        <a:rPr/>
                        <a:t>no</a:t>
                      </a:r>
                    </a:p>
                  </a:txBody>
                </a:tc>
                <a:tc>
                  <a:txBody>
                    <a:bodyPr/>
                    <a:lstStyle/>
                    <a:p>
                      <a:pPr lvl="0" indent="0" marL="0" algn="r">
                        <a:buNone/>
                      </a:pPr>
                      <a:r>
                        <a:rPr b="1"/>
                        <a:t>no</a:t>
                      </a:r>
                    </a:p>
                  </a:txBody>
                </a:tc>
              </a:tr>
              <a:tr h="0">
                <a:tc>
                  <a:txBody>
                    <a:bodyPr/>
                    <a:lstStyle/>
                    <a:p>
                      <a:pPr lvl="0" indent="0" marL="0">
                        <a:buNone/>
                      </a:pPr>
                      <a:r>
                        <a:rPr>
                          <a:latin typeface="Courier"/>
                        </a:rPr>
                        <a:t>SleepNumberIndigo/SleepNumberIndigo</a:t>
                      </a:r>
                    </a:p>
                  </a:txBody>
                </a:tc>
                <a:tc>
                  <a:txBody>
                    <a:bodyPr/>
                    <a:lstStyle/>
                    <a:p>
                      <a:pPr lvl="0" indent="0" marL="0" algn="r">
                        <a:buNone/>
                      </a:pPr>
                      <a:r>
                        <a:rPr/>
                        <a:t>yes</a:t>
                      </a:r>
                    </a:p>
                  </a:txBody>
                </a:tc>
                <a:tc>
                  <a:txBody>
                    <a:bodyPr/>
                    <a:lstStyle/>
                    <a:p>
                      <a:pPr lvl="0" indent="0" marL="0" algn="r">
                        <a:buNone/>
                      </a:pPr>
                      <a:r>
                        <a:rPr/>
                        <a:t>yes</a:t>
                      </a:r>
                    </a:p>
                  </a:txBody>
                </a:tc>
              </a:tr>
            </a:tbl>
          </a:graphicData>
        </a:graphic>
      </p:graphicFrame>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is deliberately not listed here</a:t>
            </a:r>
          </a:p>
        </p:txBody>
      </p:sp>
      <p:sp>
        <p:nvSpPr>
          <p:cNvPr id="3" name="Content Placeholder 2"/>
          <p:cNvSpPr>
            <a:spLocks noGrp="1"/>
          </p:cNvSpPr>
          <p:nvPr>
            <p:ph idx="1"/>
          </p:nvPr>
        </p:nvSpPr>
        <p:spPr/>
        <p:txBody>
          <a:bodyPr/>
          <a:lstStyle/>
          <a:p>
            <a:pPr lvl="0"/>
            <a:r>
              <a:rPr b="1"/>
              <a:t>193 projects</a:t>
            </a:r>
            <a:r>
              <a:rPr/>
              <a:t> where the download step happens inside something we did not read. They are neither safe nor unsafe in this appendix, because we do not know.</a:t>
            </a:r>
          </a:p>
          <a:p>
            <a:pPr lvl="0"/>
            <a:r>
              <a:rPr b="1"/>
              <a:t>265 projects</a:t>
            </a:r>
            <a:r>
              <a:rPr/>
              <a:t> with no automated install at all, </a:t>
            </a:r>
            <a:r>
              <a:rPr b="1"/>
              <a:t>73</a:t>
            </a:r>
            <a:r>
              <a:rPr/>
              <a:t> of them with no automation whatsoever. Their components are only ever downloaded on a person’s own laptop.</a:t>
            </a:r>
          </a:p>
          <a:p>
            <a:pPr lvl="0"/>
            <a:r>
              <a:rPr b="1"/>
              <a:t>2 repositories</a:t>
            </a:r>
            <a:r>
              <a:rPr/>
              <a:t> whose file listing was cut short by GitHub: </a:t>
            </a:r>
            <a:r>
              <a:rPr>
                <a:latin typeface="Courier"/>
              </a:rPr>
              <a:t>SleepNumberInc/Github_PBI_Integrated_Workspaces</a:t>
            </a:r>
            <a:r>
              <a:rPr/>
              <a:t>, </a:t>
            </a:r>
            <a:r>
              <a:rPr>
                <a:latin typeface="Courier"/>
              </a:rPr>
              <a:t>sleepnumberlabs/siqassess</a:t>
            </a:r>
            <a:r>
              <a:rPr/>
              <a:t>.</a:t>
            </a:r>
          </a:p>
          <a:p>
            <a:pPr lvl="0"/>
            <a:r>
              <a:rPr b="1"/>
              <a:t>One internal feed we could not read</a:t>
            </a:r>
            <a:r>
              <a:rPr/>
              <a:t> — </a:t>
            </a:r>
            <a:r>
              <a:rPr>
                <a:latin typeface="Courier"/>
              </a:rPr>
              <a:t>SleepNumberIndigo/k8s-manifests</a:t>
            </a:r>
            <a:r>
              <a:rPr/>
              <a:t> — for permission reasons. A request naming the exact permission is in the technical report.</a:t>
            </a:r>
          </a:p>
          <a:p>
            <a:pPr lvl="0"/>
            <a:r>
              <a:rPr b="1"/>
              <a:t>The 838 workflows that put secret values into a command line.</a:t>
            </a:r>
            <a:r>
              <a:rPr/>
              <a:t> The collector records the first 200; listing a truncated set here would read as a complete one.</a:t>
            </a:r>
          </a:p>
          <a:p>
            <a:pPr lvl="0" indent="0" marL="0">
              <a:buNone/>
            </a:pPr>
            <a:r>
              <a:rPr i="1"/>
              <a:t>Generated by </a:t>
            </a:r>
            <a:r>
              <a:rPr i="1">
                <a:latin typeface="Courier"/>
              </a:rPr>
              <a:t>scripts/report/build_appendix.py</a:t>
            </a:r>
            <a:r>
              <a:rPr i="1"/>
              <a:t> from the collector artifacts in</a:t>
            </a:r>
            <a:r>
              <a:rPr/>
              <a:t> </a:t>
            </a:r>
            <a:r>
              <a:rPr i="1">
                <a:latin typeface="Courier"/>
              </a:rPr>
              <a:t>exports/hunt/</a:t>
            </a:r>
            <a:r>
              <a:rPr i="1"/>
              <a:t>. Re-run it rather than editing this file.</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Software Supply Chain</dc:title>
  <dc:creator/>
  <cp:keywords/>
  <dcterms:created xsi:type="dcterms:W3CDTF">2026-08-11T20:16:58Z</dcterms:created>
  <dcterms:modified xsi:type="dcterms:W3CDTF">2026-08-11T20:16:58Z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date">
    <vt:lpwstr>11 August 2026 · Internal</vt:lpwstr>
  </property>
  <property fmtid="{D5CDD505-2E9C-101B-9397-08002B2CF9AE}" pid="3" name="subtitle">
    <vt:lpwstr>What we found, what it would cost, and what we would do</vt:lpwstr>
  </property>
</Properties>
</file>