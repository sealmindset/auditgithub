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notesMaster" Target="notesMasters/notesMaster1.xml" /><Relationship Id="rId19" Type="http://schemas.openxmlformats.org/officeDocument/2006/relationships/viewProps" Target="viewProps.xml" /><Relationship Id="rId18" Type="http://schemas.openxmlformats.org/officeDocument/2006/relationships/presProps" Target="presProps.xml" /><Relationship Id="rId1" Type="http://schemas.openxmlformats.org/officeDocument/2006/relationships/slideMaster" Target="slideMasters/slideMaster1.xml" /><Relationship Id="rId21" Type="http://schemas.openxmlformats.org/officeDocument/2006/relationships/tableStyles" Target="tableStyles.xml" /><Relationship Id="rId20"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Say this first. A deck about user interface quality is usually a pitch, and the room will listen for a budget ask. There is not one. Nothing needs to be purchased.</a:t>
            </a:r>
          </a:p>
          <a:p>
            <a:pPr lvl="0" indent="0" marL="0">
              <a:buNone/>
            </a:pPr>
          </a:p>
          <a:p>
            <a:pPr lvl="0" indent="0" marL="0">
              <a:buNone/>
            </a:pPr>
            <a:r>
              <a:rPr/>
              <a:t>What this deck is asking for is a merge, an hour of pipeline configuration, and one to two weeks of one person’s time on the follow-on. That is the whole ask.</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brand manual analogy is the one to carry all the way through this deck. Do not swap it for another one halfway.</a:t>
            </a:r>
          </a:p>
          <a:p>
            <a:pPr lvl="0" indent="0" marL="0">
              <a:buNone/>
            </a:pPr>
          </a:p>
          <a:p>
            <a:pPr lvl="0" indent="0" marL="0">
              <a:buNone/>
            </a:pPr>
            <a:r>
              <a:rPr/>
              <a:t>Nobody picks a shade of navy per business card. In AuditGH, colour was picked per screen, by whoever built that screen. That is not negligence — it is what happens when a product grows faster than anyone can stand back and look at it.</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number to let land. Pause after it.</a:t>
            </a:r>
          </a:p>
          <a:p>
            <a:pPr lvl="0" indent="0" marL="0">
              <a:buNone/>
            </a:pPr>
          </a:p>
          <a:p>
            <a:pPr lvl="0" indent="0" marL="0">
              <a:buNone/>
            </a:pPr>
            <a:r>
              <a:rPr/>
              <a:t>It is not an estimate. A committed script counts it, and anyone in the room can run that script against the old code and get the same number back.</a:t>
            </a:r>
          </a:p>
          <a:p>
            <a:pPr lvl="0" indent="0" marL="0">
              <a:buNone/>
            </a:pPr>
          </a:p>
          <a:p>
            <a:pPr lvl="0" indent="0" marL="0">
              <a:buNone/>
            </a:pPr>
            <a:r>
              <a:rPr/>
              <a:t>It also explains everything that follows. When colour is chosen in 1,912 places, you cannot test it, you cannot change it, and it will not agree with itself.</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Three of these are the product literally not doing what the code says — findings 2, 3 and 5. Four are the product being harder to read and harder to trust than it should be.</a:t>
            </a:r>
          </a:p>
          <a:p>
            <a:pPr lvl="0" indent="0" marL="0">
              <a:buNone/>
            </a:pPr>
          </a:p>
          <a:p>
            <a:pPr lvl="0" indent="0" marL="0">
              <a:buNone/>
            </a:pPr>
            <a:r>
              <a:rPr/>
              <a:t>Do not let the room merge these into one number. They have different consequences and they would have been found by different people at different times.</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Lead with the version control one if the room is technical. It is the one that is a single wiped laptop away from being a real incident, and it is the one nobody was looking for — it fell out of measuring the baseline.</a:t>
            </a:r>
          </a:p>
          <a:p>
            <a:pPr lvl="0" indent="0" marL="0">
              <a:buNone/>
            </a:pPr>
          </a:p>
          <a:p>
            <a:pPr lvl="0" indent="0" marL="0">
              <a:buNone/>
            </a:pPr>
            <a:r>
              <a:rPr/>
              <a:t>The calendar finding is the one that shows why this class of problem never gets reported. A highlight that never appears does not generate a ticket. People assume the feature does not exist.</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finding most likely to arrive as a customer requirement rather than as an internal priority. Public-sector and larger enterprise buyers increasingly ask for a formal accessibility statement.</a:t>
            </a:r>
          </a:p>
          <a:p>
            <a:pPr lvl="0" indent="0" marL="0">
              <a:buNone/>
            </a:pPr>
          </a:p>
          <a:p>
            <a:pPr lvl="0" indent="0" marL="0">
              <a:buNone/>
            </a:pPr>
            <a:r>
              <a:rPr/>
              <a:t>Retrofitting after a customer asks costs more than doing it now, because by then it has a date attached and is a commitment rather than an engineering choice.</a:t>
            </a:r>
          </a:p>
          <a:p>
            <a:pPr lvl="0" indent="0" marL="0">
              <a:buNone/>
            </a:pPr>
          </a:p>
          <a:p>
            <a:pPr lvl="0" indent="0" marL="0">
              <a:buNone/>
            </a:pPr>
            <a:r>
              <a:rPr/>
              <a:t>And it is not only customers. Our own colleagues who use assistive technology could not do this job on this screen.</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Both columns come from the same script. That matters more than the numbers: change the ruler and both columns move together. This is not a before-picture drawn from memory.</a:t>
            </a:r>
          </a:p>
          <a:p>
            <a:pPr lvl="0" indent="0" marL="0">
              <a:buNone/>
            </a:pPr>
          </a:p>
          <a:p>
            <a:pPr lvl="0" indent="0" marL="0">
              <a:buNone/>
            </a:pPr>
            <a:r>
              <a:rPr/>
              <a:t>The “34 of 102” line is the one worth explaining if asked. We could only test a third of the product’s colours before, because the other two thirds did not exist as named colours. You cannot test a palette that is not written down.</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slide that funds the follow-on. The fixes above are what we already paid for; this is what we keep getting.</a:t>
            </a:r>
          </a:p>
          <a:p>
            <a:pPr lvl="0" indent="0" marL="0">
              <a:buNone/>
            </a:pPr>
          </a:p>
          <a:p>
            <a:pPr lvl="0" indent="0" marL="0">
              <a:buNone/>
            </a:pPr>
            <a:r>
              <a:rPr/>
              <a:t>The second bullet is the one to press. The difference between “we tidied it up” and “it stays tidy” is whether the checks run automatically. That is an hour of configuration and it is on the ask list.</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Item 3 is the one that matters and the next slide explains why. Do not let it get dropped as a nice-to-have — it is the difference between what we have proved and what we have claimed.</a:t>
            </a:r>
          </a:p>
          <a:p>
            <a:pPr lvl="0" indent="0" marL="0">
              <a:buNone/>
            </a:pPr>
          </a:p>
          <a:p>
            <a:pPr lvl="0" indent="0" marL="0">
              <a:buNone/>
            </a:pPr>
            <a:r>
              <a:rPr/>
              <a:t>Item 5 on the full list is a decision rather than a task: what to do about exported PDFs and spreadsheets, which carry their own appearance when they leave the product. It does not need a project. It needs somebody to choose.</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Do not skip this slide because it is unflattering. It is the most persuasive slide in the deck for the ask on the previous one.</a:t>
            </a:r>
          </a:p>
          <a:p>
            <a:pPr lvl="0" indent="0" marL="0">
              <a:buNone/>
            </a:pPr>
          </a:p>
          <a:p>
            <a:pPr lvl="0" indent="0" marL="0">
              <a:buNone/>
            </a:pPr>
            <a:r>
              <a:rPr/>
              <a:t>The nine silent ones are the point worth making aloud. An error that stops is cheap — you see it. A wrong colour that carries on is the expensive kind, and it is exactly the kind our static checks are worst at finding.</a:t>
            </a:r>
          </a:p>
          <a:p>
            <a:pPr lvl="0" indent="0" marL="0">
              <a:buNone/>
            </a:pPr>
          </a:p>
          <a:p>
            <a:pPr lvl="0" indent="0" marL="0">
              <a:buNone/>
            </a:pPr>
            <a:r>
              <a:rPr/>
              <a:t>If someone asks why we did not catch it: a type check and a production build both passed too. This class of fault only exists at the moment the page runs.</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End here, deliberately. If the room takes one caveat away, make it this one.</a:t>
            </a:r>
          </a:p>
          <a:p>
            <a:pPr lvl="0" indent="0" marL="0">
              <a:buNone/>
            </a:pPr>
          </a:p>
          <a:p>
            <a:pPr lvl="0" indent="0" marL="0">
              <a:buNone/>
            </a:pPr>
            <a:r>
              <a:rPr/>
              <a:t>Reading the source covers all 148 files exhaustively and reproducibly. Clicking through the application covers whatever a person remembers to click. We chose the first, and it has a precise blind spot, and item 3 on the previous slide is how we close it.</a:t>
            </a:r>
          </a:p>
          <a:p>
            <a:pPr lvl="0" indent="0" marL="0">
              <a:buNone/>
            </a:pPr>
          </a:p>
          <a:p>
            <a:pPr lvl="0" indent="0" marL="0">
              <a:buNone/>
            </a:pPr>
            <a:r>
              <a:rPr/>
              <a:t>Also say: nothing here is blocked by access or permission. There is no system we cannot reach and no privilege we do not hold. It is one person, a browser, and a week or two.</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Offer the last line to anyone who wants to check the numbers rather than trust them. It runs in under a minute and prints both columns of the before/after table.</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The AuditGH Screen</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What we found, what we fixed, and the one thing we have not checked</a:t>
            </a:r>
          </a:p>
        </p:txBody>
      </p:sp>
      <p:sp>
        <p:nvSpPr>
          <p:cNvPr id="4" name="Date Placeholder 3"/>
          <p:cNvSpPr>
            <a:spLocks noGrp="1"/>
          </p:cNvSpPr>
          <p:nvPr>
            <p:ph idx="10" sz="half" type="dt"/>
          </p:nvPr>
        </p:nvSpPr>
        <p:spPr/>
        <p:txBody>
          <a:bodyPr/>
          <a:lstStyle/>
          <a:p>
            <a:pPr lvl="0" indent="0" marL="0">
              <a:buNone/>
            </a:pPr>
            <a:r>
              <a:rPr/>
              <a:t>11 September 2026 · Internal</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Before anything else</a:t>
            </a:r>
          </a:p>
        </p:txBody>
      </p:sp>
      <p:sp>
        <p:nvSpPr>
          <p:cNvPr id="3" name="Content Placeholder 2"/>
          <p:cNvSpPr>
            <a:spLocks noGrp="1"/>
          </p:cNvSpPr>
          <p:nvPr>
            <p:ph idx="1"/>
          </p:nvPr>
        </p:nvSpPr>
        <p:spPr/>
        <p:txBody>
          <a:bodyPr/>
          <a:lstStyle/>
          <a:p>
            <a:pPr lvl="0" indent="0" marL="0">
              <a:buNone/>
            </a:pPr>
            <a:r>
              <a:rPr b="1"/>
              <a:t>This work is done.</a:t>
            </a:r>
          </a:p>
          <a:p>
            <a:pPr lvl="0"/>
            <a:r>
              <a:rPr/>
              <a:t>Not a proposal, not a plan</a:t>
            </a:r>
          </a:p>
          <a:p>
            <a:pPr lvl="0"/>
            <a:r>
              <a:rPr/>
              <a:t>Finished, in a branch, waiting to be merged</a:t>
            </a:r>
          </a:p>
          <a:p>
            <a:pPr lvl="0"/>
            <a:r>
              <a:rPr/>
              <a:t>Everything you are about to see was </a:t>
            </a:r>
            <a:r>
              <a:rPr b="1"/>
              <a:t>measured</a:t>
            </a:r>
            <a:r>
              <a:rPr/>
              <a:t>, not estimated</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we are talking about</a:t>
            </a:r>
          </a:p>
        </p:txBody>
      </p:sp>
      <p:sp>
        <p:nvSpPr>
          <p:cNvPr id="3" name="Content Placeholder 2"/>
          <p:cNvSpPr>
            <a:spLocks noGrp="1"/>
          </p:cNvSpPr>
          <p:nvPr>
            <p:ph idx="1"/>
          </p:nvPr>
        </p:nvSpPr>
        <p:spPr/>
        <p:txBody>
          <a:bodyPr/>
          <a:lstStyle/>
          <a:p>
            <a:pPr lvl="0" indent="0" marL="0">
              <a:buNone/>
            </a:pPr>
            <a:r>
              <a:rPr/>
              <a:t>AuditGH is the screen our security team works from.</a:t>
            </a:r>
          </a:p>
          <a:p>
            <a:pPr lvl="0"/>
            <a:r>
              <a:rPr/>
              <a:t>Findings arrive, get sorted by severity, get assigned, get closed</a:t>
            </a:r>
          </a:p>
          <a:p>
            <a:pPr lvl="0"/>
            <a:r>
              <a:rPr/>
              <a:t>Every product like it has a </a:t>
            </a:r>
            <a:r>
              <a:rPr b="1"/>
              <a:t>design system</a:t>
            </a:r>
            <a:r>
              <a:rPr/>
              <a:t> — one agreed set of colours, written down once</a:t>
            </a:r>
          </a:p>
          <a:p>
            <a:pPr lvl="0"/>
            <a:r>
              <a:rPr/>
              <a:t>Like a brand manual: one navy, one grey, every slide uses the same ones</a:t>
            </a:r>
          </a:p>
          <a:p>
            <a:pPr lvl="0" indent="0" marL="0">
              <a:buNone/>
            </a:pPr>
            <a:r>
              <a:rPr b="1"/>
              <a:t>AuditGH did not have one.</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We counted the decisions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1,912</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Individual colour choices, scattered across 148 files, instead of one agreed set.</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Seven findings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pPr lvl="0" indent="0" marL="0">
                        <a:buNone/>
                      </a:pPr>
                      <a:r>
                        <a:rPr/>
                        <a:t>#</a:t>
                      </a:r>
                    </a:p>
                  </a:txBody>
                  <a:tcPr/>
                </a:tc>
                <a:tc>
                  <a:txBody>
                    <a:bodyPr/>
                    <a:lstStyle/>
                    <a:p>
                      <a:pPr lvl="0" indent="0" marL="0">
                        <a:buNone/>
                      </a:pPr>
                      <a:r>
                        <a:rPr/>
                        <a:t>What we found</a:t>
                      </a:r>
                    </a:p>
                  </a:txBody>
                  <a:tcPr/>
                </a:tc>
                <a:tc>
                  <a:txBody>
                    <a:bodyPr/>
                    <a:lstStyle/>
                    <a:p>
                      <a:pPr lvl="0" indent="0" marL="0" algn="r">
                        <a:buNone/>
                      </a:pPr>
                      <a:r>
                        <a:rPr/>
                        <a:t>Count</a:t>
                      </a:r>
                    </a:p>
                  </a:txBody>
                  <a:tcPr/>
                </a:tc>
              </a:tr>
              <a:tr h="0">
                <a:tc>
                  <a:txBody>
                    <a:bodyPr/>
                    <a:lstStyle/>
                    <a:p>
                      <a:pPr lvl="0" indent="0" marL="0">
                        <a:buNone/>
                      </a:pPr>
                      <a:r>
                        <a:rPr/>
                        <a:t>1</a:t>
                      </a:r>
                    </a:p>
                  </a:txBody>
                </a:tc>
                <a:tc>
                  <a:txBody>
                    <a:bodyPr/>
                    <a:lstStyle/>
                    <a:p>
                      <a:pPr lvl="0" indent="0" marL="0">
                        <a:buNone/>
                      </a:pPr>
                      <a:r>
                        <a:rPr/>
                        <a:t>“Low severity” shown in two different colours</a:t>
                      </a:r>
                    </a:p>
                  </a:txBody>
                </a:tc>
                <a:tc>
                  <a:txBody>
                    <a:bodyPr/>
                    <a:lstStyle/>
                    <a:p>
                      <a:pPr lvl="0" indent="0" marL="0" algn="r">
                        <a:buNone/>
                      </a:pPr>
                      <a:r>
                        <a:rPr/>
                        <a:t>5 screens</a:t>
                      </a:r>
                    </a:p>
                  </a:txBody>
                </a:tc>
              </a:tr>
              <a:tr h="0">
                <a:tc>
                  <a:txBody>
                    <a:bodyPr/>
                    <a:lstStyle/>
                    <a:p>
                      <a:pPr lvl="0" indent="0" marL="0">
                        <a:buNone/>
                      </a:pPr>
                      <a:r>
                        <a:rPr/>
                        <a:t>2</a:t>
                      </a:r>
                    </a:p>
                  </a:txBody>
                </a:tc>
                <a:tc>
                  <a:txBody>
                    <a:bodyPr/>
                    <a:lstStyle/>
                    <a:p>
                      <a:pPr lvl="0" indent="0" marL="0">
                        <a:buNone/>
                      </a:pPr>
                      <a:r>
                        <a:rPr/>
                        <a:t>Colour instructions the browser silently discarded</a:t>
                      </a:r>
                    </a:p>
                  </a:txBody>
                </a:tc>
                <a:tc>
                  <a:txBody>
                    <a:bodyPr/>
                    <a:lstStyle/>
                    <a:p>
                      <a:pPr lvl="0" indent="0" marL="0" algn="r">
                        <a:buNone/>
                      </a:pPr>
                      <a:r>
                        <a:rPr/>
                        <a:t>36</a:t>
                      </a:r>
                    </a:p>
                  </a:txBody>
                </a:tc>
              </a:tr>
              <a:tr h="0">
                <a:tc>
                  <a:txBody>
                    <a:bodyPr/>
                    <a:lstStyle/>
                    <a:p>
                      <a:pPr lvl="0" indent="0" marL="0">
                        <a:buNone/>
                      </a:pPr>
                      <a:r>
                        <a:rPr/>
                        <a:t>3</a:t>
                      </a:r>
                    </a:p>
                  </a:txBody>
                </a:tc>
                <a:tc>
                  <a:txBody>
                    <a:bodyPr/>
                    <a:lstStyle/>
                    <a:p>
                      <a:pPr lvl="0" indent="0" marL="0">
                        <a:buNone/>
                      </a:pPr>
                      <a:r>
                        <a:rPr/>
                        <a:t>Source files never in version control</a:t>
                      </a:r>
                    </a:p>
                  </a:txBody>
                </a:tc>
                <a:tc>
                  <a:txBody>
                    <a:bodyPr/>
                    <a:lstStyle/>
                    <a:p>
                      <a:pPr lvl="0" indent="0" marL="0" algn="r">
                        <a:buNone/>
                      </a:pPr>
                      <a:r>
                        <a:rPr/>
                        <a:t>5</a:t>
                      </a:r>
                    </a:p>
                  </a:txBody>
                </a:tc>
              </a:tr>
              <a:tr h="0">
                <a:tc>
                  <a:txBody>
                    <a:bodyPr/>
                    <a:lstStyle/>
                    <a:p>
                      <a:pPr lvl="0" indent="0" marL="0">
                        <a:buNone/>
                      </a:pPr>
                      <a:r>
                        <a:rPr/>
                        <a:t>4</a:t>
                      </a:r>
                    </a:p>
                  </a:txBody>
                </a:tc>
                <a:tc>
                  <a:txBody>
                    <a:bodyPr/>
                    <a:lstStyle/>
                    <a:p>
                      <a:pPr lvl="0" indent="0" marL="0">
                        <a:buNone/>
                      </a:pPr>
                      <a:r>
                        <a:rPr/>
                        <a:t>Controls a screen reader could not identify</a:t>
                      </a:r>
                    </a:p>
                  </a:txBody>
                </a:tc>
                <a:tc>
                  <a:txBody>
                    <a:bodyPr/>
                    <a:lstStyle/>
                    <a:p>
                      <a:pPr lvl="0" indent="0" marL="0" algn="r">
                        <a:buNone/>
                      </a:pPr>
                      <a:r>
                        <a:rPr/>
                        <a:t>103</a:t>
                      </a:r>
                    </a:p>
                  </a:txBody>
                </a:tc>
              </a:tr>
              <a:tr h="0">
                <a:tc>
                  <a:txBody>
                    <a:bodyPr/>
                    <a:lstStyle/>
                    <a:p>
                      <a:pPr lvl="0" indent="0" marL="0">
                        <a:buNone/>
                      </a:pPr>
                      <a:r>
                        <a:rPr/>
                        <a:t>5</a:t>
                      </a:r>
                    </a:p>
                  </a:txBody>
                </a:tc>
                <a:tc>
                  <a:txBody>
                    <a:bodyPr/>
                    <a:lstStyle/>
                    <a:p>
                      <a:pPr lvl="0" indent="0" marL="0">
                        <a:buNone/>
                      </a:pPr>
                      <a:r>
                        <a:rPr/>
                        <a:t>Colour pairs below the readability standard</a:t>
                      </a:r>
                    </a:p>
                  </a:txBody>
                </a:tc>
                <a:tc>
                  <a:txBody>
                    <a:bodyPr/>
                    <a:lstStyle/>
                    <a:p>
                      <a:pPr lvl="0" indent="0" marL="0" algn="r">
                        <a:buNone/>
                      </a:pPr>
                      <a:r>
                        <a:rPr/>
                        <a:t>5</a:t>
                      </a:r>
                    </a:p>
                  </a:txBody>
                </a:tc>
              </a:tr>
              <a:tr h="0">
                <a:tc>
                  <a:txBody>
                    <a:bodyPr/>
                    <a:lstStyle/>
                    <a:p>
                      <a:pPr lvl="0" indent="0" marL="0">
                        <a:buNone/>
                      </a:pPr>
                      <a:r>
                        <a:rPr/>
                        <a:t>6</a:t>
                      </a:r>
                    </a:p>
                  </a:txBody>
                </a:tc>
                <a:tc>
                  <a:txBody>
                    <a:bodyPr/>
                    <a:lstStyle/>
                    <a:p>
                      <a:pPr lvl="0" indent="0" marL="0">
                        <a:buNone/>
                      </a:pPr>
                      <a:r>
                        <a:rPr/>
                        <a:t>Emoji used as interface icons</a:t>
                      </a:r>
                    </a:p>
                  </a:txBody>
                </a:tc>
                <a:tc>
                  <a:txBody>
                    <a:bodyPr/>
                    <a:lstStyle/>
                    <a:p>
                      <a:pPr lvl="0" indent="0" marL="0" algn="r">
                        <a:buNone/>
                      </a:pPr>
                      <a:r>
                        <a:rPr/>
                        <a:t>17</a:t>
                      </a:r>
                    </a:p>
                  </a:txBody>
                </a:tc>
              </a:tr>
              <a:tr h="0">
                <a:tc>
                  <a:txBody>
                    <a:bodyPr/>
                    <a:lstStyle/>
                    <a:p>
                      <a:pPr lvl="0" indent="0" marL="0">
                        <a:buNone/>
                      </a:pPr>
                      <a:r>
                        <a:rPr/>
                        <a:t>7</a:t>
                      </a:r>
                    </a:p>
                  </a:txBody>
                </a:tc>
                <a:tc>
                  <a:txBody>
                    <a:bodyPr/>
                    <a:lstStyle/>
                    <a:p>
                      <a:pPr lvl="0" indent="0" marL="0">
                        <a:buNone/>
                      </a:pPr>
                      <a:r>
                        <a:rPr/>
                        <a:t>Layouts that could not fit a phone screen</a:t>
                      </a:r>
                    </a:p>
                  </a:txBody>
                </a:tc>
                <a:tc>
                  <a:txBody>
                    <a:bodyPr/>
                    <a:lstStyle/>
                    <a:p>
                      <a:pPr lvl="0" indent="0" marL="0" algn="r">
                        <a:buNone/>
                      </a:pPr>
                      <a:r>
                        <a:rPr/>
                        <a:t>15</a:t>
                      </a:r>
                    </a:p>
                  </a:txBody>
                </a:tc>
              </a:tr>
            </a:tbl>
          </a:graphicData>
        </a:graphic>
      </p:graphicFrame>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three that are real defects, not polish</a:t>
            </a:r>
          </a:p>
        </p:txBody>
      </p:sp>
      <p:sp>
        <p:nvSpPr>
          <p:cNvPr id="3" name="Content Placeholder 2"/>
          <p:cNvSpPr>
            <a:spLocks noGrp="1"/>
          </p:cNvSpPr>
          <p:nvPr>
            <p:ph idx="1"/>
          </p:nvPr>
        </p:nvSpPr>
        <p:spPr/>
        <p:txBody>
          <a:bodyPr/>
          <a:lstStyle/>
          <a:p>
            <a:pPr lvl="0" indent="0" marL="0">
              <a:buNone/>
            </a:pPr>
            <a:r>
              <a:rPr b="1"/>
              <a:t>36 discarded colour instructions.</a:t>
            </a:r>
            <a:r>
              <a:rPr/>
              <a:t> Parts of the scheduling calendar were painting no colour at all. Broken silently, for as long as those lines existed.</a:t>
            </a:r>
          </a:p>
          <a:p>
            <a:pPr lvl="0" indent="0" marL="0">
              <a:buNone/>
            </a:pPr>
            <a:r>
              <a:rPr b="1"/>
              <a:t>5 files not in version control.</a:t>
            </a:r>
            <a:r>
              <a:rPr/>
              <a:t> A standard configuration rule borrowed from another programming language was skipping a folder of real source code. </a:t>
            </a:r>
            <a:r>
              <a:rPr b="1"/>
              <a:t>A fresh copy of this project would not build.</a:t>
            </a:r>
          </a:p>
          <a:p>
            <a:pPr lvl="0" indent="0" marL="0">
              <a:buNone/>
            </a:pPr>
            <a:r>
              <a:rPr b="1"/>
              <a:t>Faint outlines.</a:t>
            </a:r>
            <a:r>
              <a:rPr/>
              <a:t> The edge of every typing box measured 1.26 to 1 against a standard of 3. The keyboard focus ring measured 2.59.</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103 controls a blind user could not identify</a:t>
            </a:r>
          </a:p>
        </p:txBody>
      </p:sp>
      <p:sp>
        <p:nvSpPr>
          <p:cNvPr id="3" name="Content Placeholder 2"/>
          <p:cNvSpPr>
            <a:spLocks noGrp="1"/>
          </p:cNvSpPr>
          <p:nvPr>
            <p:ph idx="1"/>
          </p:nvPr>
        </p:nvSpPr>
        <p:spPr/>
        <p:txBody>
          <a:bodyPr/>
          <a:lstStyle/>
          <a:p>
            <a:pPr lvl="0"/>
            <a:r>
              <a:rPr b="1"/>
              <a:t>46 buttons</a:t>
            </a:r>
            <a:r>
              <a:rPr/>
              <a:t> showing only a picture — a magnifying glass, a bin, an arrow</a:t>
            </a:r>
          </a:p>
          <a:p>
            <a:pPr lvl="0"/>
            <a:r>
              <a:rPr/>
              <a:t>A screen reader announced them as, literally, “button”</a:t>
            </a:r>
          </a:p>
          <a:p>
            <a:pPr lvl="0"/>
            <a:r>
              <a:rPr b="1"/>
              <a:t>57 typing boxes</a:t>
            </a:r>
            <a:r>
              <a:rPr/>
              <a:t> whose on-screen label was not connected to the box</a:t>
            </a:r>
          </a:p>
          <a:p>
            <a:pPr lvl="0" indent="0" marL="0">
              <a:buNone/>
            </a:pPr>
            <a:r>
              <a:rPr/>
              <a:t>All 103 now have names, taken from the label already printed beside them.</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it looks like now</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endParaRPr/>
                    </a:p>
                  </a:txBody>
                  <a:tcPr/>
                </a:tc>
                <a:tc>
                  <a:txBody>
                    <a:bodyPr/>
                    <a:lstStyle/>
                    <a:p>
                      <a:pPr lvl="0" indent="0" marL="0" algn="r">
                        <a:buNone/>
                      </a:pPr>
                      <a:r>
                        <a:rPr/>
                        <a:t>Before</a:t>
                      </a:r>
                    </a:p>
                  </a:txBody>
                  <a:tcPr/>
                </a:tc>
                <a:tc>
                  <a:txBody>
                    <a:bodyPr/>
                    <a:lstStyle/>
                    <a:p>
                      <a:pPr lvl="0" indent="0" marL="0" algn="r">
                        <a:buNone/>
                      </a:pPr>
                      <a:r>
                        <a:rPr/>
                        <a:t>After</a:t>
                      </a:r>
                    </a:p>
                  </a:txBody>
                  <a:tcPr/>
                </a:tc>
              </a:tr>
              <a:tr h="0">
                <a:tc>
                  <a:txBody>
                    <a:bodyPr/>
                    <a:lstStyle/>
                    <a:p>
                      <a:pPr lvl="0" indent="0" marL="0">
                        <a:buNone/>
                      </a:pPr>
                      <a:r>
                        <a:rPr/>
                        <a:t>Individual colour choices</a:t>
                      </a:r>
                    </a:p>
                  </a:txBody>
                </a:tc>
                <a:tc>
                  <a:txBody>
                    <a:bodyPr/>
                    <a:lstStyle/>
                    <a:p>
                      <a:pPr lvl="0" indent="0" marL="0" algn="r">
                        <a:buNone/>
                      </a:pPr>
                      <a:r>
                        <a:rPr/>
                        <a:t>1,912</a:t>
                      </a:r>
                    </a:p>
                  </a:txBody>
                </a:tc>
                <a:tc>
                  <a:txBody>
                    <a:bodyPr/>
                    <a:lstStyle/>
                    <a:p>
                      <a:pPr lvl="0" indent="0" marL="0" algn="r">
                        <a:buNone/>
                      </a:pPr>
                      <a:r>
                        <a:rPr/>
                        <a:t>0</a:t>
                      </a:r>
                    </a:p>
                  </a:txBody>
                </a:tc>
              </a:tr>
              <a:tr h="0">
                <a:tc>
                  <a:txBody>
                    <a:bodyPr/>
                    <a:lstStyle/>
                    <a:p>
                      <a:pPr lvl="0" indent="0" marL="0">
                        <a:buNone/>
                      </a:pPr>
                      <a:r>
                        <a:rPr/>
                        <a:t>Discarded colour instructions</a:t>
                      </a:r>
                    </a:p>
                  </a:txBody>
                </a:tc>
                <a:tc>
                  <a:txBody>
                    <a:bodyPr/>
                    <a:lstStyle/>
                    <a:p>
                      <a:pPr lvl="0" indent="0" marL="0" algn="r">
                        <a:buNone/>
                      </a:pPr>
                      <a:r>
                        <a:rPr/>
                        <a:t>36</a:t>
                      </a:r>
                    </a:p>
                  </a:txBody>
                </a:tc>
                <a:tc>
                  <a:txBody>
                    <a:bodyPr/>
                    <a:lstStyle/>
                    <a:p>
                      <a:pPr lvl="0" indent="0" marL="0" algn="r">
                        <a:buNone/>
                      </a:pPr>
                      <a:r>
                        <a:rPr/>
                        <a:t>0</a:t>
                      </a:r>
                    </a:p>
                  </a:txBody>
                </a:tc>
              </a:tr>
              <a:tr h="0">
                <a:tc>
                  <a:txBody>
                    <a:bodyPr/>
                    <a:lstStyle/>
                    <a:p>
                      <a:pPr lvl="0" indent="0" marL="0">
                        <a:buNone/>
                      </a:pPr>
                      <a:r>
                        <a:rPr/>
                        <a:t>Emoji used as icons</a:t>
                      </a:r>
                    </a:p>
                  </a:txBody>
                </a:tc>
                <a:tc>
                  <a:txBody>
                    <a:bodyPr/>
                    <a:lstStyle/>
                    <a:p>
                      <a:pPr lvl="0" indent="0" marL="0" algn="r">
                        <a:buNone/>
                      </a:pPr>
                      <a:r>
                        <a:rPr/>
                        <a:t>17</a:t>
                      </a:r>
                    </a:p>
                  </a:txBody>
                </a:tc>
                <a:tc>
                  <a:txBody>
                    <a:bodyPr/>
                    <a:lstStyle/>
                    <a:p>
                      <a:pPr lvl="0" indent="0" marL="0" algn="r">
                        <a:buNone/>
                      </a:pPr>
                      <a:r>
                        <a:rPr/>
                        <a:t>0</a:t>
                      </a:r>
                    </a:p>
                  </a:txBody>
                </a:tc>
              </a:tr>
              <a:tr h="0">
                <a:tc>
                  <a:txBody>
                    <a:bodyPr/>
                    <a:lstStyle/>
                    <a:p>
                      <a:pPr lvl="0" indent="0" marL="0">
                        <a:buNone/>
                      </a:pPr>
                      <a:r>
                        <a:rPr/>
                        <a:t>Controls with no name</a:t>
                      </a:r>
                    </a:p>
                  </a:txBody>
                </a:tc>
                <a:tc>
                  <a:txBody>
                    <a:bodyPr/>
                    <a:lstStyle/>
                    <a:p>
                      <a:pPr lvl="0" indent="0" marL="0" algn="r">
                        <a:buNone/>
                      </a:pPr>
                      <a:r>
                        <a:rPr/>
                        <a:t>103</a:t>
                      </a:r>
                    </a:p>
                  </a:txBody>
                </a:tc>
                <a:tc>
                  <a:txBody>
                    <a:bodyPr/>
                    <a:lstStyle/>
                    <a:p>
                      <a:pPr lvl="0" indent="0" marL="0" algn="r">
                        <a:buNone/>
                      </a:pPr>
                      <a:r>
                        <a:rPr/>
                        <a:t>0</a:t>
                      </a:r>
                    </a:p>
                  </a:txBody>
                </a:tc>
              </a:tr>
              <a:tr h="0">
                <a:tc>
                  <a:txBody>
                    <a:bodyPr/>
                    <a:lstStyle/>
                    <a:p>
                      <a:pPr lvl="0" indent="0" marL="0">
                        <a:buNone/>
                      </a:pPr>
                      <a:r>
                        <a:rPr/>
                        <a:t>Layouts that cannot fit a phone</a:t>
                      </a:r>
                    </a:p>
                  </a:txBody>
                </a:tc>
                <a:tc>
                  <a:txBody>
                    <a:bodyPr/>
                    <a:lstStyle/>
                    <a:p>
                      <a:pPr lvl="0" indent="0" marL="0" algn="r">
                        <a:buNone/>
                      </a:pPr>
                      <a:r>
                        <a:rPr/>
                        <a:t>15</a:t>
                      </a:r>
                    </a:p>
                  </a:txBody>
                </a:tc>
                <a:tc>
                  <a:txBody>
                    <a:bodyPr/>
                    <a:lstStyle/>
                    <a:p>
                      <a:pPr lvl="0" indent="0" marL="0" algn="r">
                        <a:buNone/>
                      </a:pPr>
                      <a:r>
                        <a:rPr/>
                        <a:t>0</a:t>
                      </a:r>
                    </a:p>
                  </a:txBody>
                </a:tc>
              </a:tr>
              <a:tr h="0">
                <a:tc>
                  <a:txBody>
                    <a:bodyPr/>
                    <a:lstStyle/>
                    <a:p>
                      <a:pPr lvl="0" indent="0" marL="0">
                        <a:buNone/>
                      </a:pPr>
                      <a:r>
                        <a:rPr b="1"/>
                        <a:t>Total findings</a:t>
                      </a:r>
                    </a:p>
                  </a:txBody>
                </a:tc>
                <a:tc>
                  <a:txBody>
                    <a:bodyPr/>
                    <a:lstStyle/>
                    <a:p>
                      <a:pPr lvl="0" indent="0" marL="0" algn="r">
                        <a:buNone/>
                      </a:pPr>
                      <a:r>
                        <a:rPr b="1"/>
                        <a:t>2,284</a:t>
                      </a:r>
                    </a:p>
                  </a:txBody>
                </a:tc>
                <a:tc>
                  <a:txBody>
                    <a:bodyPr/>
                    <a:lstStyle/>
                    <a:p>
                      <a:pPr lvl="0" indent="0" marL="0" algn="r">
                        <a:buNone/>
                      </a:pPr>
                      <a:r>
                        <a:rPr b="1"/>
                        <a:t>0</a:t>
                      </a:r>
                    </a:p>
                  </a:txBody>
                </a:tc>
              </a:tr>
              <a:tr h="0">
                <a:tc>
                  <a:txBody>
                    <a:bodyPr/>
                    <a:lstStyle/>
                    <a:p>
                      <a:pPr lvl="0" indent="0" marL="0">
                        <a:buNone/>
                      </a:pPr>
                      <a:r>
                        <a:rPr/>
                        <a:t>Colour pairs testable</a:t>
                      </a:r>
                    </a:p>
                  </a:txBody>
                </a:tc>
                <a:tc>
                  <a:txBody>
                    <a:bodyPr/>
                    <a:lstStyle/>
                    <a:p>
                      <a:pPr lvl="0" indent="0" marL="0" algn="r">
                        <a:buNone/>
                      </a:pPr>
                      <a:r>
                        <a:rPr/>
                        <a:t>34 of 102</a:t>
                      </a:r>
                    </a:p>
                  </a:txBody>
                </a:tc>
                <a:tc>
                  <a:txBody>
                    <a:bodyPr/>
                    <a:lstStyle/>
                    <a:p>
                      <a:pPr lvl="0" indent="0" marL="0" algn="r">
                        <a:buNone/>
                      </a:pPr>
                      <a:r>
                        <a:rPr/>
                        <a:t>102 of 102</a:t>
                      </a:r>
                    </a:p>
                  </a:txBody>
                </a:tc>
              </a:tr>
              <a:tr h="0">
                <a:tc>
                  <a:txBody>
                    <a:bodyPr/>
                    <a:lstStyle/>
                    <a:p>
                      <a:pPr lvl="0" indent="0" marL="0">
                        <a:buNone/>
                      </a:pPr>
                      <a:r>
                        <a:rPr/>
                        <a:t>Colour pairs below standard</a:t>
                      </a:r>
                    </a:p>
                  </a:txBody>
                </a:tc>
                <a:tc>
                  <a:txBody>
                    <a:bodyPr/>
                    <a:lstStyle/>
                    <a:p>
                      <a:pPr lvl="0" indent="0" marL="0" algn="r">
                        <a:buNone/>
                      </a:pPr>
                      <a:r>
                        <a:rPr/>
                        <a:t>5</a:t>
                      </a:r>
                    </a:p>
                  </a:txBody>
                </a:tc>
                <a:tc>
                  <a:txBody>
                    <a:bodyPr/>
                    <a:lstStyle/>
                    <a:p>
                      <a:pPr lvl="0" indent="0" marL="0" algn="r">
                        <a:buNone/>
                      </a:pPr>
                      <a:r>
                        <a:rPr/>
                        <a:t>0</a:t>
                      </a:r>
                    </a:p>
                  </a:txBody>
                </a:tc>
              </a:tr>
            </a:tbl>
          </a:graphicData>
        </a:graphic>
      </p:graphicFrame>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it buys beyond the fixes</a:t>
            </a:r>
          </a:p>
        </p:txBody>
      </p:sp>
      <p:sp>
        <p:nvSpPr>
          <p:cNvPr id="3" name="Content Placeholder 2"/>
          <p:cNvSpPr>
            <a:spLocks noGrp="1"/>
          </p:cNvSpPr>
          <p:nvPr>
            <p:ph idx="1"/>
          </p:nvPr>
        </p:nvSpPr>
        <p:spPr/>
        <p:txBody>
          <a:bodyPr/>
          <a:lstStyle/>
          <a:p>
            <a:pPr lvl="0"/>
            <a:r>
              <a:rPr b="1"/>
              <a:t>Changing a colour is one edit instead of 1,912.</a:t>
            </a:r>
            <a:r>
              <a:rPr/>
              <a:t> All colour lives in one file.</a:t>
            </a:r>
          </a:p>
          <a:p>
            <a:pPr lvl="0"/>
            <a:r>
              <a:rPr b="1"/>
              <a:t>It cannot quietly come undone.</a:t>
            </a:r>
            <a:r>
              <a:rPr/>
              <a:t> Three committed scripts, runnable on every change.</a:t>
            </a:r>
          </a:p>
          <a:p>
            <a:pPr lvl="0"/>
            <a:r>
              <a:rPr b="1"/>
              <a:t>Dark mode is now a design, not a guess.</a:t>
            </a:r>
            <a:r>
              <a:rPr/>
              <a:t> All 88 colours defined in both themes.</a:t>
            </a:r>
          </a:p>
          <a:p>
            <a:pPr lvl="0"/>
            <a:r>
              <a:rPr b="1"/>
              <a:t>The next screen is cheaper to build.</a:t>
            </a:r>
            <a:r>
              <a:rPr/>
              <a:t> Four reusable building blocks added.</a:t>
            </a:r>
          </a:p>
          <a:p>
            <a:pPr lvl="0"/>
            <a:r>
              <a:rPr b="1"/>
              <a:t>Colour is no longer the only signal.</a:t>
            </a:r>
            <a:r>
              <a:rPr/>
              <a:t> Each severity has its own shape, so it survives a black-and-white print and a red-green colour vision deficiency.</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ask</a:t>
            </a:r>
          </a:p>
        </p:txBody>
      </p:sp>
      <p:sp>
        <p:nvSpPr>
          <p:cNvPr id="3" name="Content Placeholder 2"/>
          <p:cNvSpPr>
            <a:spLocks noGrp="1"/>
          </p:cNvSpPr>
          <p:nvPr>
            <p:ph idx="1"/>
          </p:nvPr>
        </p:nvSpPr>
        <p:spPr/>
        <p:txBody>
          <a:bodyPr/>
          <a:lstStyle/>
          <a:p>
            <a:pPr lvl="0" indent="0" marL="0">
              <a:buNone/>
            </a:pPr>
            <a:r>
              <a:rPr b="1"/>
              <a:t>Nothing to purchase.</a:t>
            </a:r>
            <a:r>
              <a:rPr/>
              <a:t> No licence, no vendor, no subscription.</a:t>
            </a:r>
          </a:p>
          <a:p>
            <a:pPr lvl="0" indent="0" marL="0">
              <a:buNone/>
            </a:pPr>
            <a:r>
              <a:rPr b="1"/>
              <a:t>Now — days:</a:t>
            </a:r>
          </a:p>
          <a:p>
            <a:pPr lvl="0" indent="-342900" marL="342900">
              <a:buAutoNum type="arabicPeriod"/>
            </a:pPr>
            <a:r>
              <a:rPr/>
              <a:t>Review and merge the branch</a:t>
            </a:r>
          </a:p>
          <a:p>
            <a:pPr lvl="0" indent="-342900" marL="342900">
              <a:buAutoNum type="arabicPeriod"/>
            </a:pPr>
            <a:r>
              <a:rPr/>
              <a:t>Turn the two checks on in the automated pipeline (about an hour)</a:t>
            </a:r>
          </a:p>
          <a:p>
            <a:pPr lvl="0" indent="0" marL="0">
              <a:buNone/>
            </a:pPr>
            <a:r>
              <a:rPr b="1"/>
              <a:t>Next — one to two weeks of one person:</a:t>
            </a:r>
          </a:p>
          <a:p>
            <a:pPr lvl="0" indent="-342900" marL="342900">
              <a:buAutoNum startAt="3" type="arabicPeriod"/>
            </a:pPr>
            <a:r>
              <a:rPr/>
              <a:t>Open the product in a browser at four screen widths and look at it</a:t>
            </a:r>
          </a:p>
          <a:p>
            <a:pPr lvl="0" indent="-342900" marL="342900">
              <a:buAutoNum startAt="3" type="arabicPeriod"/>
            </a:pPr>
            <a:r>
              <a:rPr/>
              <a:t>One pass with a screen reader over the main workflows</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Then we opened it, and it broke twice</a:t>
            </a:r>
          </a:p>
        </p:txBody>
      </p:sp>
      <p:sp>
        <p:nvSpPr>
          <p:cNvPr id="3" name="Content Placeholder 2"/>
          <p:cNvSpPr>
            <a:spLocks noGrp="1"/>
          </p:cNvSpPr>
          <p:nvPr>
            <p:ph idx="1"/>
          </p:nvPr>
        </p:nvSpPr>
        <p:spPr/>
        <p:txBody>
          <a:bodyPr/>
          <a:lstStyle/>
          <a:p>
            <a:pPr lvl="0" indent="0" marL="0">
              <a:buNone/>
            </a:pPr>
            <a:r>
              <a:rPr/>
              <a:t>Our checks said zero. A browser said otherwise, in under a minute.</a:t>
            </a:r>
          </a:p>
          <a:p>
            <a:pPr lvl="0"/>
            <a:r>
              <a:rPr b="1"/>
              <a:t>Navigation menu</a:t>
            </a:r>
            <a:r>
              <a:rPr/>
              <a:t> — three groups accidentally sharing one internal name</a:t>
            </a:r>
          </a:p>
          <a:p>
            <a:pPr lvl="0"/>
            <a:r>
              <a:rPr b="1"/>
              <a:t>Dashboard radar graphic</a:t>
            </a:r>
            <a:r>
              <a:rPr/>
              <a:t> — 4 places stopped with an error, </a:t>
            </a:r>
            <a:r>
              <a:rPr b="1"/>
              <a:t>9 more silently painted the wrong colour</a:t>
            </a:r>
          </a:p>
          <a:p>
            <a:pPr lvl="0" indent="0" marL="0">
              <a:buNone/>
            </a:pPr>
            <a:r>
              <a:rPr/>
              <a:t>Both fixed. The second is now covered by a </a:t>
            </a:r>
            <a:r>
              <a:rPr b="1"/>
              <a:t>13th automatic check</a:t>
            </a:r>
            <a:r>
              <a:rPr/>
              <a:t> — 27 problems against the broken version, 0 against the fixed one.</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we are not claiming</a:t>
            </a:r>
          </a:p>
        </p:txBody>
      </p:sp>
      <p:sp>
        <p:nvSpPr>
          <p:cNvPr id="3" name="Content Placeholder 2"/>
          <p:cNvSpPr>
            <a:spLocks noGrp="1"/>
          </p:cNvSpPr>
          <p:nvPr>
            <p:ph idx="1"/>
          </p:nvPr>
        </p:nvSpPr>
        <p:spPr/>
        <p:txBody>
          <a:bodyPr/>
          <a:lstStyle/>
          <a:p>
            <a:pPr lvl="0" indent="0" marL="0">
              <a:buNone/>
            </a:pPr>
            <a:r>
              <a:rPr b="1"/>
              <a:t>The measurement work was done without a browser.</a:t>
            </a:r>
          </a:p>
          <a:p>
            <a:pPr lvl="0" indent="0" marL="0">
              <a:buNone/>
            </a:pPr>
            <a:r>
              <a:rPr/>
              <a:t>Everything was measured by reading the source code, not by running the application.</a:t>
            </a:r>
          </a:p>
          <a:p>
            <a:pPr lvl="0"/>
            <a:r>
              <a:rPr/>
              <a:t>We </a:t>
            </a:r>
            <a:r>
              <a:rPr b="1"/>
              <a:t>can</a:t>
            </a:r>
            <a:r>
              <a:rPr/>
              <a:t> prove no instruction in the code causes a page to be too wide for a phone</a:t>
            </a:r>
          </a:p>
          <a:p>
            <a:pPr lvl="0"/>
            <a:r>
              <a:rPr/>
              <a:t>We </a:t>
            </a:r>
            <a:r>
              <a:rPr b="1"/>
              <a:t>cannot</a:t>
            </a:r>
            <a:r>
              <a:rPr/>
              <a:t> prove no page is too wide for a phone</a:t>
            </a:r>
          </a:p>
          <a:p>
            <a:pPr lvl="0" indent="0" marL="0">
              <a:buNone/>
            </a:pPr>
            <a:r>
              <a:rPr/>
              <a:t>Those are different statements. “Zero findings” means </a:t>
            </a:r>
            <a:r>
              <a:rPr b="1"/>
              <a:t>zero findings our checks can see</a:t>
            </a:r>
            <a:r>
              <a:rPr/>
              <a:t> — not zero defects.</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Where the detail is</a:t>
            </a:r>
          </a:p>
        </p:txBody>
      </p:sp>
      <p:sp>
        <p:nvSpPr>
          <p:cNvPr id="3" name="Content Placeholder 2"/>
          <p:cNvSpPr>
            <a:spLocks noGrp="1"/>
          </p:cNvSpPr>
          <p:nvPr>
            <p:ph idx="1"/>
          </p:nvPr>
        </p:nvSpPr>
        <p:spPr/>
        <p:txBody>
          <a:bodyPr/>
          <a:lstStyle/>
          <a:p>
            <a:pPr lvl="0"/>
            <a:r>
              <a:rPr b="1"/>
              <a:t>Technical companion:</a:t>
            </a:r>
            <a:r>
              <a:rPr/>
              <a:t> </a:t>
            </a:r>
            <a:r>
              <a:rPr>
                <a:latin typeface="Courier"/>
              </a:rPr>
              <a:t>ui-design-system-report.md</a:t>
            </a:r>
            <a:r>
              <a:rPr/>
              <a:t> — every measurement, every mechanism</a:t>
            </a:r>
          </a:p>
          <a:p>
            <a:pPr lvl="0"/>
            <a:r>
              <a:rPr b="1"/>
              <a:t>Named appendix:</a:t>
            </a:r>
            <a:r>
              <a:rPr/>
              <a:t> </a:t>
            </a:r>
            <a:r>
              <a:rPr>
                <a:latin typeface="Courier"/>
              </a:rPr>
              <a:t>ui-design-system-appendix.md</a:t>
            </a:r>
            <a:r>
              <a:rPr/>
              <a:t> — every location, generated by script</a:t>
            </a:r>
          </a:p>
          <a:p>
            <a:pPr lvl="0"/>
            <a:r>
              <a:rPr b="1"/>
              <a:t>Reproduce it yourself:</a:t>
            </a:r>
            <a:r>
              <a:rPr/>
              <a:t> </a:t>
            </a:r>
            <a:r>
              <a:rPr>
                <a:latin typeface="Courier"/>
              </a:rPr>
              <a:t>./scripts/report/ui-baseline-compare.sh</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AuditGH Screen</dc:title>
  <dc:creator/>
  <cp:keywords/>
  <dcterms:created xsi:type="dcterms:W3CDTF">2026-09-11T15:38:37Z</dcterms:created>
  <dcterms:modified xsi:type="dcterms:W3CDTF">2026-09-11T15:38:37Z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11 September 2026 · Internal</vt:lpwstr>
  </property>
  <property fmtid="{D5CDD505-2E9C-101B-9397-08002B2CF9AE}" pid="3" name="subtitle">
    <vt:lpwstr>What we found, what we fixed, and the one thing we have not checked</vt:lpwstr>
  </property>
</Properties>
</file>